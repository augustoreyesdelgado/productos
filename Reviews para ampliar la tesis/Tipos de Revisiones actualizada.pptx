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0" r:id="rId1"/>
  </p:sldMasterIdLst>
  <p:notesMasterIdLst>
    <p:notesMasterId r:id="rId28"/>
  </p:notesMasterIdLst>
  <p:sldIdLst>
    <p:sldId id="274" r:id="rId2"/>
    <p:sldId id="259" r:id="rId3"/>
    <p:sldId id="276" r:id="rId4"/>
    <p:sldId id="261" r:id="rId5"/>
    <p:sldId id="271" r:id="rId6"/>
    <p:sldId id="286" r:id="rId7"/>
    <p:sldId id="277" r:id="rId8"/>
    <p:sldId id="288" r:id="rId9"/>
    <p:sldId id="265" r:id="rId10"/>
    <p:sldId id="283" r:id="rId11"/>
    <p:sldId id="270" r:id="rId12"/>
    <p:sldId id="278" r:id="rId13"/>
    <p:sldId id="289" r:id="rId14"/>
    <p:sldId id="266" r:id="rId15"/>
    <p:sldId id="267" r:id="rId16"/>
    <p:sldId id="284" r:id="rId17"/>
    <p:sldId id="279" r:id="rId18"/>
    <p:sldId id="290" r:id="rId19"/>
    <p:sldId id="269" r:id="rId20"/>
    <p:sldId id="281" r:id="rId21"/>
    <p:sldId id="282" r:id="rId22"/>
    <p:sldId id="287" r:id="rId23"/>
    <p:sldId id="293" r:id="rId24"/>
    <p:sldId id="272" r:id="rId25"/>
    <p:sldId id="292" r:id="rId26"/>
    <p:sldId id="291" r:id="rId27"/>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9FF"/>
    <a:srgbClr val="A50021"/>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126" autoAdjust="0"/>
    <p:restoredTop sz="93271" autoAdjust="0"/>
  </p:normalViewPr>
  <p:slideViewPr>
    <p:cSldViewPr>
      <p:cViewPr varScale="1">
        <p:scale>
          <a:sx n="108" d="100"/>
          <a:sy n="108" d="100"/>
        </p:scale>
        <p:origin x="1278"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8D3DA5-0792-4E5A-86DA-0150539AAB2D}" type="datetimeFigureOut">
              <a:rPr lang="es-MX" smtClean="0"/>
              <a:t>13/07/2020</a:t>
            </a:fld>
            <a:endParaRPr lang="es-MX"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EA0576-954E-496B-BC1A-B84D0912248A}" type="slidenum">
              <a:rPr lang="es-MX" smtClean="0"/>
              <a:t>‹Nº›</a:t>
            </a:fld>
            <a:endParaRPr lang="es-MX" dirty="0"/>
          </a:p>
        </p:txBody>
      </p:sp>
    </p:spTree>
    <p:extLst>
      <p:ext uri="{BB962C8B-B14F-4D97-AF65-F5344CB8AC3E}">
        <p14:creationId xmlns:p14="http://schemas.microsoft.com/office/powerpoint/2010/main" val="1868555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10"/>
          </p:nvPr>
        </p:nvSpPr>
        <p:spPr/>
        <p:txBody>
          <a:bodyPr/>
          <a:lstStyle/>
          <a:p>
            <a:fld id="{B1EA0576-954E-496B-BC1A-B84D0912248A}" type="slidenum">
              <a:rPr lang="es-MX" smtClean="0"/>
              <a:t>4</a:t>
            </a:fld>
            <a:endParaRPr lang="es-MX" dirty="0"/>
          </a:p>
        </p:txBody>
      </p:sp>
    </p:spTree>
    <p:extLst>
      <p:ext uri="{BB962C8B-B14F-4D97-AF65-F5344CB8AC3E}">
        <p14:creationId xmlns:p14="http://schemas.microsoft.com/office/powerpoint/2010/main" val="12736813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10"/>
          </p:nvPr>
        </p:nvSpPr>
        <p:spPr/>
        <p:txBody>
          <a:bodyPr/>
          <a:lstStyle/>
          <a:p>
            <a:fld id="{B1EA0576-954E-496B-BC1A-B84D0912248A}" type="slidenum">
              <a:rPr lang="es-MX" smtClean="0"/>
              <a:t>5</a:t>
            </a:fld>
            <a:endParaRPr lang="es-MX" dirty="0"/>
          </a:p>
        </p:txBody>
      </p:sp>
    </p:spTree>
    <p:extLst>
      <p:ext uri="{BB962C8B-B14F-4D97-AF65-F5344CB8AC3E}">
        <p14:creationId xmlns:p14="http://schemas.microsoft.com/office/powerpoint/2010/main" val="37015858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10"/>
          </p:nvPr>
        </p:nvSpPr>
        <p:spPr/>
        <p:txBody>
          <a:bodyPr/>
          <a:lstStyle/>
          <a:p>
            <a:fld id="{B1EA0576-954E-496B-BC1A-B84D0912248A}" type="slidenum">
              <a:rPr lang="es-MX" smtClean="0"/>
              <a:t>7</a:t>
            </a:fld>
            <a:endParaRPr lang="es-MX" dirty="0"/>
          </a:p>
        </p:txBody>
      </p:sp>
    </p:spTree>
    <p:extLst>
      <p:ext uri="{BB962C8B-B14F-4D97-AF65-F5344CB8AC3E}">
        <p14:creationId xmlns:p14="http://schemas.microsoft.com/office/powerpoint/2010/main" val="20540934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10"/>
          </p:nvPr>
        </p:nvSpPr>
        <p:spPr/>
        <p:txBody>
          <a:bodyPr/>
          <a:lstStyle/>
          <a:p>
            <a:fld id="{B1EA0576-954E-496B-BC1A-B84D0912248A}" type="slidenum">
              <a:rPr lang="es-MX" smtClean="0"/>
              <a:t>8</a:t>
            </a:fld>
            <a:endParaRPr lang="es-MX" dirty="0"/>
          </a:p>
        </p:txBody>
      </p:sp>
    </p:spTree>
    <p:extLst>
      <p:ext uri="{BB962C8B-B14F-4D97-AF65-F5344CB8AC3E}">
        <p14:creationId xmlns:p14="http://schemas.microsoft.com/office/powerpoint/2010/main" val="4381015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685800" y="1143000"/>
            <a:ext cx="5486400" cy="3086100"/>
          </a:xfrm>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10"/>
          </p:nvPr>
        </p:nvSpPr>
        <p:spPr/>
        <p:txBody>
          <a:bodyPr/>
          <a:lstStyle/>
          <a:p>
            <a:fld id="{B1EA0576-954E-496B-BC1A-B84D0912248A}" type="slidenum">
              <a:rPr lang="es-MX" smtClean="0"/>
              <a:t>9</a:t>
            </a:fld>
            <a:endParaRPr lang="es-MX" dirty="0"/>
          </a:p>
        </p:txBody>
      </p:sp>
    </p:spTree>
    <p:extLst>
      <p:ext uri="{BB962C8B-B14F-4D97-AF65-F5344CB8AC3E}">
        <p14:creationId xmlns:p14="http://schemas.microsoft.com/office/powerpoint/2010/main" val="26643800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10"/>
          </p:nvPr>
        </p:nvSpPr>
        <p:spPr/>
        <p:txBody>
          <a:bodyPr/>
          <a:lstStyle/>
          <a:p>
            <a:fld id="{B1EA0576-954E-496B-BC1A-B84D0912248A}" type="slidenum">
              <a:rPr lang="es-MX" smtClean="0"/>
              <a:t>12</a:t>
            </a:fld>
            <a:endParaRPr lang="es-MX" dirty="0"/>
          </a:p>
        </p:txBody>
      </p:sp>
    </p:spTree>
    <p:extLst>
      <p:ext uri="{BB962C8B-B14F-4D97-AF65-F5344CB8AC3E}">
        <p14:creationId xmlns:p14="http://schemas.microsoft.com/office/powerpoint/2010/main" val="14781727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10"/>
          </p:nvPr>
        </p:nvSpPr>
        <p:spPr/>
        <p:txBody>
          <a:bodyPr/>
          <a:lstStyle/>
          <a:p>
            <a:fld id="{B1EA0576-954E-496B-BC1A-B84D0912248A}" type="slidenum">
              <a:rPr lang="es-MX" smtClean="0"/>
              <a:t>13</a:t>
            </a:fld>
            <a:endParaRPr lang="es-MX" dirty="0"/>
          </a:p>
        </p:txBody>
      </p:sp>
    </p:spTree>
    <p:extLst>
      <p:ext uri="{BB962C8B-B14F-4D97-AF65-F5344CB8AC3E}">
        <p14:creationId xmlns:p14="http://schemas.microsoft.com/office/powerpoint/2010/main" val="37291563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baseline="0" dirty="0" smtClean="0"/>
          </a:p>
        </p:txBody>
      </p:sp>
      <p:sp>
        <p:nvSpPr>
          <p:cNvPr id="4" name="Marcador de número de diapositiva 3"/>
          <p:cNvSpPr>
            <a:spLocks noGrp="1"/>
          </p:cNvSpPr>
          <p:nvPr>
            <p:ph type="sldNum" sz="quarter" idx="10"/>
          </p:nvPr>
        </p:nvSpPr>
        <p:spPr/>
        <p:txBody>
          <a:bodyPr/>
          <a:lstStyle/>
          <a:p>
            <a:fld id="{B1EA0576-954E-496B-BC1A-B84D0912248A}" type="slidenum">
              <a:rPr lang="es-MX" smtClean="0"/>
              <a:t>22</a:t>
            </a:fld>
            <a:endParaRPr lang="es-MX" dirty="0"/>
          </a:p>
        </p:txBody>
      </p:sp>
    </p:spTree>
    <p:extLst>
      <p:ext uri="{BB962C8B-B14F-4D97-AF65-F5344CB8AC3E}">
        <p14:creationId xmlns:p14="http://schemas.microsoft.com/office/powerpoint/2010/main" val="38509181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baseline="0" dirty="0" smtClean="0"/>
          </a:p>
        </p:txBody>
      </p:sp>
      <p:sp>
        <p:nvSpPr>
          <p:cNvPr id="4" name="Marcador de número de diapositiva 3"/>
          <p:cNvSpPr>
            <a:spLocks noGrp="1"/>
          </p:cNvSpPr>
          <p:nvPr>
            <p:ph type="sldNum" sz="quarter" idx="10"/>
          </p:nvPr>
        </p:nvSpPr>
        <p:spPr/>
        <p:txBody>
          <a:bodyPr/>
          <a:lstStyle/>
          <a:p>
            <a:fld id="{B1EA0576-954E-496B-BC1A-B84D0912248A}" type="slidenum">
              <a:rPr lang="es-MX" smtClean="0"/>
              <a:t>23</a:t>
            </a:fld>
            <a:endParaRPr lang="es-MX" dirty="0"/>
          </a:p>
        </p:txBody>
      </p:sp>
    </p:spTree>
    <p:extLst>
      <p:ext uri="{BB962C8B-B14F-4D97-AF65-F5344CB8AC3E}">
        <p14:creationId xmlns:p14="http://schemas.microsoft.com/office/powerpoint/2010/main" val="40867980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baseline="0" dirty="0" smtClean="0"/>
          </a:p>
        </p:txBody>
      </p:sp>
      <p:sp>
        <p:nvSpPr>
          <p:cNvPr id="4" name="Marcador de número de diapositiva 3"/>
          <p:cNvSpPr>
            <a:spLocks noGrp="1"/>
          </p:cNvSpPr>
          <p:nvPr>
            <p:ph type="sldNum" sz="quarter" idx="10"/>
          </p:nvPr>
        </p:nvSpPr>
        <p:spPr/>
        <p:txBody>
          <a:bodyPr/>
          <a:lstStyle/>
          <a:p>
            <a:fld id="{B1EA0576-954E-496B-BC1A-B84D0912248A}" type="slidenum">
              <a:rPr lang="es-MX" smtClean="0"/>
              <a:t>24</a:t>
            </a:fld>
            <a:endParaRPr lang="es-MX" dirty="0"/>
          </a:p>
        </p:txBody>
      </p:sp>
    </p:spTree>
    <p:extLst>
      <p:ext uri="{BB962C8B-B14F-4D97-AF65-F5344CB8AC3E}">
        <p14:creationId xmlns:p14="http://schemas.microsoft.com/office/powerpoint/2010/main" val="786837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baseline="0" dirty="0" smtClean="0"/>
          </a:p>
        </p:txBody>
      </p:sp>
      <p:sp>
        <p:nvSpPr>
          <p:cNvPr id="4" name="Marcador de número de diapositiva 3"/>
          <p:cNvSpPr>
            <a:spLocks noGrp="1"/>
          </p:cNvSpPr>
          <p:nvPr>
            <p:ph type="sldNum" sz="quarter" idx="10"/>
          </p:nvPr>
        </p:nvSpPr>
        <p:spPr/>
        <p:txBody>
          <a:bodyPr/>
          <a:lstStyle/>
          <a:p>
            <a:fld id="{B1EA0576-954E-496B-BC1A-B84D0912248A}" type="slidenum">
              <a:rPr lang="es-MX" smtClean="0"/>
              <a:t>25</a:t>
            </a:fld>
            <a:endParaRPr lang="es-MX" dirty="0"/>
          </a:p>
        </p:txBody>
      </p:sp>
    </p:spTree>
    <p:extLst>
      <p:ext uri="{BB962C8B-B14F-4D97-AF65-F5344CB8AC3E}">
        <p14:creationId xmlns:p14="http://schemas.microsoft.com/office/powerpoint/2010/main" val="39590920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MX"/>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s-MX"/>
          </a:p>
        </p:txBody>
      </p:sp>
      <p:sp>
        <p:nvSpPr>
          <p:cNvPr id="4" name="Marcador de fecha 3"/>
          <p:cNvSpPr>
            <a:spLocks noGrp="1"/>
          </p:cNvSpPr>
          <p:nvPr>
            <p:ph type="dt" sz="half" idx="10"/>
          </p:nvPr>
        </p:nvSpPr>
        <p:spPr/>
        <p:txBody>
          <a:bodyPr/>
          <a:lstStyle/>
          <a:p>
            <a:fld id="{E848EF51-C62B-482D-8217-D8BBF56BC949}" type="datetimeFigureOut">
              <a:rPr lang="es-MX" smtClean="0"/>
              <a:t>13/07/2020</a:t>
            </a:fld>
            <a:endParaRPr lang="es-MX" dirty="0"/>
          </a:p>
        </p:txBody>
      </p:sp>
      <p:sp>
        <p:nvSpPr>
          <p:cNvPr id="5" name="Marcador de pie de página 4"/>
          <p:cNvSpPr>
            <a:spLocks noGrp="1"/>
          </p:cNvSpPr>
          <p:nvPr>
            <p:ph type="ftr" sz="quarter" idx="11"/>
          </p:nvPr>
        </p:nvSpPr>
        <p:spPr/>
        <p:txBody>
          <a:bodyPr/>
          <a:lstStyle/>
          <a:p>
            <a:endParaRPr lang="es-MX" dirty="0"/>
          </a:p>
        </p:txBody>
      </p:sp>
      <p:sp>
        <p:nvSpPr>
          <p:cNvPr id="6" name="Marcador de número de diapositiva 5"/>
          <p:cNvSpPr>
            <a:spLocks noGrp="1"/>
          </p:cNvSpPr>
          <p:nvPr>
            <p:ph type="sldNum" sz="quarter" idx="12"/>
          </p:nvPr>
        </p:nvSpPr>
        <p:spPr/>
        <p:txBody>
          <a:bodyPr/>
          <a:lstStyle/>
          <a:p>
            <a:fld id="{6EB1891A-6EEB-4D0B-B5E0-65CE89DACF00}" type="slidenum">
              <a:rPr lang="es-MX" smtClean="0"/>
              <a:t>‹Nº›</a:t>
            </a:fld>
            <a:endParaRPr lang="es-MX" dirty="0"/>
          </a:p>
        </p:txBody>
      </p:sp>
    </p:spTree>
    <p:extLst>
      <p:ext uri="{BB962C8B-B14F-4D97-AF65-F5344CB8AC3E}">
        <p14:creationId xmlns:p14="http://schemas.microsoft.com/office/powerpoint/2010/main" val="3908707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contenido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E848EF51-C62B-482D-8217-D8BBF56BC949}" type="datetimeFigureOut">
              <a:rPr lang="es-MX" smtClean="0"/>
              <a:t>13/07/2020</a:t>
            </a:fld>
            <a:endParaRPr lang="es-MX" dirty="0"/>
          </a:p>
        </p:txBody>
      </p:sp>
      <p:sp>
        <p:nvSpPr>
          <p:cNvPr id="5" name="Marcador de pie de página 4"/>
          <p:cNvSpPr>
            <a:spLocks noGrp="1"/>
          </p:cNvSpPr>
          <p:nvPr>
            <p:ph type="ftr" sz="quarter" idx="11"/>
          </p:nvPr>
        </p:nvSpPr>
        <p:spPr/>
        <p:txBody>
          <a:bodyPr/>
          <a:lstStyle/>
          <a:p>
            <a:endParaRPr lang="es-MX" dirty="0"/>
          </a:p>
        </p:txBody>
      </p:sp>
      <p:sp>
        <p:nvSpPr>
          <p:cNvPr id="6" name="Marcador de número de diapositiva 5"/>
          <p:cNvSpPr>
            <a:spLocks noGrp="1"/>
          </p:cNvSpPr>
          <p:nvPr>
            <p:ph type="sldNum" sz="quarter" idx="12"/>
          </p:nvPr>
        </p:nvSpPr>
        <p:spPr/>
        <p:txBody>
          <a:bodyPr/>
          <a:lstStyle/>
          <a:p>
            <a:fld id="{6EB1891A-6EEB-4D0B-B5E0-65CE89DACF00}" type="slidenum">
              <a:rPr lang="es-MX" smtClean="0"/>
              <a:t>‹Nº›</a:t>
            </a:fld>
            <a:endParaRPr lang="es-MX" dirty="0"/>
          </a:p>
        </p:txBody>
      </p:sp>
    </p:spTree>
    <p:extLst>
      <p:ext uri="{BB962C8B-B14F-4D97-AF65-F5344CB8AC3E}">
        <p14:creationId xmlns:p14="http://schemas.microsoft.com/office/powerpoint/2010/main" val="1986929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Marcador de fecha 3"/>
          <p:cNvSpPr>
            <a:spLocks noGrp="1"/>
          </p:cNvSpPr>
          <p:nvPr>
            <p:ph type="dt" sz="half" idx="10"/>
          </p:nvPr>
        </p:nvSpPr>
        <p:spPr/>
        <p:txBody>
          <a:bodyPr/>
          <a:lstStyle/>
          <a:p>
            <a:fld id="{E848EF51-C62B-482D-8217-D8BBF56BC949}" type="datetimeFigureOut">
              <a:rPr lang="es-MX" smtClean="0"/>
              <a:t>13/07/2020</a:t>
            </a:fld>
            <a:endParaRPr lang="es-MX" dirty="0"/>
          </a:p>
        </p:txBody>
      </p:sp>
      <p:sp>
        <p:nvSpPr>
          <p:cNvPr id="5" name="Marcador de pie de página 4"/>
          <p:cNvSpPr>
            <a:spLocks noGrp="1"/>
          </p:cNvSpPr>
          <p:nvPr>
            <p:ph type="ftr" sz="quarter" idx="11"/>
          </p:nvPr>
        </p:nvSpPr>
        <p:spPr/>
        <p:txBody>
          <a:bodyPr/>
          <a:lstStyle/>
          <a:p>
            <a:endParaRPr lang="es-MX" dirty="0"/>
          </a:p>
        </p:txBody>
      </p:sp>
      <p:sp>
        <p:nvSpPr>
          <p:cNvPr id="6" name="Marcador de número de diapositiva 5"/>
          <p:cNvSpPr>
            <a:spLocks noGrp="1"/>
          </p:cNvSpPr>
          <p:nvPr>
            <p:ph type="sldNum" sz="quarter" idx="12"/>
          </p:nvPr>
        </p:nvSpPr>
        <p:spPr/>
        <p:txBody>
          <a:bodyPr/>
          <a:lstStyle/>
          <a:p>
            <a:fld id="{6EB1891A-6EEB-4D0B-B5E0-65CE89DACF00}" type="slidenum">
              <a:rPr lang="es-MX" smtClean="0"/>
              <a:t>‹Nº›</a:t>
            </a:fld>
            <a:endParaRPr lang="es-MX" dirty="0"/>
          </a:p>
        </p:txBody>
      </p:sp>
    </p:spTree>
    <p:extLst>
      <p:ext uri="{BB962C8B-B14F-4D97-AF65-F5344CB8AC3E}">
        <p14:creationId xmlns:p14="http://schemas.microsoft.com/office/powerpoint/2010/main" val="38399977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contenido 2"/>
          <p:cNvSpPr>
            <a:spLocks noGrp="1"/>
          </p:cNvSpPr>
          <p:nvPr>
            <p:ph sz="half" idx="1"/>
          </p:nvPr>
        </p:nvSpPr>
        <p:spPr>
          <a:xfrm>
            <a:off x="838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contenido 3"/>
          <p:cNvSpPr>
            <a:spLocks noGrp="1"/>
          </p:cNvSpPr>
          <p:nvPr>
            <p:ph sz="half" idx="2"/>
          </p:nvPr>
        </p:nvSpPr>
        <p:spPr>
          <a:xfrm>
            <a:off x="6172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5" name="Marcador de fecha 4"/>
          <p:cNvSpPr>
            <a:spLocks noGrp="1"/>
          </p:cNvSpPr>
          <p:nvPr>
            <p:ph type="dt" sz="half" idx="10"/>
          </p:nvPr>
        </p:nvSpPr>
        <p:spPr/>
        <p:txBody>
          <a:bodyPr/>
          <a:lstStyle/>
          <a:p>
            <a:fld id="{E848EF51-C62B-482D-8217-D8BBF56BC949}" type="datetimeFigureOut">
              <a:rPr lang="es-MX" smtClean="0"/>
              <a:t>13/07/2020</a:t>
            </a:fld>
            <a:endParaRPr lang="es-MX" dirty="0"/>
          </a:p>
        </p:txBody>
      </p:sp>
      <p:sp>
        <p:nvSpPr>
          <p:cNvPr id="6" name="Marcador de pie de página 5"/>
          <p:cNvSpPr>
            <a:spLocks noGrp="1"/>
          </p:cNvSpPr>
          <p:nvPr>
            <p:ph type="ftr" sz="quarter" idx="11"/>
          </p:nvPr>
        </p:nvSpPr>
        <p:spPr/>
        <p:txBody>
          <a:bodyPr/>
          <a:lstStyle/>
          <a:p>
            <a:endParaRPr lang="es-MX" dirty="0"/>
          </a:p>
        </p:txBody>
      </p:sp>
      <p:sp>
        <p:nvSpPr>
          <p:cNvPr id="7" name="Marcador de número de diapositiva 6"/>
          <p:cNvSpPr>
            <a:spLocks noGrp="1"/>
          </p:cNvSpPr>
          <p:nvPr>
            <p:ph type="sldNum" sz="quarter" idx="12"/>
          </p:nvPr>
        </p:nvSpPr>
        <p:spPr/>
        <p:txBody>
          <a:bodyPr/>
          <a:lstStyle/>
          <a:p>
            <a:fld id="{6EB1891A-6EEB-4D0B-B5E0-65CE89DACF00}" type="slidenum">
              <a:rPr lang="es-MX" smtClean="0"/>
              <a:t>‹Nº›</a:t>
            </a:fld>
            <a:endParaRPr lang="es-MX" dirty="0"/>
          </a:p>
        </p:txBody>
      </p:sp>
    </p:spTree>
    <p:extLst>
      <p:ext uri="{BB962C8B-B14F-4D97-AF65-F5344CB8AC3E}">
        <p14:creationId xmlns:p14="http://schemas.microsoft.com/office/powerpoint/2010/main" val="3415083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7" name="Marcador de fecha 6"/>
          <p:cNvSpPr>
            <a:spLocks noGrp="1"/>
          </p:cNvSpPr>
          <p:nvPr>
            <p:ph type="dt" sz="half" idx="10"/>
          </p:nvPr>
        </p:nvSpPr>
        <p:spPr/>
        <p:txBody>
          <a:bodyPr/>
          <a:lstStyle/>
          <a:p>
            <a:fld id="{E848EF51-C62B-482D-8217-D8BBF56BC949}" type="datetimeFigureOut">
              <a:rPr lang="es-MX" smtClean="0"/>
              <a:t>13/07/2020</a:t>
            </a:fld>
            <a:endParaRPr lang="es-MX" dirty="0"/>
          </a:p>
        </p:txBody>
      </p:sp>
      <p:sp>
        <p:nvSpPr>
          <p:cNvPr id="8" name="Marcador de pie de página 7"/>
          <p:cNvSpPr>
            <a:spLocks noGrp="1"/>
          </p:cNvSpPr>
          <p:nvPr>
            <p:ph type="ftr" sz="quarter" idx="11"/>
          </p:nvPr>
        </p:nvSpPr>
        <p:spPr/>
        <p:txBody>
          <a:bodyPr/>
          <a:lstStyle/>
          <a:p>
            <a:endParaRPr lang="es-MX" dirty="0"/>
          </a:p>
        </p:txBody>
      </p:sp>
      <p:sp>
        <p:nvSpPr>
          <p:cNvPr id="9" name="Marcador de número de diapositiva 8"/>
          <p:cNvSpPr>
            <a:spLocks noGrp="1"/>
          </p:cNvSpPr>
          <p:nvPr>
            <p:ph type="sldNum" sz="quarter" idx="12"/>
          </p:nvPr>
        </p:nvSpPr>
        <p:spPr/>
        <p:txBody>
          <a:bodyPr/>
          <a:lstStyle/>
          <a:p>
            <a:fld id="{6EB1891A-6EEB-4D0B-B5E0-65CE89DACF00}" type="slidenum">
              <a:rPr lang="es-MX" smtClean="0"/>
              <a:t>‹Nº›</a:t>
            </a:fld>
            <a:endParaRPr lang="es-MX" dirty="0"/>
          </a:p>
        </p:txBody>
      </p:sp>
    </p:spTree>
    <p:extLst>
      <p:ext uri="{BB962C8B-B14F-4D97-AF65-F5344CB8AC3E}">
        <p14:creationId xmlns:p14="http://schemas.microsoft.com/office/powerpoint/2010/main" val="7794979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fecha 2"/>
          <p:cNvSpPr>
            <a:spLocks noGrp="1"/>
          </p:cNvSpPr>
          <p:nvPr>
            <p:ph type="dt" sz="half" idx="10"/>
          </p:nvPr>
        </p:nvSpPr>
        <p:spPr/>
        <p:txBody>
          <a:bodyPr/>
          <a:lstStyle/>
          <a:p>
            <a:fld id="{E848EF51-C62B-482D-8217-D8BBF56BC949}" type="datetimeFigureOut">
              <a:rPr lang="es-MX" smtClean="0"/>
              <a:t>13/07/2020</a:t>
            </a:fld>
            <a:endParaRPr lang="es-MX" dirty="0"/>
          </a:p>
        </p:txBody>
      </p:sp>
      <p:sp>
        <p:nvSpPr>
          <p:cNvPr id="4" name="Marcador de pie de página 3"/>
          <p:cNvSpPr>
            <a:spLocks noGrp="1"/>
          </p:cNvSpPr>
          <p:nvPr>
            <p:ph type="ftr" sz="quarter" idx="11"/>
          </p:nvPr>
        </p:nvSpPr>
        <p:spPr/>
        <p:txBody>
          <a:bodyPr/>
          <a:lstStyle/>
          <a:p>
            <a:endParaRPr lang="es-MX" dirty="0"/>
          </a:p>
        </p:txBody>
      </p:sp>
      <p:sp>
        <p:nvSpPr>
          <p:cNvPr id="5" name="Marcador de número de diapositiva 4"/>
          <p:cNvSpPr>
            <a:spLocks noGrp="1"/>
          </p:cNvSpPr>
          <p:nvPr>
            <p:ph type="sldNum" sz="quarter" idx="12"/>
          </p:nvPr>
        </p:nvSpPr>
        <p:spPr/>
        <p:txBody>
          <a:bodyPr/>
          <a:lstStyle/>
          <a:p>
            <a:fld id="{6EB1891A-6EEB-4D0B-B5E0-65CE89DACF00}" type="slidenum">
              <a:rPr lang="es-MX" smtClean="0"/>
              <a:t>‹Nº›</a:t>
            </a:fld>
            <a:endParaRPr lang="es-MX" dirty="0"/>
          </a:p>
        </p:txBody>
      </p:sp>
    </p:spTree>
    <p:extLst>
      <p:ext uri="{BB962C8B-B14F-4D97-AF65-F5344CB8AC3E}">
        <p14:creationId xmlns:p14="http://schemas.microsoft.com/office/powerpoint/2010/main" val="3291766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E848EF51-C62B-482D-8217-D8BBF56BC949}" type="datetimeFigureOut">
              <a:rPr lang="es-MX" smtClean="0"/>
              <a:t>13/07/2020</a:t>
            </a:fld>
            <a:endParaRPr lang="es-MX" dirty="0"/>
          </a:p>
        </p:txBody>
      </p:sp>
      <p:sp>
        <p:nvSpPr>
          <p:cNvPr id="3" name="Marcador de pie de página 2"/>
          <p:cNvSpPr>
            <a:spLocks noGrp="1"/>
          </p:cNvSpPr>
          <p:nvPr>
            <p:ph type="ftr" sz="quarter" idx="11"/>
          </p:nvPr>
        </p:nvSpPr>
        <p:spPr/>
        <p:txBody>
          <a:bodyPr/>
          <a:lstStyle/>
          <a:p>
            <a:endParaRPr lang="es-MX" dirty="0"/>
          </a:p>
        </p:txBody>
      </p:sp>
      <p:sp>
        <p:nvSpPr>
          <p:cNvPr id="4" name="Marcador de número de diapositiva 3"/>
          <p:cNvSpPr>
            <a:spLocks noGrp="1"/>
          </p:cNvSpPr>
          <p:nvPr>
            <p:ph type="sldNum" sz="quarter" idx="12"/>
          </p:nvPr>
        </p:nvSpPr>
        <p:spPr/>
        <p:txBody>
          <a:bodyPr/>
          <a:lstStyle/>
          <a:p>
            <a:fld id="{6EB1891A-6EEB-4D0B-B5E0-65CE89DACF00}" type="slidenum">
              <a:rPr lang="es-MX" smtClean="0"/>
              <a:t>‹Nº›</a:t>
            </a:fld>
            <a:endParaRPr lang="es-MX" dirty="0"/>
          </a:p>
        </p:txBody>
      </p:sp>
    </p:spTree>
    <p:extLst>
      <p:ext uri="{BB962C8B-B14F-4D97-AF65-F5344CB8AC3E}">
        <p14:creationId xmlns:p14="http://schemas.microsoft.com/office/powerpoint/2010/main" val="212076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MX"/>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E848EF51-C62B-482D-8217-D8BBF56BC949}" type="datetimeFigureOut">
              <a:rPr lang="es-MX" smtClean="0"/>
              <a:t>13/07/2020</a:t>
            </a:fld>
            <a:endParaRPr lang="es-MX" dirty="0"/>
          </a:p>
        </p:txBody>
      </p:sp>
      <p:sp>
        <p:nvSpPr>
          <p:cNvPr id="6" name="Marcador de pie de página 5"/>
          <p:cNvSpPr>
            <a:spLocks noGrp="1"/>
          </p:cNvSpPr>
          <p:nvPr>
            <p:ph type="ftr" sz="quarter" idx="11"/>
          </p:nvPr>
        </p:nvSpPr>
        <p:spPr/>
        <p:txBody>
          <a:bodyPr/>
          <a:lstStyle/>
          <a:p>
            <a:endParaRPr lang="es-MX" dirty="0"/>
          </a:p>
        </p:txBody>
      </p:sp>
      <p:sp>
        <p:nvSpPr>
          <p:cNvPr id="7" name="Marcador de número de diapositiva 6"/>
          <p:cNvSpPr>
            <a:spLocks noGrp="1"/>
          </p:cNvSpPr>
          <p:nvPr>
            <p:ph type="sldNum" sz="quarter" idx="12"/>
          </p:nvPr>
        </p:nvSpPr>
        <p:spPr/>
        <p:txBody>
          <a:bodyPr/>
          <a:lstStyle/>
          <a:p>
            <a:fld id="{6EB1891A-6EEB-4D0B-B5E0-65CE89DACF00}" type="slidenum">
              <a:rPr lang="es-MX" smtClean="0"/>
              <a:t>‹Nº›</a:t>
            </a:fld>
            <a:endParaRPr lang="es-MX" dirty="0"/>
          </a:p>
        </p:txBody>
      </p:sp>
    </p:spTree>
    <p:extLst>
      <p:ext uri="{BB962C8B-B14F-4D97-AF65-F5344CB8AC3E}">
        <p14:creationId xmlns:p14="http://schemas.microsoft.com/office/powerpoint/2010/main" val="3194314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MX"/>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dirty="0"/>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E848EF51-C62B-482D-8217-D8BBF56BC949}" type="datetimeFigureOut">
              <a:rPr lang="es-MX" smtClean="0"/>
              <a:t>13/07/2020</a:t>
            </a:fld>
            <a:endParaRPr lang="es-MX" dirty="0"/>
          </a:p>
        </p:txBody>
      </p:sp>
      <p:sp>
        <p:nvSpPr>
          <p:cNvPr id="6" name="Marcador de pie de página 5"/>
          <p:cNvSpPr>
            <a:spLocks noGrp="1"/>
          </p:cNvSpPr>
          <p:nvPr>
            <p:ph type="ftr" sz="quarter" idx="11"/>
          </p:nvPr>
        </p:nvSpPr>
        <p:spPr/>
        <p:txBody>
          <a:bodyPr/>
          <a:lstStyle/>
          <a:p>
            <a:endParaRPr lang="es-MX" dirty="0"/>
          </a:p>
        </p:txBody>
      </p:sp>
      <p:sp>
        <p:nvSpPr>
          <p:cNvPr id="7" name="Marcador de número de diapositiva 6"/>
          <p:cNvSpPr>
            <a:spLocks noGrp="1"/>
          </p:cNvSpPr>
          <p:nvPr>
            <p:ph type="sldNum" sz="quarter" idx="12"/>
          </p:nvPr>
        </p:nvSpPr>
        <p:spPr/>
        <p:txBody>
          <a:bodyPr/>
          <a:lstStyle/>
          <a:p>
            <a:fld id="{6EB1891A-6EEB-4D0B-B5E0-65CE89DACF00}" type="slidenum">
              <a:rPr lang="es-MX" smtClean="0"/>
              <a:t>‹Nº›</a:t>
            </a:fld>
            <a:endParaRPr lang="es-MX" dirty="0"/>
          </a:p>
        </p:txBody>
      </p:sp>
    </p:spTree>
    <p:extLst>
      <p:ext uri="{BB962C8B-B14F-4D97-AF65-F5344CB8AC3E}">
        <p14:creationId xmlns:p14="http://schemas.microsoft.com/office/powerpoint/2010/main" val="19247600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texto vertical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E848EF51-C62B-482D-8217-D8BBF56BC949}" type="datetimeFigureOut">
              <a:rPr lang="es-MX" smtClean="0"/>
              <a:t>13/07/2020</a:t>
            </a:fld>
            <a:endParaRPr lang="es-MX" dirty="0"/>
          </a:p>
        </p:txBody>
      </p:sp>
      <p:sp>
        <p:nvSpPr>
          <p:cNvPr id="5" name="Marcador de pie de página 4"/>
          <p:cNvSpPr>
            <a:spLocks noGrp="1"/>
          </p:cNvSpPr>
          <p:nvPr>
            <p:ph type="ftr" sz="quarter" idx="11"/>
          </p:nvPr>
        </p:nvSpPr>
        <p:spPr/>
        <p:txBody>
          <a:bodyPr/>
          <a:lstStyle/>
          <a:p>
            <a:endParaRPr lang="es-MX" dirty="0"/>
          </a:p>
        </p:txBody>
      </p:sp>
      <p:sp>
        <p:nvSpPr>
          <p:cNvPr id="6" name="Marcador de número de diapositiva 5"/>
          <p:cNvSpPr>
            <a:spLocks noGrp="1"/>
          </p:cNvSpPr>
          <p:nvPr>
            <p:ph type="sldNum" sz="quarter" idx="12"/>
          </p:nvPr>
        </p:nvSpPr>
        <p:spPr/>
        <p:txBody>
          <a:bodyPr/>
          <a:lstStyle/>
          <a:p>
            <a:fld id="{6EB1891A-6EEB-4D0B-B5E0-65CE89DACF00}" type="slidenum">
              <a:rPr lang="es-MX" smtClean="0"/>
              <a:t>‹Nº›</a:t>
            </a:fld>
            <a:endParaRPr lang="es-MX" dirty="0"/>
          </a:p>
        </p:txBody>
      </p:sp>
    </p:spTree>
    <p:extLst>
      <p:ext uri="{BB962C8B-B14F-4D97-AF65-F5344CB8AC3E}">
        <p14:creationId xmlns:p14="http://schemas.microsoft.com/office/powerpoint/2010/main" val="29110600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MX"/>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E848EF51-C62B-482D-8217-D8BBF56BC949}" type="datetimeFigureOut">
              <a:rPr lang="es-MX" smtClean="0"/>
              <a:t>13/07/2020</a:t>
            </a:fld>
            <a:endParaRPr lang="es-MX" dirty="0"/>
          </a:p>
        </p:txBody>
      </p:sp>
      <p:sp>
        <p:nvSpPr>
          <p:cNvPr id="5" name="Marcador de pie de página 4"/>
          <p:cNvSpPr>
            <a:spLocks noGrp="1"/>
          </p:cNvSpPr>
          <p:nvPr>
            <p:ph type="ftr" sz="quarter" idx="11"/>
          </p:nvPr>
        </p:nvSpPr>
        <p:spPr/>
        <p:txBody>
          <a:bodyPr/>
          <a:lstStyle/>
          <a:p>
            <a:endParaRPr lang="es-MX" dirty="0"/>
          </a:p>
        </p:txBody>
      </p:sp>
      <p:sp>
        <p:nvSpPr>
          <p:cNvPr id="6" name="Marcador de número de diapositiva 5"/>
          <p:cNvSpPr>
            <a:spLocks noGrp="1"/>
          </p:cNvSpPr>
          <p:nvPr>
            <p:ph type="sldNum" sz="quarter" idx="12"/>
          </p:nvPr>
        </p:nvSpPr>
        <p:spPr/>
        <p:txBody>
          <a:bodyPr/>
          <a:lstStyle/>
          <a:p>
            <a:fld id="{6EB1891A-6EEB-4D0B-B5E0-65CE89DACF00}" type="slidenum">
              <a:rPr lang="es-MX" smtClean="0"/>
              <a:t>‹Nº›</a:t>
            </a:fld>
            <a:endParaRPr lang="es-MX" dirty="0"/>
          </a:p>
        </p:txBody>
      </p:sp>
    </p:spTree>
    <p:extLst>
      <p:ext uri="{BB962C8B-B14F-4D97-AF65-F5344CB8AC3E}">
        <p14:creationId xmlns:p14="http://schemas.microsoft.com/office/powerpoint/2010/main" val="3142684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48EF51-C62B-482D-8217-D8BBF56BC949}" type="datetimeFigureOut">
              <a:rPr lang="es-MX" smtClean="0"/>
              <a:t>13/07/2020</a:t>
            </a:fld>
            <a:endParaRPr lang="es-MX" dirty="0"/>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dirty="0"/>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B1891A-6EEB-4D0B-B5E0-65CE89DACF00}" type="slidenum">
              <a:rPr lang="es-MX" smtClean="0"/>
              <a:t>‹Nº›</a:t>
            </a:fld>
            <a:endParaRPr lang="es-MX" dirty="0"/>
          </a:p>
        </p:txBody>
      </p:sp>
    </p:spTree>
    <p:extLst>
      <p:ext uri="{BB962C8B-B14F-4D97-AF65-F5344CB8AC3E}">
        <p14:creationId xmlns:p14="http://schemas.microsoft.com/office/powerpoint/2010/main" val="4283690257"/>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emf"/><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emf"/><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emf"/><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1.emf"/><Relationship Id="rId7"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doi.org/10.1016/j.jss.2006.07.009" TargetMode="External"/><Relationship Id="rId5" Type="http://schemas.openxmlformats.org/officeDocument/2006/relationships/image" Target="../media/image3.jpeg"/><Relationship Id="rId4" Type="http://schemas.openxmlformats.org/officeDocument/2006/relationships/image" Target="../media/image2.gif"/></Relationships>
</file>

<file path=ppt/slides/_rels/slide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doi.org/10.1016/j.jss.2006.07.009" TargetMode="External"/><Relationship Id="rId5" Type="http://schemas.openxmlformats.org/officeDocument/2006/relationships/image" Target="../media/image3.jpeg"/><Relationship Id="rId4" Type="http://schemas.openxmlformats.org/officeDocument/2006/relationships/image" Target="../media/image2.gif"/></Relationships>
</file>

<file path=ppt/slides/_rels/slide6.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emf"/><Relationship Id="rId1" Type="http://schemas.openxmlformats.org/officeDocument/2006/relationships/slideLayout" Target="../slideLayouts/slideLayout2.xml"/><Relationship Id="rId5" Type="http://schemas.openxmlformats.org/officeDocument/2006/relationships/hyperlink" Target="https://doi.org/10.1016/j.infsof.2013.07.010" TargetMode="External"/><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8" Type="http://schemas.openxmlformats.org/officeDocument/2006/relationships/hyperlink" Target="https://doi.org/10.1109/TSE.2011.103" TargetMode="External"/><Relationship Id="rId3" Type="http://schemas.openxmlformats.org/officeDocument/2006/relationships/image" Target="../media/image1.emf"/><Relationship Id="rId7" Type="http://schemas.openxmlformats.org/officeDocument/2006/relationships/hyperlink" Target="https://doi.org/10.1145/2601248.2601268"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s://doi.org/10.1016/j.compedu.2012.03.004" TargetMode="External"/><Relationship Id="rId5" Type="http://schemas.openxmlformats.org/officeDocument/2006/relationships/image" Target="../media/image3.jpeg"/><Relationship Id="rId10" Type="http://schemas.openxmlformats.org/officeDocument/2006/relationships/hyperlink" Target="https://doi.org/10.1109/ACCESS.2016.2603219" TargetMode="External"/><Relationship Id="rId4" Type="http://schemas.openxmlformats.org/officeDocument/2006/relationships/image" Target="../media/image2.gif"/><Relationship Id="rId9" Type="http://schemas.openxmlformats.org/officeDocument/2006/relationships/hyperlink" Target="https://doi.org/10.1016/j.infsof.2010.03.006" TargetMode="External"/></Relationships>
</file>

<file path=ppt/slides/_rels/slide8.xml.rels><?xml version="1.0" encoding="UTF-8" standalone="yes"?>
<Relationships xmlns="http://schemas.openxmlformats.org/package/2006/relationships"><Relationship Id="rId8" Type="http://schemas.openxmlformats.org/officeDocument/2006/relationships/hyperlink" Target="https://doi.org/10.1136/oem.60.1.3" TargetMode="External"/><Relationship Id="rId3" Type="http://schemas.openxmlformats.org/officeDocument/2006/relationships/image" Target="../media/image1.emf"/><Relationship Id="rId7" Type="http://schemas.openxmlformats.org/officeDocument/2006/relationships/hyperlink" Target="https://doi.org/10.3201/eid1408.071114"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hyperlink" Target="https://doi.org/10.1093/ageing/afl005" TargetMode="External"/><Relationship Id="rId5" Type="http://schemas.openxmlformats.org/officeDocument/2006/relationships/image" Target="../media/image3.jpeg"/><Relationship Id="rId10" Type="http://schemas.openxmlformats.org/officeDocument/2006/relationships/hyperlink" Target="https://doi.org/10.1016/j.jss.2012.12.026" TargetMode="External"/><Relationship Id="rId4" Type="http://schemas.openxmlformats.org/officeDocument/2006/relationships/image" Target="../media/image2.gif"/><Relationship Id="rId9" Type="http://schemas.openxmlformats.org/officeDocument/2006/relationships/hyperlink" Target="https://doi.org/10.1007/s10551-012-1322-6"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emf"/><Relationship Id="rId7" Type="http://schemas.openxmlformats.org/officeDocument/2006/relationships/hyperlink" Target="https://doi.org/10.1186/1748-5908-5-69"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3.jpeg"/><Relationship Id="rId4" Type="http://schemas.openxmlformats.org/officeDocument/2006/relationships/image" Target="../media/image2.gif"/></Relationships>
</file>

<file path=ppt/slides/_rels/slide10.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emf"/><Relationship Id="rId1" Type="http://schemas.openxmlformats.org/officeDocument/2006/relationships/slideLayout" Target="../slideLayouts/slideLayout2.xml"/><Relationship Id="rId5" Type="http://schemas.openxmlformats.org/officeDocument/2006/relationships/hyperlink" Target="https://doi.org/10.1016/j.infsof.2013.07.010" TargetMode="External"/><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emf"/><Relationship Id="rId1" Type="http://schemas.openxmlformats.org/officeDocument/2006/relationships/slideLayout" Target="../slideLayouts/slideLayout2.xml"/><Relationship Id="rId5" Type="http://schemas.openxmlformats.org/officeDocument/2006/relationships/hyperlink" Target="https://doi.org/10.1186/1748-5908-5-69" TargetMode="External"/><Relationship Id="rId4" Type="http://schemas.openxmlformats.org/officeDocument/2006/relationships/image" Target="../media/image3.jpeg"/></Relationships>
</file>

<file path=ppt/slides/_rels/slide12.xml.rels><?xml version="1.0" encoding="UTF-8" standalone="yes"?>
<Relationships xmlns="http://schemas.openxmlformats.org/package/2006/relationships"><Relationship Id="rId8" Type="http://schemas.openxmlformats.org/officeDocument/2006/relationships/hyperlink" Target="https://doi.org/10.1371/journal.pone.0041911" TargetMode="External"/><Relationship Id="rId3" Type="http://schemas.openxmlformats.org/officeDocument/2006/relationships/image" Target="../media/image1.emf"/><Relationship Id="rId7" Type="http://schemas.openxmlformats.org/officeDocument/2006/relationships/hyperlink" Target="https://doi.org/10.1186/1748-5908-5-91"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doi.org/10.1097/XEB.0000000000000050" TargetMode="External"/><Relationship Id="rId5" Type="http://schemas.openxmlformats.org/officeDocument/2006/relationships/image" Target="../media/image3.jpeg"/><Relationship Id="rId10" Type="http://schemas.openxmlformats.org/officeDocument/2006/relationships/hyperlink" Target="https://doi.org/10.2147/JMDH.S43952" TargetMode="External"/><Relationship Id="rId4" Type="http://schemas.openxmlformats.org/officeDocument/2006/relationships/image" Target="../media/image2.gif"/><Relationship Id="rId9" Type="http://schemas.openxmlformats.org/officeDocument/2006/relationships/hyperlink" Target="https://doi.org/10.1136/bmjopen-2012-001881" TargetMode="External"/></Relationships>
</file>

<file path=ppt/slides/_rels/slide13.xml.rels><?xml version="1.0" encoding="UTF-8" standalone="yes"?>
<Relationships xmlns="http://schemas.openxmlformats.org/package/2006/relationships"><Relationship Id="rId8" Type="http://schemas.openxmlformats.org/officeDocument/2006/relationships/hyperlink" Target="https://doi.org/10.1136/amiajnl-2011-000105" TargetMode="External"/><Relationship Id="rId3" Type="http://schemas.openxmlformats.org/officeDocument/2006/relationships/image" Target="../media/image1.emf"/><Relationship Id="rId7" Type="http://schemas.openxmlformats.org/officeDocument/2006/relationships/hyperlink" Target="https://doi.org/10.1002/jrsm.1123"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s://doi.org/10.1016/j.iheduc.2015.05.001" TargetMode="External"/><Relationship Id="rId5" Type="http://schemas.openxmlformats.org/officeDocument/2006/relationships/image" Target="../media/image3.jpeg"/><Relationship Id="rId10" Type="http://schemas.openxmlformats.org/officeDocument/2006/relationships/hyperlink" Target="https://doi.org/10.1016/j.healthpol.2009.01.005" TargetMode="External"/><Relationship Id="rId4" Type="http://schemas.openxmlformats.org/officeDocument/2006/relationships/image" Target="../media/image2.gif"/><Relationship Id="rId9" Type="http://schemas.openxmlformats.org/officeDocument/2006/relationships/hyperlink" Target="https://doi.org/10.1186/1475-9276-9-24"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emf"/><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hyperlink" Target="https://www.scienceopen.com/hosted-document?doi=10.14236/ewic/EASE2008.8" TargetMode="External"/><Relationship Id="rId4"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emf"/><Relationship Id="rId1" Type="http://schemas.openxmlformats.org/officeDocument/2006/relationships/slideLayout" Target="../slideLayouts/slideLayout2.xml"/><Relationship Id="rId5" Type="http://schemas.openxmlformats.org/officeDocument/2006/relationships/hyperlink" Target="https://www.scienceopen.com/hosted-document?doi=10.14236/ewic/EASE2008.8" TargetMode="External"/><Relationship Id="rId4"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emf"/><Relationship Id="rId1" Type="http://schemas.openxmlformats.org/officeDocument/2006/relationships/slideLayout" Target="../slideLayouts/slideLayout2.xml"/><Relationship Id="rId5" Type="http://schemas.openxmlformats.org/officeDocument/2006/relationships/hyperlink" Target="https://doi.org/10.1016/j.infsof.2015.03.007" TargetMode="External"/><Relationship Id="rId4" Type="http://schemas.openxmlformats.org/officeDocument/2006/relationships/image" Target="../media/image3.jpeg"/></Relationships>
</file>

<file path=ppt/slides/_rels/slide17.xml.rels><?xml version="1.0" encoding="UTF-8" standalone="yes"?>
<Relationships xmlns="http://schemas.openxmlformats.org/package/2006/relationships"><Relationship Id="rId8" Type="http://schemas.openxmlformats.org/officeDocument/2006/relationships/hyperlink" Target="https://doi.org/10.1016/j.infsof.2010.12.003" TargetMode="External"/><Relationship Id="rId3" Type="http://schemas.openxmlformats.org/officeDocument/2006/relationships/image" Target="../media/image2.gif"/><Relationship Id="rId7" Type="http://schemas.openxmlformats.org/officeDocument/2006/relationships/hyperlink" Target="https://doi.org/10.1016/j.infsof.2014.04.014" TargetMode="External"/><Relationship Id="rId2" Type="http://schemas.openxmlformats.org/officeDocument/2006/relationships/image" Target="../media/image1.emf"/><Relationship Id="rId1" Type="http://schemas.openxmlformats.org/officeDocument/2006/relationships/slideLayout" Target="../slideLayouts/slideLayout2.xml"/><Relationship Id="rId6" Type="http://schemas.openxmlformats.org/officeDocument/2006/relationships/hyperlink" Target="https://doi.org/10.1145/2554850.2554956" TargetMode="External"/><Relationship Id="rId5" Type="http://schemas.openxmlformats.org/officeDocument/2006/relationships/hyperlink" Target="https://doi.org/10.1016/j.infsof.2011.02.007" TargetMode="External"/><Relationship Id="rId4" Type="http://schemas.openxmlformats.org/officeDocument/2006/relationships/image" Target="../media/image3.jpeg"/><Relationship Id="rId9" Type="http://schemas.openxmlformats.org/officeDocument/2006/relationships/hyperlink" Target="https://doi.org/10.1109/SOCA.2016.15" TargetMode="External"/></Relationships>
</file>

<file path=ppt/slides/_rels/slide18.xml.rels><?xml version="1.0" encoding="UTF-8" standalone="yes"?>
<Relationships xmlns="http://schemas.openxmlformats.org/package/2006/relationships"><Relationship Id="rId8" Type="http://schemas.openxmlformats.org/officeDocument/2006/relationships/hyperlink" Target="https://doi.org/10.1016/j.infsof.2010.05.011" TargetMode="External"/><Relationship Id="rId3" Type="http://schemas.openxmlformats.org/officeDocument/2006/relationships/image" Target="../media/image2.gif"/><Relationship Id="rId7" Type="http://schemas.openxmlformats.org/officeDocument/2006/relationships/hyperlink" Target="https://doi.org/10.1016/j.infsof.2012.07.007" TargetMode="External"/><Relationship Id="rId2" Type="http://schemas.openxmlformats.org/officeDocument/2006/relationships/image" Target="../media/image1.emf"/><Relationship Id="rId1" Type="http://schemas.openxmlformats.org/officeDocument/2006/relationships/slideLayout" Target="../slideLayouts/slideLayout2.xml"/><Relationship Id="rId6" Type="http://schemas.openxmlformats.org/officeDocument/2006/relationships/hyperlink" Target="https://doi.org/10.2307/jeductechsoci.18.3.75" TargetMode="External"/><Relationship Id="rId5" Type="http://schemas.openxmlformats.org/officeDocument/2006/relationships/hyperlink" Target="https://doi.org/10.5121/csit.2017.7101" TargetMode="External"/><Relationship Id="rId4" Type="http://schemas.openxmlformats.org/officeDocument/2006/relationships/image" Target="../media/image3.jpeg"/><Relationship Id="rId9" Type="http://schemas.openxmlformats.org/officeDocument/2006/relationships/hyperlink" Target="https://doi.org/10.1016/j.jss.2014.12.027"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emf"/><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0.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emf"/><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emf"/><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gif"/></Relationships>
</file>

<file path=ppt/slides/_rels/slide23.xml.rels><?xml version="1.0" encoding="UTF-8" standalone="yes"?>
<Relationships xmlns="http://schemas.openxmlformats.org/package/2006/relationships"><Relationship Id="rId3" Type="http://schemas.openxmlformats.org/officeDocument/2006/relationships/image" Target="../media/image1.emf"/><Relationship Id="rId7"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3.jpeg"/><Relationship Id="rId4" Type="http://schemas.openxmlformats.org/officeDocument/2006/relationships/image" Target="../media/image2.gif"/></Relationships>
</file>

<file path=ppt/slides/_rels/slide2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gif"/></Relationships>
</file>

<file path=ppt/slides/_rels/slide2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gif"/></Relationships>
</file>

<file path=ppt/slides/_rels/slide26.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emf"/><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p:cNvPicPr/>
          <p:nvPr/>
        </p:nvPicPr>
        <p:blipFill rotWithShape="1">
          <a:blip r:embed="rId2">
            <a:extLst>
              <a:ext uri="{28A0092B-C50C-407E-A947-70E740481C1C}">
                <a14:useLocalDpi xmlns:a14="http://schemas.microsoft.com/office/drawing/2010/main" val="0"/>
              </a:ext>
            </a:extLst>
          </a:blip>
          <a:srcRect t="1" r="32064" b="-10136"/>
          <a:stretch/>
        </p:blipFill>
        <p:spPr bwMode="auto">
          <a:xfrm>
            <a:off x="110789" y="112160"/>
            <a:ext cx="3410075" cy="757457"/>
          </a:xfrm>
          <a:prstGeom prst="rect">
            <a:avLst/>
          </a:prstGeom>
          <a:noFill/>
          <a:ln>
            <a:noFill/>
          </a:ln>
          <a:extLst>
            <a:ext uri="{53640926-AAD7-44D8-BBD7-CCE9431645EC}">
              <a14:shadowObscured xmlns:a14="http://schemas.microsoft.com/office/drawing/2010/main"/>
            </a:ext>
          </a:extLst>
        </p:spPr>
      </p:pic>
      <p:pic>
        <p:nvPicPr>
          <p:cNvPr id="12" name="Imagen 11" descr="Resultado de imagen para instituto tecnologico de orizaba logo"/>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51537" y="77977"/>
            <a:ext cx="779082" cy="805180"/>
          </a:xfrm>
          <a:prstGeom prst="rect">
            <a:avLst/>
          </a:prstGeom>
          <a:noFill/>
          <a:ln>
            <a:noFill/>
          </a:ln>
        </p:spPr>
      </p:pic>
      <p:sp>
        <p:nvSpPr>
          <p:cNvPr id="13" name="Rectangle 32"/>
          <p:cNvSpPr>
            <a:spLocks noChangeArrowheads="1"/>
          </p:cNvSpPr>
          <p:nvPr/>
        </p:nvSpPr>
        <p:spPr bwMode="auto">
          <a:xfrm>
            <a:off x="0" y="1124744"/>
            <a:ext cx="12183686" cy="49244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14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 </a:t>
            </a:r>
            <a:r>
              <a:rPr kumimoji="0" lang="es-ES" sz="2600" b="1" i="0" u="none" strike="noStrike" cap="none" normalizeH="0" baseline="0" dirty="0" smtClean="0">
                <a:ln>
                  <a:noFill/>
                </a:ln>
                <a:solidFill>
                  <a:schemeClr val="tx1"/>
                </a:solidFill>
                <a:effectLst/>
                <a:latin typeface="Trebuchet MS" panose="020B0603020202020204" pitchFamily="34" charset="0"/>
                <a:ea typeface="Calibri" pitchFamily="34" charset="0"/>
                <a:cs typeface="Times New Roman" pitchFamily="18" charset="0"/>
              </a:rPr>
              <a:t>TECNOLÓGICO NACIONAL DE MÉXICO</a:t>
            </a:r>
            <a:endParaRPr kumimoji="0" lang="es-ES" sz="2600" b="0" i="0" u="none" strike="noStrike" cap="none" normalizeH="0" baseline="0" dirty="0" smtClean="0">
              <a:ln>
                <a:noFill/>
              </a:ln>
              <a:solidFill>
                <a:schemeClr val="tx1"/>
              </a:solidFill>
              <a:effectLst/>
              <a:latin typeface="Trebuchet MS" panose="020B0603020202020204" pitchFamily="34" charset="0"/>
              <a:cs typeface="Arial" pitchFamily="34" charset="0"/>
            </a:endParaRPr>
          </a:p>
        </p:txBody>
      </p:sp>
      <p:sp>
        <p:nvSpPr>
          <p:cNvPr id="14" name="Rectangle 4"/>
          <p:cNvSpPr/>
          <p:nvPr/>
        </p:nvSpPr>
        <p:spPr>
          <a:xfrm>
            <a:off x="-1" y="1700808"/>
            <a:ext cx="12183687" cy="707886"/>
          </a:xfrm>
          <a:prstGeom prst="rect">
            <a:avLst/>
          </a:prstGeom>
        </p:spPr>
        <p:txBody>
          <a:bodyPr wrap="square">
            <a:spAutoFit/>
          </a:bodyPr>
          <a:lstStyle/>
          <a:p>
            <a:pPr algn="ctr"/>
            <a:r>
              <a:rPr lang="es-ES" sz="2000" b="1" dirty="0" smtClean="0">
                <a:latin typeface="Trebuchet MS" panose="020B0603020202020204" pitchFamily="34" charset="0"/>
              </a:rPr>
              <a:t>INSTITUTO TECNOLÓGICO DE ORIZABA</a:t>
            </a:r>
          </a:p>
          <a:p>
            <a:pPr algn="ctr"/>
            <a:r>
              <a:rPr lang="es-ES" sz="2000" b="1" dirty="0" smtClean="0">
                <a:latin typeface="Trebuchet MS" panose="020B0603020202020204" pitchFamily="34" charset="0"/>
              </a:rPr>
              <a:t>División </a:t>
            </a:r>
            <a:r>
              <a:rPr lang="es-ES" sz="2000" b="1" dirty="0">
                <a:latin typeface="Trebuchet MS" panose="020B0603020202020204" pitchFamily="34" charset="0"/>
              </a:rPr>
              <a:t>de Estudios de </a:t>
            </a:r>
            <a:r>
              <a:rPr lang="es-ES" sz="2000" b="1" dirty="0" smtClean="0">
                <a:latin typeface="Trebuchet MS" panose="020B0603020202020204" pitchFamily="34" charset="0"/>
              </a:rPr>
              <a:t>Posgrado </a:t>
            </a:r>
            <a:r>
              <a:rPr lang="es-ES" sz="2000" b="1" dirty="0">
                <a:latin typeface="Trebuchet MS" panose="020B0603020202020204" pitchFamily="34" charset="0"/>
              </a:rPr>
              <a:t>e </a:t>
            </a:r>
            <a:r>
              <a:rPr lang="es-ES" sz="2000" b="1" dirty="0" smtClean="0">
                <a:latin typeface="Trebuchet MS" panose="020B0603020202020204" pitchFamily="34" charset="0"/>
              </a:rPr>
              <a:t>Investigación</a:t>
            </a:r>
          </a:p>
        </p:txBody>
      </p:sp>
      <p:sp>
        <p:nvSpPr>
          <p:cNvPr id="15" name="Title 1"/>
          <p:cNvSpPr>
            <a:spLocks noGrp="1"/>
          </p:cNvSpPr>
          <p:nvPr>
            <p:ph type="ctrTitle"/>
          </p:nvPr>
        </p:nvSpPr>
        <p:spPr>
          <a:xfrm>
            <a:off x="-8315" y="2721782"/>
            <a:ext cx="12192001" cy="563202"/>
          </a:xfrm>
        </p:spPr>
        <p:txBody>
          <a:bodyPr>
            <a:noAutofit/>
          </a:bodyPr>
          <a:lstStyle/>
          <a:p>
            <a:pPr algn="ctr"/>
            <a:r>
              <a:rPr lang="es-ES_tradnl" sz="2800" b="1" dirty="0" smtClean="0">
                <a:solidFill>
                  <a:srgbClr val="08489E"/>
                </a:solidFill>
                <a:latin typeface="Trebuchet MS" panose="020B0603020202020204" pitchFamily="34" charset="0"/>
              </a:rPr>
              <a:t>Tipos de Revisiones para la investigación científica</a:t>
            </a:r>
            <a:endParaRPr lang="en-US" sz="2800" b="1" dirty="0">
              <a:solidFill>
                <a:schemeClr val="tx1">
                  <a:lumMod val="65000"/>
                  <a:lumOff val="35000"/>
                </a:schemeClr>
              </a:solidFill>
              <a:latin typeface="Trebuchet MS" panose="020B0603020202020204" pitchFamily="34" charset="0"/>
            </a:endParaRPr>
          </a:p>
        </p:txBody>
      </p:sp>
      <p:pic>
        <p:nvPicPr>
          <p:cNvPr id="19" name="Imagen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74675" y="125347"/>
            <a:ext cx="1619264" cy="740391"/>
          </a:xfrm>
          <a:prstGeom prst="rect">
            <a:avLst/>
          </a:prstGeom>
        </p:spPr>
      </p:pic>
      <p:sp>
        <p:nvSpPr>
          <p:cNvPr id="16" name="Rectángulo 15"/>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22" name="Rectángulo 21"/>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24" name="Rectangle 4"/>
          <p:cNvSpPr/>
          <p:nvPr/>
        </p:nvSpPr>
        <p:spPr>
          <a:xfrm>
            <a:off x="10246784" y="5852429"/>
            <a:ext cx="1783835" cy="400110"/>
          </a:xfrm>
          <a:prstGeom prst="rect">
            <a:avLst/>
          </a:prstGeom>
        </p:spPr>
        <p:txBody>
          <a:bodyPr wrap="square">
            <a:spAutoFit/>
          </a:bodyPr>
          <a:lstStyle/>
          <a:p>
            <a:pPr algn="ctr"/>
            <a:r>
              <a:rPr lang="es-ES" sz="2000" b="1" dirty="0" smtClean="0">
                <a:latin typeface="Trebuchet MS" panose="020B0603020202020204" pitchFamily="34" charset="0"/>
              </a:rPr>
              <a:t>Junio 2020</a:t>
            </a:r>
          </a:p>
        </p:txBody>
      </p:sp>
      <p:pic>
        <p:nvPicPr>
          <p:cNvPr id="2" name="Imagen 1"/>
          <p:cNvPicPr>
            <a:picLocks noChangeAspect="1"/>
          </p:cNvPicPr>
          <p:nvPr/>
        </p:nvPicPr>
        <p:blipFill>
          <a:blip r:embed="rId5"/>
          <a:stretch>
            <a:fillRect/>
          </a:stretch>
        </p:blipFill>
        <p:spPr>
          <a:xfrm>
            <a:off x="3638302" y="3574853"/>
            <a:ext cx="4915396" cy="243213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074626036"/>
      </p:ext>
    </p:extLst>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pic>
        <p:nvPicPr>
          <p:cNvPr id="5" name="Imagen 4"/>
          <p:cNvPicPr/>
          <p:nvPr/>
        </p:nvPicPr>
        <p:blipFill rotWithShape="1">
          <a:blip r:embed="rId2">
            <a:extLst>
              <a:ext uri="{28A0092B-C50C-407E-A947-70E740481C1C}">
                <a14:useLocalDpi xmlns:a14="http://schemas.microsoft.com/office/drawing/2010/main" val="0"/>
              </a:ext>
            </a:extLst>
          </a:blip>
          <a:srcRect t="1" r="32064" b="-10136"/>
          <a:stretch/>
        </p:blipFill>
        <p:spPr bwMode="auto">
          <a:xfrm>
            <a:off x="110789" y="112160"/>
            <a:ext cx="3410075" cy="757457"/>
          </a:xfrm>
          <a:prstGeom prst="rect">
            <a:avLst/>
          </a:prstGeom>
          <a:noFill/>
          <a:ln>
            <a:noFill/>
          </a:ln>
          <a:extLst>
            <a:ext uri="{53640926-AAD7-44D8-BBD7-CCE9431645EC}">
              <a14:shadowObscured xmlns:a14="http://schemas.microsoft.com/office/drawing/2010/main"/>
            </a:ext>
          </a:extLst>
        </p:spPr>
      </p:pic>
      <p:pic>
        <p:nvPicPr>
          <p:cNvPr id="6" name="Imagen 5" descr="Resultado de imagen para instituto tecnologico de orizaba logo"/>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51537" y="77977"/>
            <a:ext cx="779082" cy="805180"/>
          </a:xfrm>
          <a:prstGeom prst="rect">
            <a:avLst/>
          </a:prstGeom>
          <a:noFill/>
          <a:ln>
            <a:noFill/>
          </a:ln>
        </p:spPr>
      </p:pic>
      <p:pic>
        <p:nvPicPr>
          <p:cNvPr id="7" name="Imagen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74675" y="125347"/>
            <a:ext cx="1619264" cy="740391"/>
          </a:xfrm>
          <a:prstGeom prst="rect">
            <a:avLst/>
          </a:prstGeom>
        </p:spPr>
      </p:pic>
      <p:sp>
        <p:nvSpPr>
          <p:cNvPr id="8" name="Rectángulo 7"/>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10" name="2 Marcador de contenido"/>
          <p:cNvSpPr txBox="1">
            <a:spLocks/>
          </p:cNvSpPr>
          <p:nvPr/>
        </p:nvSpPr>
        <p:spPr>
          <a:xfrm>
            <a:off x="1036321" y="1702999"/>
            <a:ext cx="10215215" cy="468052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Clr>
                <a:srgbClr val="992732"/>
              </a:buClr>
              <a:buSzPct val="140000"/>
              <a:buFont typeface="Arial" panose="020B0604020202020204" pitchFamily="34" charset="0"/>
              <a:buChar char="•"/>
            </a:pPr>
            <a:r>
              <a:rPr lang="en-US" sz="2000" dirty="0">
                <a:latin typeface="Trebuchet MS" panose="020B0603020202020204" pitchFamily="34" charset="0"/>
              </a:rPr>
              <a:t>Tipos de </a:t>
            </a:r>
            <a:r>
              <a:rPr lang="en-US" sz="2000" dirty="0" smtClean="0">
                <a:latin typeface="Trebuchet MS" panose="020B0603020202020204" pitchFamily="34" charset="0"/>
              </a:rPr>
              <a:t>Revisiones</a:t>
            </a:r>
          </a:p>
          <a:p>
            <a:pPr marL="800100" lvl="1" indent="-342900" algn="l">
              <a:buClr>
                <a:srgbClr val="3399FF"/>
              </a:buClr>
              <a:buSzPct val="140000"/>
              <a:buFont typeface="Arial" panose="020B0604020202020204" pitchFamily="34" charset="0"/>
              <a:buChar char="•"/>
            </a:pPr>
            <a:r>
              <a:rPr lang="en-US" sz="1800" dirty="0">
                <a:latin typeface="Trebuchet MS" panose="020B0603020202020204" pitchFamily="34" charset="0"/>
              </a:rPr>
              <a:t>Revisión Sistemática de la Literatura </a:t>
            </a:r>
            <a:r>
              <a:rPr lang="en-US" sz="1800" b="1" dirty="0">
                <a:solidFill>
                  <a:srgbClr val="3399FF"/>
                </a:solidFill>
                <a:latin typeface="Trebuchet MS" panose="020B0603020202020204" pitchFamily="34" charset="0"/>
                <a:ea typeface="Times New Roman"/>
                <a:cs typeface="Calibri"/>
              </a:rPr>
              <a:t>(Systematic Literature Review)</a:t>
            </a:r>
          </a:p>
          <a:p>
            <a:pPr marL="800100" lvl="1" indent="-342900" algn="l">
              <a:buClr>
                <a:srgbClr val="3399FF"/>
              </a:buClr>
              <a:buSzPct val="140000"/>
              <a:buFont typeface="Arial" panose="020B0604020202020204" pitchFamily="34" charset="0"/>
              <a:buChar char="•"/>
            </a:pPr>
            <a:r>
              <a:rPr lang="es-MX" sz="1800" dirty="0">
                <a:latin typeface="Trebuchet MS" panose="020B0603020202020204" pitchFamily="34" charset="0"/>
              </a:rPr>
              <a:t>Revisión de alcance </a:t>
            </a:r>
            <a:r>
              <a:rPr lang="es-MX" sz="1800" b="1" dirty="0">
                <a:solidFill>
                  <a:srgbClr val="3399FF"/>
                </a:solidFill>
                <a:latin typeface="Trebuchet MS" panose="020B0603020202020204" pitchFamily="34" charset="0"/>
                <a:ea typeface="Times New Roman"/>
                <a:cs typeface="Calibri"/>
              </a:rPr>
              <a:t>(</a:t>
            </a:r>
            <a:r>
              <a:rPr lang="en-US" sz="1800" b="1" dirty="0">
                <a:solidFill>
                  <a:srgbClr val="3399FF"/>
                </a:solidFill>
                <a:latin typeface="Trebuchet MS" panose="020B0603020202020204" pitchFamily="34" charset="0"/>
                <a:ea typeface="Times New Roman"/>
                <a:cs typeface="Calibri"/>
              </a:rPr>
              <a:t>Scoping Review</a:t>
            </a:r>
            <a:r>
              <a:rPr lang="es-MX" sz="1800" b="1" dirty="0">
                <a:solidFill>
                  <a:srgbClr val="3399FF"/>
                </a:solidFill>
                <a:latin typeface="Trebuchet MS" panose="020B0603020202020204" pitchFamily="34" charset="0"/>
                <a:ea typeface="Times New Roman"/>
                <a:cs typeface="Calibri"/>
              </a:rPr>
              <a:t>)</a:t>
            </a:r>
          </a:p>
          <a:p>
            <a:pPr marL="800100" lvl="1" indent="-342900" algn="l">
              <a:buClr>
                <a:srgbClr val="3399FF"/>
              </a:buClr>
              <a:buSzPct val="140000"/>
              <a:buFont typeface="Arial" panose="020B0604020202020204" pitchFamily="34" charset="0"/>
              <a:buChar char="•"/>
            </a:pPr>
            <a:r>
              <a:rPr lang="en-US" sz="1800" dirty="0">
                <a:latin typeface="Trebuchet MS" panose="020B0603020202020204" pitchFamily="34" charset="0"/>
              </a:rPr>
              <a:t>Estudio de Mapeo Sistemático </a:t>
            </a:r>
            <a:r>
              <a:rPr lang="en-US" sz="1800" b="1" dirty="0">
                <a:solidFill>
                  <a:srgbClr val="3399FF"/>
                </a:solidFill>
                <a:latin typeface="Trebuchet MS" panose="020B0603020202020204" pitchFamily="34" charset="0"/>
                <a:ea typeface="Times New Roman"/>
                <a:cs typeface="Calibri"/>
              </a:rPr>
              <a:t>(Systematic Mapping Study)</a:t>
            </a:r>
          </a:p>
          <a:p>
            <a:pPr marL="342900" indent="-342900" algn="l">
              <a:buClr>
                <a:srgbClr val="992732"/>
              </a:buClr>
              <a:buSzPct val="140000"/>
              <a:buFont typeface="Arial" panose="020B0604020202020204" pitchFamily="34" charset="0"/>
              <a:buChar char="•"/>
            </a:pPr>
            <a:r>
              <a:rPr lang="en-US" sz="2000" dirty="0" smtClean="0">
                <a:latin typeface="Trebuchet MS" panose="020B0603020202020204" pitchFamily="34" charset="0"/>
              </a:rPr>
              <a:t>Comparación de los tipos de Revisiones </a:t>
            </a:r>
          </a:p>
          <a:p>
            <a:pPr marL="342900" indent="-342900" algn="l">
              <a:buClr>
                <a:srgbClr val="992732"/>
              </a:buClr>
              <a:buSzPct val="140000"/>
              <a:buFont typeface="Arial" panose="020B0604020202020204" pitchFamily="34" charset="0"/>
              <a:buChar char="•"/>
            </a:pPr>
            <a:r>
              <a:rPr lang="en-US" sz="2000" dirty="0" smtClean="0">
                <a:latin typeface="Trebuchet MS" panose="020B0603020202020204" pitchFamily="34" charset="0"/>
              </a:rPr>
              <a:t>Conclusiones</a:t>
            </a:r>
          </a:p>
          <a:p>
            <a:pPr marL="342900" indent="-342900" algn="l">
              <a:buClr>
                <a:srgbClr val="992732"/>
              </a:buClr>
              <a:buSzPct val="140000"/>
              <a:buFont typeface="Arial" panose="020B0604020202020204" pitchFamily="34" charset="0"/>
              <a:buChar char="•"/>
            </a:pPr>
            <a:r>
              <a:rPr lang="en-US" sz="2000" dirty="0" smtClean="0">
                <a:latin typeface="Trebuchet MS" panose="020B0603020202020204" pitchFamily="34" charset="0"/>
              </a:rPr>
              <a:t>Referencias</a:t>
            </a:r>
            <a:endParaRPr lang="es-MX" sz="2000" dirty="0">
              <a:latin typeface="Trebuchet MS" panose="020B0603020202020204" pitchFamily="34" charset="0"/>
            </a:endParaRPr>
          </a:p>
        </p:txBody>
      </p:sp>
      <p:sp>
        <p:nvSpPr>
          <p:cNvPr id="11" name="Title 1"/>
          <p:cNvSpPr txBox="1">
            <a:spLocks/>
          </p:cNvSpPr>
          <p:nvPr/>
        </p:nvSpPr>
        <p:spPr>
          <a:xfrm>
            <a:off x="911424" y="1003473"/>
            <a:ext cx="7848872" cy="40930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_tradnl" sz="2400" b="1" dirty="0" smtClean="0">
                <a:solidFill>
                  <a:srgbClr val="08489E"/>
                </a:solidFill>
                <a:latin typeface="Trebuchet MS" panose="020B0603020202020204" pitchFamily="34" charset="0"/>
              </a:rPr>
              <a:t>Agenda</a:t>
            </a:r>
            <a:endParaRPr lang="en-US" sz="2400" b="1" dirty="0">
              <a:solidFill>
                <a:schemeClr val="tx1">
                  <a:lumMod val="65000"/>
                  <a:lumOff val="35000"/>
                </a:schemeClr>
              </a:solidFill>
              <a:latin typeface="Trebuchet MS" panose="020B0603020202020204" pitchFamily="34" charset="0"/>
            </a:endParaRPr>
          </a:p>
        </p:txBody>
      </p:sp>
      <p:pic>
        <p:nvPicPr>
          <p:cNvPr id="12" name="Imagen 11"/>
          <p:cNvPicPr>
            <a:picLocks noChangeAspect="1"/>
          </p:cNvPicPr>
          <p:nvPr/>
        </p:nvPicPr>
        <p:blipFill>
          <a:blip r:embed="rId5"/>
          <a:stretch>
            <a:fillRect/>
          </a:stretch>
        </p:blipFill>
        <p:spPr>
          <a:xfrm>
            <a:off x="8760296" y="3348560"/>
            <a:ext cx="2754953" cy="252795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04384061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pic>
        <p:nvPicPr>
          <p:cNvPr id="5" name="Imagen 4"/>
          <p:cNvPicPr/>
          <p:nvPr/>
        </p:nvPicPr>
        <p:blipFill rotWithShape="1">
          <a:blip r:embed="rId2">
            <a:extLst>
              <a:ext uri="{28A0092B-C50C-407E-A947-70E740481C1C}">
                <a14:useLocalDpi xmlns:a14="http://schemas.microsoft.com/office/drawing/2010/main" val="0"/>
              </a:ext>
            </a:extLst>
          </a:blip>
          <a:srcRect t="1" r="32064" b="-10136"/>
          <a:stretch/>
        </p:blipFill>
        <p:spPr bwMode="auto">
          <a:xfrm>
            <a:off x="110789" y="112160"/>
            <a:ext cx="3410075" cy="757457"/>
          </a:xfrm>
          <a:prstGeom prst="rect">
            <a:avLst/>
          </a:prstGeom>
          <a:noFill/>
          <a:ln>
            <a:noFill/>
          </a:ln>
          <a:extLst>
            <a:ext uri="{53640926-AAD7-44D8-BBD7-CCE9431645EC}">
              <a14:shadowObscured xmlns:a14="http://schemas.microsoft.com/office/drawing/2010/main"/>
            </a:ext>
          </a:extLst>
        </p:spPr>
      </p:pic>
      <p:pic>
        <p:nvPicPr>
          <p:cNvPr id="6" name="Imagen 5" descr="Resultado de imagen para instituto tecnologico de orizaba logo"/>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51537" y="77977"/>
            <a:ext cx="779082" cy="805180"/>
          </a:xfrm>
          <a:prstGeom prst="rect">
            <a:avLst/>
          </a:prstGeom>
          <a:noFill/>
          <a:ln>
            <a:noFill/>
          </a:ln>
        </p:spPr>
      </p:pic>
      <p:pic>
        <p:nvPicPr>
          <p:cNvPr id="7" name="Imagen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74675" y="125347"/>
            <a:ext cx="1619264" cy="740391"/>
          </a:xfrm>
          <a:prstGeom prst="rect">
            <a:avLst/>
          </a:prstGeom>
        </p:spPr>
      </p:pic>
      <p:sp>
        <p:nvSpPr>
          <p:cNvPr id="8" name="Rectángulo 7"/>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10" name="2 Marcador de contenido"/>
          <p:cNvSpPr txBox="1">
            <a:spLocks/>
          </p:cNvSpPr>
          <p:nvPr/>
        </p:nvSpPr>
        <p:spPr>
          <a:xfrm>
            <a:off x="1036321" y="1702999"/>
            <a:ext cx="10215215" cy="468052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Clr>
                <a:srgbClr val="992732"/>
              </a:buClr>
              <a:buSzPct val="140000"/>
              <a:buFont typeface="Arial" panose="020B0604020202020204" pitchFamily="34" charset="0"/>
              <a:buChar char="•"/>
            </a:pPr>
            <a:r>
              <a:rPr lang="en-US" sz="2000" dirty="0" smtClean="0">
                <a:latin typeface="Trebuchet MS" panose="020B0603020202020204" pitchFamily="34" charset="0"/>
              </a:rPr>
              <a:t>Revisión </a:t>
            </a:r>
            <a:r>
              <a:rPr lang="en-US" sz="2000" dirty="0">
                <a:latin typeface="Trebuchet MS" panose="020B0603020202020204" pitchFamily="34" charset="0"/>
              </a:rPr>
              <a:t>Sistemática de la Literatura </a:t>
            </a:r>
            <a:r>
              <a:rPr lang="en-US" sz="2000" b="1" dirty="0">
                <a:solidFill>
                  <a:srgbClr val="3399FF"/>
                </a:solidFill>
                <a:latin typeface="Trebuchet MS" panose="020B0603020202020204" pitchFamily="34" charset="0"/>
                <a:ea typeface="Times New Roman"/>
                <a:cs typeface="Calibri"/>
              </a:rPr>
              <a:t>(Systematic Literature </a:t>
            </a:r>
            <a:r>
              <a:rPr lang="en-US" sz="2000" b="1" dirty="0" smtClean="0">
                <a:solidFill>
                  <a:srgbClr val="3399FF"/>
                </a:solidFill>
                <a:latin typeface="Trebuchet MS" panose="020B0603020202020204" pitchFamily="34" charset="0"/>
                <a:ea typeface="Times New Roman"/>
                <a:cs typeface="Calibri"/>
              </a:rPr>
              <a:t>Review)</a:t>
            </a:r>
            <a:endParaRPr lang="en-US" sz="2000" b="1" dirty="0">
              <a:solidFill>
                <a:srgbClr val="3399FF"/>
              </a:solidFill>
              <a:latin typeface="Trebuchet MS" panose="020B0603020202020204" pitchFamily="34" charset="0"/>
              <a:ea typeface="Times New Roman"/>
              <a:cs typeface="Calibri"/>
            </a:endParaRPr>
          </a:p>
          <a:p>
            <a:pPr marL="342900" indent="-342900" algn="l">
              <a:buClr>
                <a:srgbClr val="992732"/>
              </a:buClr>
              <a:buSzPct val="140000"/>
              <a:buFont typeface="Arial" panose="020B0604020202020204" pitchFamily="34" charset="0"/>
              <a:buChar char="•"/>
            </a:pPr>
            <a:r>
              <a:rPr lang="es-MX" sz="2000" dirty="0">
                <a:latin typeface="Trebuchet MS" panose="020B0603020202020204" pitchFamily="34" charset="0"/>
              </a:rPr>
              <a:t>Revisión de alcance </a:t>
            </a:r>
            <a:r>
              <a:rPr lang="es-MX" sz="2000" b="1" dirty="0">
                <a:solidFill>
                  <a:srgbClr val="3399FF"/>
                </a:solidFill>
                <a:latin typeface="Trebuchet MS" panose="020B0603020202020204" pitchFamily="34" charset="0"/>
                <a:ea typeface="Times New Roman"/>
                <a:cs typeface="Calibri"/>
              </a:rPr>
              <a:t>(</a:t>
            </a:r>
            <a:r>
              <a:rPr lang="en-US" sz="2000" b="1" dirty="0">
                <a:solidFill>
                  <a:srgbClr val="3399FF"/>
                </a:solidFill>
                <a:latin typeface="Trebuchet MS" panose="020B0603020202020204" pitchFamily="34" charset="0"/>
                <a:ea typeface="Times New Roman"/>
                <a:cs typeface="Calibri"/>
              </a:rPr>
              <a:t>Scoping Review</a:t>
            </a:r>
            <a:r>
              <a:rPr lang="es-MX" sz="2000" b="1" dirty="0">
                <a:solidFill>
                  <a:srgbClr val="3399FF"/>
                </a:solidFill>
                <a:latin typeface="Trebuchet MS" panose="020B0603020202020204" pitchFamily="34" charset="0"/>
                <a:ea typeface="Times New Roman"/>
                <a:cs typeface="Calibri"/>
              </a:rPr>
              <a:t>)</a:t>
            </a:r>
          </a:p>
          <a:p>
            <a:pPr marL="342900" indent="-342900" algn="l">
              <a:buClr>
                <a:srgbClr val="992732"/>
              </a:buClr>
              <a:buSzPct val="140000"/>
              <a:buFont typeface="Arial" panose="020B0604020202020204" pitchFamily="34" charset="0"/>
              <a:buChar char="•"/>
            </a:pPr>
            <a:r>
              <a:rPr lang="en-US" sz="2000" dirty="0" smtClean="0">
                <a:latin typeface="Trebuchet MS" panose="020B0603020202020204" pitchFamily="34" charset="0"/>
              </a:rPr>
              <a:t>Estudio de Mapeo </a:t>
            </a:r>
            <a:r>
              <a:rPr lang="en-US" sz="2000" dirty="0">
                <a:latin typeface="Trebuchet MS" panose="020B0603020202020204" pitchFamily="34" charset="0"/>
              </a:rPr>
              <a:t>Sistemático </a:t>
            </a:r>
            <a:r>
              <a:rPr lang="en-US" sz="2000" b="1" dirty="0">
                <a:solidFill>
                  <a:srgbClr val="3399FF"/>
                </a:solidFill>
                <a:latin typeface="Trebuchet MS" panose="020B0603020202020204" pitchFamily="34" charset="0"/>
                <a:ea typeface="Times New Roman"/>
                <a:cs typeface="Calibri"/>
              </a:rPr>
              <a:t>(Systematic Mapping Study)</a:t>
            </a:r>
          </a:p>
        </p:txBody>
      </p:sp>
      <p:sp>
        <p:nvSpPr>
          <p:cNvPr id="14" name="Title 1"/>
          <p:cNvSpPr txBox="1">
            <a:spLocks/>
          </p:cNvSpPr>
          <p:nvPr/>
        </p:nvSpPr>
        <p:spPr>
          <a:xfrm>
            <a:off x="911424" y="1003473"/>
            <a:ext cx="7848872" cy="40930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_tradnl" sz="2400" b="1" dirty="0" smtClean="0">
                <a:solidFill>
                  <a:srgbClr val="08489E"/>
                </a:solidFill>
                <a:latin typeface="Trebuchet MS" panose="020B0603020202020204" pitchFamily="34" charset="0"/>
              </a:rPr>
              <a:t>Tipos de Revisiones</a:t>
            </a:r>
            <a:endParaRPr lang="en-US" sz="2400" b="1" dirty="0">
              <a:solidFill>
                <a:schemeClr val="tx1">
                  <a:lumMod val="65000"/>
                  <a:lumOff val="35000"/>
                </a:schemeClr>
              </a:solidFill>
              <a:latin typeface="Trebuchet MS" panose="020B0603020202020204" pitchFamily="34" charset="0"/>
            </a:endParaRPr>
          </a:p>
        </p:txBody>
      </p:sp>
      <p:pic>
        <p:nvPicPr>
          <p:cNvPr id="4" name="Imagen 3"/>
          <p:cNvPicPr>
            <a:picLocks noChangeAspect="1"/>
          </p:cNvPicPr>
          <p:nvPr/>
        </p:nvPicPr>
        <p:blipFill>
          <a:blip r:embed="rId5"/>
          <a:stretch>
            <a:fillRect/>
          </a:stretch>
        </p:blipFill>
        <p:spPr>
          <a:xfrm>
            <a:off x="8591945" y="3717032"/>
            <a:ext cx="3050118" cy="226256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1802731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911423" y="1585235"/>
            <a:ext cx="6048673" cy="3286541"/>
          </a:xfrm>
          <a:prstGeom prst="rect">
            <a:avLst/>
          </a:prstGeom>
        </p:spPr>
        <p:txBody>
          <a:bodyPr wrap="square">
            <a:spAutoFit/>
          </a:bodyPr>
          <a:lstStyle/>
          <a:p>
            <a:pPr>
              <a:lnSpc>
                <a:spcPct val="115000"/>
              </a:lnSpc>
              <a:spcAft>
                <a:spcPts val="1000"/>
              </a:spcAft>
            </a:pPr>
            <a:r>
              <a:rPr lang="es-ES" sz="2000" b="1" dirty="0">
                <a:solidFill>
                  <a:srgbClr val="3399FF"/>
                </a:solidFill>
                <a:latin typeface="Trebuchet MS" panose="020B0603020202020204" pitchFamily="34" charset="0"/>
                <a:ea typeface="Times New Roman"/>
                <a:cs typeface="Calibri"/>
              </a:rPr>
              <a:t>Definición</a:t>
            </a:r>
          </a:p>
          <a:p>
            <a:pPr algn="just">
              <a:lnSpc>
                <a:spcPct val="115000"/>
              </a:lnSpc>
              <a:spcAft>
                <a:spcPts val="1000"/>
              </a:spcAft>
            </a:pPr>
            <a:r>
              <a:rPr lang="es-MX" dirty="0" smtClean="0">
                <a:latin typeface="Trebuchet MS" panose="020B0603020202020204" pitchFamily="34" charset="0"/>
                <a:ea typeface="Times New Roman"/>
                <a:cs typeface="Times New Roman"/>
              </a:rPr>
              <a:t>La</a:t>
            </a:r>
            <a:r>
              <a:rPr lang="es-MX" b="1" i="1" dirty="0" smtClean="0">
                <a:solidFill>
                  <a:srgbClr val="3399FF"/>
                </a:solidFill>
                <a:latin typeface="Trebuchet MS" panose="020B0603020202020204" pitchFamily="34" charset="0"/>
                <a:ea typeface="Times New Roman"/>
                <a:cs typeface="Times New Roman"/>
              </a:rPr>
              <a:t> </a:t>
            </a:r>
            <a:r>
              <a:rPr lang="es-MX" b="1" dirty="0" smtClean="0">
                <a:latin typeface="Trebuchet MS" panose="020B0603020202020204" pitchFamily="34" charset="0"/>
                <a:ea typeface="Times New Roman"/>
                <a:cs typeface="Times New Roman"/>
              </a:rPr>
              <a:t>Revisión Sistemática de la Literatura </a:t>
            </a:r>
            <a:r>
              <a:rPr lang="es-MX" dirty="0" smtClean="0">
                <a:latin typeface="Trebuchet MS" panose="020B0603020202020204" pitchFamily="34" charset="0"/>
                <a:ea typeface="Times New Roman"/>
                <a:cs typeface="Times New Roman"/>
              </a:rPr>
              <a:t>es</a:t>
            </a:r>
            <a:r>
              <a:rPr lang="es-MX" b="1" dirty="0" smtClean="0">
                <a:latin typeface="Trebuchet MS" panose="020B0603020202020204" pitchFamily="34" charset="0"/>
                <a:ea typeface="Times New Roman"/>
                <a:cs typeface="Times New Roman"/>
              </a:rPr>
              <a:t> </a:t>
            </a:r>
            <a:r>
              <a:rPr lang="es-ES" dirty="0" smtClean="0">
                <a:latin typeface="Trebuchet MS" panose="020B0603020202020204" pitchFamily="34" charset="0"/>
                <a:ea typeface="Times New Roman"/>
                <a:cs typeface="Times New Roman"/>
              </a:rPr>
              <a:t>una </a:t>
            </a:r>
            <a:r>
              <a:rPr lang="es-ES" dirty="0">
                <a:latin typeface="Trebuchet MS" panose="020B0603020202020204" pitchFamily="34" charset="0"/>
                <a:ea typeface="Times New Roman"/>
                <a:cs typeface="Times New Roman"/>
              </a:rPr>
              <a:t>revisión de la evidencia en una pregunta claramente formulada que utiliza métodos sistemáticos y explícitos para identificar, seleccionar y evaluar críticamente la investigación primaria relevante, y para extraer y analizar datos de los estudios incluidos en la </a:t>
            </a:r>
            <a:r>
              <a:rPr lang="es-ES" dirty="0" smtClean="0">
                <a:latin typeface="Trebuchet MS" panose="020B0603020202020204" pitchFamily="34" charset="0"/>
                <a:ea typeface="Times New Roman"/>
                <a:cs typeface="Times New Roman"/>
              </a:rPr>
              <a:t>revisión. </a:t>
            </a:r>
            <a:r>
              <a:rPr lang="es-MX" b="1" dirty="0" smtClean="0">
                <a:latin typeface="Trebuchet MS" panose="020B0603020202020204" pitchFamily="34" charset="0"/>
              </a:rPr>
              <a:t>Brereton </a:t>
            </a:r>
            <a:r>
              <a:rPr lang="es-MX" b="1" dirty="0">
                <a:latin typeface="Trebuchet MS" panose="020B0603020202020204" pitchFamily="34" charset="0"/>
              </a:rPr>
              <a:t>et al. (</a:t>
            </a:r>
            <a:r>
              <a:rPr lang="es-MX" b="1" dirty="0" smtClean="0">
                <a:latin typeface="Trebuchet MS" panose="020B0603020202020204" pitchFamily="34" charset="0"/>
              </a:rPr>
              <a:t>2007)¹.</a:t>
            </a:r>
          </a:p>
          <a:p>
            <a:pPr algn="just">
              <a:lnSpc>
                <a:spcPct val="115000"/>
              </a:lnSpc>
              <a:spcAft>
                <a:spcPts val="1000"/>
              </a:spcAft>
            </a:pPr>
            <a:endParaRPr lang="es-MX" sz="2000" b="1" dirty="0">
              <a:latin typeface="Trebuchet MS" panose="020B0603020202020204" pitchFamily="34" charset="0"/>
            </a:endParaRPr>
          </a:p>
        </p:txBody>
      </p:sp>
      <p:sp>
        <p:nvSpPr>
          <p:cNvPr id="5" name="Rectángulo 4"/>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pic>
        <p:nvPicPr>
          <p:cNvPr id="6" name="Imagen 5"/>
          <p:cNvPicPr/>
          <p:nvPr/>
        </p:nvPicPr>
        <p:blipFill rotWithShape="1">
          <a:blip r:embed="rId3">
            <a:extLst>
              <a:ext uri="{28A0092B-C50C-407E-A947-70E740481C1C}">
                <a14:useLocalDpi xmlns:a14="http://schemas.microsoft.com/office/drawing/2010/main" val="0"/>
              </a:ext>
            </a:extLst>
          </a:blip>
          <a:srcRect t="1" r="32064" b="-10136"/>
          <a:stretch/>
        </p:blipFill>
        <p:spPr bwMode="auto">
          <a:xfrm>
            <a:off x="110789" y="112160"/>
            <a:ext cx="3410075" cy="757457"/>
          </a:xfrm>
          <a:prstGeom prst="rect">
            <a:avLst/>
          </a:prstGeom>
          <a:noFill/>
          <a:ln>
            <a:noFill/>
          </a:ln>
          <a:extLst>
            <a:ext uri="{53640926-AAD7-44D8-BBD7-CCE9431645EC}">
              <a14:shadowObscured xmlns:a14="http://schemas.microsoft.com/office/drawing/2010/main"/>
            </a:ext>
          </a:extLst>
        </p:spPr>
      </p:pic>
      <p:pic>
        <p:nvPicPr>
          <p:cNvPr id="7" name="Imagen 6" descr="Resultado de imagen para instituto tecnologico de orizaba logo"/>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251537" y="77977"/>
            <a:ext cx="779082" cy="805180"/>
          </a:xfrm>
          <a:prstGeom prst="rect">
            <a:avLst/>
          </a:prstGeom>
          <a:noFill/>
          <a:ln>
            <a:noFill/>
          </a:ln>
        </p:spPr>
      </p:pic>
      <p:pic>
        <p:nvPicPr>
          <p:cNvPr id="8" name="Imagen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74675" y="125347"/>
            <a:ext cx="1619264" cy="740391"/>
          </a:xfrm>
          <a:prstGeom prst="rect">
            <a:avLst/>
          </a:prstGeom>
        </p:spPr>
      </p:pic>
      <p:sp>
        <p:nvSpPr>
          <p:cNvPr id="9" name="Rectángulo 8"/>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10" name="Title 1"/>
          <p:cNvSpPr txBox="1">
            <a:spLocks/>
          </p:cNvSpPr>
          <p:nvPr/>
        </p:nvSpPr>
        <p:spPr>
          <a:xfrm>
            <a:off x="911424" y="1003473"/>
            <a:ext cx="9289032" cy="40930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solidFill>
                  <a:srgbClr val="08489E"/>
                </a:solidFill>
                <a:latin typeface="Trebuchet MS" panose="020B0603020202020204" pitchFamily="34" charset="0"/>
              </a:rPr>
              <a:t>Revisión </a:t>
            </a:r>
            <a:r>
              <a:rPr lang="en-US" sz="2400" b="1" dirty="0">
                <a:solidFill>
                  <a:srgbClr val="08489E"/>
                </a:solidFill>
                <a:latin typeface="Trebuchet MS" panose="020B0603020202020204" pitchFamily="34" charset="0"/>
              </a:rPr>
              <a:t>Sistemática de la Literatura </a:t>
            </a:r>
            <a:r>
              <a:rPr lang="en-US" sz="2400" b="1" dirty="0" smtClean="0">
                <a:solidFill>
                  <a:srgbClr val="08489E"/>
                </a:solidFill>
                <a:latin typeface="Trebuchet MS" panose="020B0603020202020204" pitchFamily="34" charset="0"/>
              </a:rPr>
              <a:t>1/5</a:t>
            </a:r>
            <a:endParaRPr lang="en-US" sz="2400" b="1" dirty="0">
              <a:solidFill>
                <a:srgbClr val="08489E"/>
              </a:solidFill>
              <a:latin typeface="Trebuchet MS" panose="020B0603020202020204" pitchFamily="34" charset="0"/>
            </a:endParaRPr>
          </a:p>
        </p:txBody>
      </p:sp>
      <p:sp>
        <p:nvSpPr>
          <p:cNvPr id="11" name="Marcador de pie de página 1"/>
          <p:cNvSpPr>
            <a:spLocks noGrp="1"/>
          </p:cNvSpPr>
          <p:nvPr>
            <p:ph type="ftr" sz="quarter" idx="11"/>
          </p:nvPr>
        </p:nvSpPr>
        <p:spPr>
          <a:xfrm>
            <a:off x="911423" y="5733256"/>
            <a:ext cx="10282516" cy="576064"/>
          </a:xfrm>
        </p:spPr>
        <p:txBody>
          <a:bodyPr/>
          <a:lstStyle/>
          <a:p>
            <a:pPr algn="just"/>
            <a:endParaRPr lang="en-US" b="1" dirty="0">
              <a:solidFill>
                <a:schemeClr val="tx1"/>
              </a:solidFill>
            </a:endParaRPr>
          </a:p>
          <a:p>
            <a:pPr algn="just"/>
            <a:endParaRPr lang="en-US" b="1" dirty="0" smtClean="0">
              <a:solidFill>
                <a:schemeClr val="tx1"/>
              </a:solidFill>
            </a:endParaRPr>
          </a:p>
          <a:p>
            <a:pPr algn="just"/>
            <a:endParaRPr lang="en-US" b="1" dirty="0" smtClean="0">
              <a:solidFill>
                <a:schemeClr val="tx1"/>
              </a:solidFill>
            </a:endParaRPr>
          </a:p>
          <a:p>
            <a:pPr algn="just"/>
            <a:r>
              <a:rPr lang="en-US" sz="1100" b="1" dirty="0" smtClean="0">
                <a:solidFill>
                  <a:schemeClr val="tx1"/>
                </a:solidFill>
                <a:latin typeface="Arial" panose="020B0604020202020204" pitchFamily="34" charset="0"/>
                <a:cs typeface="Arial" panose="020B0604020202020204" pitchFamily="34" charset="0"/>
              </a:rPr>
              <a:t>1. </a:t>
            </a:r>
            <a:r>
              <a:rPr lang="es-MX" sz="1100" b="1" dirty="0" smtClean="0">
                <a:solidFill>
                  <a:schemeClr val="tx1"/>
                </a:solidFill>
                <a:latin typeface="Arial" panose="020B0604020202020204" pitchFamily="34" charset="0"/>
                <a:cs typeface="Arial" panose="020B0604020202020204" pitchFamily="34" charset="0"/>
              </a:rPr>
              <a:t>Pearl </a:t>
            </a:r>
            <a:r>
              <a:rPr lang="es-MX" sz="1100" b="1" dirty="0">
                <a:solidFill>
                  <a:schemeClr val="tx1"/>
                </a:solidFill>
                <a:latin typeface="Arial" panose="020B0604020202020204" pitchFamily="34" charset="0"/>
                <a:cs typeface="Arial" panose="020B0604020202020204" pitchFamily="34" charset="0"/>
              </a:rPr>
              <a:t>Brereton, Barbara A. Kitchenham, David Budgen, Mark Turner, Mohamed Khalil. (2007). Lessons from applying the systematic literature review process within the software engineering domain, Journal of Systems and Software, Volume 80, Issue 4, Pages 571-583, ISSN 0164-1212, </a:t>
            </a:r>
            <a:r>
              <a:rPr lang="es-MX" sz="1100" b="1" dirty="0">
                <a:solidFill>
                  <a:schemeClr val="tx1"/>
                </a:solidFill>
                <a:latin typeface="Arial" panose="020B0604020202020204" pitchFamily="34" charset="0"/>
                <a:cs typeface="Arial" panose="020B0604020202020204" pitchFamily="34" charset="0"/>
                <a:hlinkClick r:id="rId6"/>
              </a:rPr>
              <a:t>https://doi.org/10.1016/j.jss.2006.07.009</a:t>
            </a:r>
            <a:endParaRPr lang="es-MX" sz="1100" b="1" dirty="0">
              <a:solidFill>
                <a:schemeClr val="tx1"/>
              </a:solidFill>
              <a:latin typeface="Arial" panose="020B0604020202020204" pitchFamily="34" charset="0"/>
              <a:cs typeface="Arial" panose="020B0604020202020204" pitchFamily="34" charset="0"/>
            </a:endParaRPr>
          </a:p>
          <a:p>
            <a:pPr algn="just"/>
            <a:endParaRPr lang="en-US" b="1" dirty="0">
              <a:solidFill>
                <a:schemeClr val="tx1"/>
              </a:solidFill>
            </a:endParaRPr>
          </a:p>
          <a:p>
            <a:pPr algn="just"/>
            <a:endParaRPr lang="en-US" b="1" dirty="0" smtClean="0">
              <a:solidFill>
                <a:schemeClr val="tx1"/>
              </a:solidFill>
            </a:endParaRPr>
          </a:p>
          <a:p>
            <a:pPr algn="just"/>
            <a:endParaRPr lang="es-MX" dirty="0">
              <a:solidFill>
                <a:schemeClr val="tx1"/>
              </a:solidFill>
            </a:endParaRPr>
          </a:p>
        </p:txBody>
      </p:sp>
      <p:pic>
        <p:nvPicPr>
          <p:cNvPr id="12" name="Imagen 1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536160" y="2124131"/>
            <a:ext cx="3500646" cy="228673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09623993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pic>
        <p:nvPicPr>
          <p:cNvPr id="6" name="Imagen 5"/>
          <p:cNvPicPr/>
          <p:nvPr/>
        </p:nvPicPr>
        <p:blipFill rotWithShape="1">
          <a:blip r:embed="rId3">
            <a:extLst>
              <a:ext uri="{28A0092B-C50C-407E-A947-70E740481C1C}">
                <a14:useLocalDpi xmlns:a14="http://schemas.microsoft.com/office/drawing/2010/main" val="0"/>
              </a:ext>
            </a:extLst>
          </a:blip>
          <a:srcRect t="1" r="32064" b="-10136"/>
          <a:stretch/>
        </p:blipFill>
        <p:spPr bwMode="auto">
          <a:xfrm>
            <a:off x="110789" y="112160"/>
            <a:ext cx="3410075" cy="757457"/>
          </a:xfrm>
          <a:prstGeom prst="rect">
            <a:avLst/>
          </a:prstGeom>
          <a:noFill/>
          <a:ln>
            <a:noFill/>
          </a:ln>
          <a:extLst>
            <a:ext uri="{53640926-AAD7-44D8-BBD7-CCE9431645EC}">
              <a14:shadowObscured xmlns:a14="http://schemas.microsoft.com/office/drawing/2010/main"/>
            </a:ext>
          </a:extLst>
        </p:spPr>
      </p:pic>
      <p:pic>
        <p:nvPicPr>
          <p:cNvPr id="7" name="Imagen 6" descr="Resultado de imagen para instituto tecnologico de orizaba logo"/>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251537" y="77977"/>
            <a:ext cx="779082" cy="805180"/>
          </a:xfrm>
          <a:prstGeom prst="rect">
            <a:avLst/>
          </a:prstGeom>
          <a:noFill/>
          <a:ln>
            <a:noFill/>
          </a:ln>
        </p:spPr>
      </p:pic>
      <p:pic>
        <p:nvPicPr>
          <p:cNvPr id="8" name="Imagen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74675" y="125347"/>
            <a:ext cx="1619264" cy="740391"/>
          </a:xfrm>
          <a:prstGeom prst="rect">
            <a:avLst/>
          </a:prstGeom>
        </p:spPr>
      </p:pic>
      <p:sp>
        <p:nvSpPr>
          <p:cNvPr id="9" name="Rectángulo 8"/>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11" name="3 Rectángulo"/>
          <p:cNvSpPr/>
          <p:nvPr/>
        </p:nvSpPr>
        <p:spPr>
          <a:xfrm>
            <a:off x="911423" y="1412776"/>
            <a:ext cx="10340113" cy="5022914"/>
          </a:xfrm>
          <a:prstGeom prst="rect">
            <a:avLst/>
          </a:prstGeom>
        </p:spPr>
        <p:txBody>
          <a:bodyPr wrap="square">
            <a:spAutoFit/>
          </a:bodyPr>
          <a:lstStyle/>
          <a:p>
            <a:pPr>
              <a:lnSpc>
                <a:spcPct val="115000"/>
              </a:lnSpc>
              <a:spcAft>
                <a:spcPts val="1000"/>
              </a:spcAft>
            </a:pPr>
            <a:r>
              <a:rPr lang="es-ES" sz="2000" b="1" dirty="0" smtClean="0">
                <a:solidFill>
                  <a:srgbClr val="3399FF"/>
                </a:solidFill>
                <a:latin typeface="Trebuchet MS" panose="020B0603020202020204" pitchFamily="34" charset="0"/>
                <a:ea typeface="Times New Roman"/>
                <a:cs typeface="Calibri"/>
              </a:rPr>
              <a:t>Marco metodológico propuesto por Brereton et al. (2007)</a:t>
            </a:r>
            <a:r>
              <a:rPr lang="es-MX" b="1" dirty="0" smtClean="0">
                <a:latin typeface="Trebuchet MS" panose="020B0603020202020204" pitchFamily="34" charset="0"/>
              </a:rPr>
              <a:t>¹</a:t>
            </a:r>
            <a:r>
              <a:rPr lang="es-ES" b="1" dirty="0" smtClean="0">
                <a:solidFill>
                  <a:srgbClr val="3399FF"/>
                </a:solidFill>
                <a:latin typeface="Trebuchet MS" panose="020B0603020202020204" pitchFamily="34" charset="0"/>
                <a:cs typeface="Calibri"/>
              </a:rPr>
              <a:t> </a:t>
            </a:r>
          </a:p>
          <a:p>
            <a:pPr>
              <a:lnSpc>
                <a:spcPct val="115000"/>
              </a:lnSpc>
              <a:spcAft>
                <a:spcPts val="1000"/>
              </a:spcAft>
            </a:pPr>
            <a:r>
              <a:rPr lang="es-ES" sz="1600" b="1" dirty="0" smtClean="0">
                <a:solidFill>
                  <a:srgbClr val="A50021"/>
                </a:solidFill>
                <a:latin typeface="Trebuchet MS" panose="020B0603020202020204" pitchFamily="34" charset="0"/>
                <a:ea typeface="Times New Roman"/>
                <a:cs typeface="Calibri"/>
              </a:rPr>
              <a:t>[1569 citas hasta Junio 2020]</a:t>
            </a:r>
            <a:endParaRPr lang="es-ES" sz="1600" b="1" dirty="0">
              <a:solidFill>
                <a:srgbClr val="A50021"/>
              </a:solidFill>
              <a:latin typeface="Trebuchet MS" panose="020B0603020202020204" pitchFamily="34" charset="0"/>
              <a:ea typeface="Times New Roman"/>
              <a:cs typeface="Calibri"/>
            </a:endParaRPr>
          </a:p>
          <a:p>
            <a:pPr marL="342900" indent="-342900">
              <a:buClr>
                <a:srgbClr val="3399FF"/>
              </a:buClr>
              <a:buFont typeface="+mj-lt"/>
              <a:buAutoNum type="arabicPeriod"/>
            </a:pPr>
            <a:r>
              <a:rPr lang="es-MX" sz="1600" dirty="0" smtClean="0">
                <a:latin typeface="Trebuchet MS" panose="020B0603020202020204" pitchFamily="34" charset="0"/>
                <a:ea typeface="Times New Roman"/>
                <a:cs typeface="Calibri"/>
              </a:rPr>
              <a:t>Planificar la revisión</a:t>
            </a:r>
            <a:endParaRPr lang="es-MX" sz="1600" dirty="0">
              <a:latin typeface="Trebuchet MS" panose="020B0603020202020204" pitchFamily="34" charset="0"/>
              <a:ea typeface="Times New Roman"/>
              <a:cs typeface="Calibri"/>
            </a:endParaRPr>
          </a:p>
          <a:p>
            <a:pPr marL="800100" lvl="1" indent="-342900">
              <a:buClr>
                <a:srgbClr val="3399FF"/>
              </a:buClr>
              <a:buFont typeface="+mj-lt"/>
              <a:buAutoNum type="alphaLcParenR"/>
            </a:pPr>
            <a:r>
              <a:rPr lang="es-MX" sz="1600" dirty="0">
                <a:latin typeface="Trebuchet MS" panose="020B0603020202020204" pitchFamily="34" charset="0"/>
                <a:ea typeface="Times New Roman"/>
                <a:cs typeface="Calibri"/>
              </a:rPr>
              <a:t>especificar </a:t>
            </a:r>
            <a:r>
              <a:rPr lang="es-MX" sz="1600" dirty="0" smtClean="0">
                <a:latin typeface="Trebuchet MS" panose="020B0603020202020204" pitchFamily="34" charset="0"/>
                <a:ea typeface="Times New Roman"/>
                <a:cs typeface="Calibri"/>
              </a:rPr>
              <a:t>las </a:t>
            </a:r>
            <a:r>
              <a:rPr lang="es-MX" sz="1600" dirty="0">
                <a:latin typeface="Trebuchet MS" panose="020B0603020202020204" pitchFamily="34" charset="0"/>
                <a:ea typeface="Times New Roman"/>
                <a:cs typeface="Calibri"/>
              </a:rPr>
              <a:t>preguntas de investigación</a:t>
            </a:r>
          </a:p>
          <a:p>
            <a:pPr marL="800100" lvl="1" indent="-342900">
              <a:buClr>
                <a:srgbClr val="3399FF"/>
              </a:buClr>
              <a:buFont typeface="+mj-lt"/>
              <a:buAutoNum type="alphaLcParenR"/>
            </a:pPr>
            <a:r>
              <a:rPr lang="es-MX" sz="1600" dirty="0">
                <a:latin typeface="Trebuchet MS" panose="020B0603020202020204" pitchFamily="34" charset="0"/>
                <a:ea typeface="Times New Roman"/>
                <a:cs typeface="Calibri"/>
              </a:rPr>
              <a:t>desarrollar el protocolo de revisión</a:t>
            </a:r>
          </a:p>
          <a:p>
            <a:pPr marL="800100" lvl="1" indent="-342900">
              <a:buClr>
                <a:srgbClr val="3399FF"/>
              </a:buClr>
              <a:buFont typeface="+mj-lt"/>
              <a:buAutoNum type="alphaLcParenR"/>
            </a:pPr>
            <a:r>
              <a:rPr lang="es-MX" sz="1600" dirty="0">
                <a:latin typeface="Trebuchet MS" panose="020B0603020202020204" pitchFamily="34" charset="0"/>
                <a:ea typeface="Times New Roman"/>
                <a:cs typeface="Calibri"/>
              </a:rPr>
              <a:t>validar el protocolo de revisión</a:t>
            </a:r>
          </a:p>
          <a:p>
            <a:pPr marL="342900" indent="-342900">
              <a:buClr>
                <a:srgbClr val="3399FF"/>
              </a:buClr>
              <a:buFont typeface="+mj-lt"/>
              <a:buAutoNum type="arabicPeriod"/>
            </a:pPr>
            <a:r>
              <a:rPr lang="es-MX" sz="1600" dirty="0" smtClean="0">
                <a:latin typeface="Trebuchet MS" panose="020B0603020202020204" pitchFamily="34" charset="0"/>
                <a:ea typeface="Times New Roman"/>
                <a:cs typeface="Calibri"/>
              </a:rPr>
              <a:t>Guiar la revisión</a:t>
            </a:r>
            <a:endParaRPr lang="es-MX" sz="1600" dirty="0">
              <a:latin typeface="Trebuchet MS" panose="020B0603020202020204" pitchFamily="34" charset="0"/>
              <a:ea typeface="Times New Roman"/>
              <a:cs typeface="Calibri"/>
            </a:endParaRPr>
          </a:p>
          <a:p>
            <a:pPr marL="800100" lvl="1" indent="-342900">
              <a:buClr>
                <a:srgbClr val="3399FF"/>
              </a:buClr>
              <a:buFont typeface="+mj-lt"/>
              <a:buAutoNum type="alphaLcParenR"/>
            </a:pPr>
            <a:r>
              <a:rPr lang="es-MX" sz="1600" dirty="0">
                <a:latin typeface="Trebuchet MS" panose="020B0603020202020204" pitchFamily="34" charset="0"/>
                <a:ea typeface="Times New Roman"/>
                <a:cs typeface="Calibri"/>
              </a:rPr>
              <a:t>identificar </a:t>
            </a:r>
            <a:r>
              <a:rPr lang="es-MX" sz="1600" dirty="0" smtClean="0">
                <a:latin typeface="Trebuchet MS" panose="020B0603020202020204" pitchFamily="34" charset="0"/>
                <a:ea typeface="Times New Roman"/>
                <a:cs typeface="Calibri"/>
              </a:rPr>
              <a:t>los estudios relevantes</a:t>
            </a:r>
          </a:p>
          <a:p>
            <a:pPr marL="800100" lvl="1" indent="-342900">
              <a:buClr>
                <a:srgbClr val="3399FF"/>
              </a:buClr>
              <a:buFont typeface="+mj-lt"/>
              <a:buAutoNum type="alphaLcParenR"/>
            </a:pPr>
            <a:r>
              <a:rPr lang="es-MX" sz="1600" dirty="0" smtClean="0">
                <a:latin typeface="Trebuchet MS" panose="020B0603020202020204" pitchFamily="34" charset="0"/>
                <a:ea typeface="Times New Roman"/>
                <a:cs typeface="Calibri"/>
              </a:rPr>
              <a:t>seleccionar </a:t>
            </a:r>
            <a:r>
              <a:rPr lang="es-MX" sz="1600" dirty="0">
                <a:latin typeface="Trebuchet MS" panose="020B0603020202020204" pitchFamily="34" charset="0"/>
                <a:ea typeface="Times New Roman"/>
                <a:cs typeface="Calibri"/>
              </a:rPr>
              <a:t>los estudios primarios</a:t>
            </a:r>
          </a:p>
          <a:p>
            <a:pPr marL="800100" lvl="1" indent="-342900">
              <a:buClr>
                <a:srgbClr val="3399FF"/>
              </a:buClr>
              <a:buFont typeface="+mj-lt"/>
              <a:buAutoNum type="alphaLcParenR"/>
            </a:pPr>
            <a:r>
              <a:rPr lang="es-MX" sz="1600" dirty="0">
                <a:latin typeface="Trebuchet MS" panose="020B0603020202020204" pitchFamily="34" charset="0"/>
                <a:ea typeface="Times New Roman"/>
                <a:cs typeface="Calibri"/>
              </a:rPr>
              <a:t>evaluar la calidad del estudio</a:t>
            </a:r>
          </a:p>
          <a:p>
            <a:pPr marL="800100" lvl="1" indent="-342900">
              <a:buClr>
                <a:srgbClr val="3399FF"/>
              </a:buClr>
              <a:buFont typeface="+mj-lt"/>
              <a:buAutoNum type="alphaLcParenR"/>
            </a:pPr>
            <a:r>
              <a:rPr lang="es-MX" sz="1600" dirty="0">
                <a:latin typeface="Trebuchet MS" panose="020B0603020202020204" pitchFamily="34" charset="0"/>
                <a:ea typeface="Times New Roman"/>
                <a:cs typeface="Calibri"/>
              </a:rPr>
              <a:t>extraer los datos </a:t>
            </a:r>
            <a:r>
              <a:rPr lang="es-MX" sz="1600" dirty="0" smtClean="0">
                <a:latin typeface="Trebuchet MS" panose="020B0603020202020204" pitchFamily="34" charset="0"/>
                <a:ea typeface="Times New Roman"/>
                <a:cs typeface="Calibri"/>
              </a:rPr>
              <a:t>requeridos</a:t>
            </a:r>
            <a:endParaRPr lang="es-MX" sz="1600" dirty="0">
              <a:latin typeface="Trebuchet MS" panose="020B0603020202020204" pitchFamily="34" charset="0"/>
              <a:ea typeface="Times New Roman"/>
              <a:cs typeface="Calibri"/>
            </a:endParaRPr>
          </a:p>
          <a:p>
            <a:pPr marL="800100" lvl="1" indent="-342900">
              <a:buClr>
                <a:srgbClr val="3399FF"/>
              </a:buClr>
              <a:buFont typeface="+mj-lt"/>
              <a:buAutoNum type="alphaLcParenR"/>
            </a:pPr>
            <a:r>
              <a:rPr lang="es-MX" sz="1600" dirty="0">
                <a:latin typeface="Trebuchet MS" panose="020B0603020202020204" pitchFamily="34" charset="0"/>
                <a:ea typeface="Times New Roman"/>
                <a:cs typeface="Calibri"/>
              </a:rPr>
              <a:t>sintetizar los datos</a:t>
            </a:r>
          </a:p>
          <a:p>
            <a:pPr marL="342900" indent="-342900">
              <a:buClr>
                <a:srgbClr val="3399FF"/>
              </a:buClr>
              <a:buFont typeface="+mj-lt"/>
              <a:buAutoNum type="arabicPeriod"/>
            </a:pPr>
            <a:r>
              <a:rPr lang="es-MX" sz="1600" dirty="0" smtClean="0">
                <a:latin typeface="Trebuchet MS" panose="020B0603020202020204" pitchFamily="34" charset="0"/>
                <a:ea typeface="Times New Roman"/>
                <a:cs typeface="Calibri"/>
              </a:rPr>
              <a:t>Documentar la revisión</a:t>
            </a:r>
            <a:endParaRPr lang="es-MX" sz="1600" dirty="0">
              <a:latin typeface="Trebuchet MS" panose="020B0603020202020204" pitchFamily="34" charset="0"/>
              <a:ea typeface="Times New Roman"/>
              <a:cs typeface="Calibri"/>
            </a:endParaRPr>
          </a:p>
          <a:p>
            <a:pPr marL="800100" lvl="1" indent="-342900">
              <a:buClr>
                <a:srgbClr val="3399FF"/>
              </a:buClr>
              <a:buFont typeface="+mj-lt"/>
              <a:buAutoNum type="alphaLcParenR"/>
            </a:pPr>
            <a:r>
              <a:rPr lang="es-MX" sz="1600" dirty="0">
                <a:latin typeface="Trebuchet MS" panose="020B0603020202020204" pitchFamily="34" charset="0"/>
                <a:ea typeface="Times New Roman"/>
                <a:cs typeface="Calibri"/>
              </a:rPr>
              <a:t>escribir el </a:t>
            </a:r>
            <a:r>
              <a:rPr lang="es-MX" sz="1600" dirty="0" smtClean="0">
                <a:latin typeface="Trebuchet MS" panose="020B0603020202020204" pitchFamily="34" charset="0"/>
                <a:ea typeface="Times New Roman"/>
                <a:cs typeface="Calibri"/>
              </a:rPr>
              <a:t>informe </a:t>
            </a:r>
            <a:r>
              <a:rPr lang="es-MX" sz="1600" dirty="0">
                <a:latin typeface="Trebuchet MS" panose="020B0603020202020204" pitchFamily="34" charset="0"/>
                <a:ea typeface="Times New Roman"/>
                <a:cs typeface="Calibri"/>
              </a:rPr>
              <a:t>de la revisión</a:t>
            </a:r>
          </a:p>
          <a:p>
            <a:pPr marL="800100" lvl="1" indent="-342900">
              <a:buClr>
                <a:srgbClr val="3399FF"/>
              </a:buClr>
              <a:buFont typeface="+mj-lt"/>
              <a:buAutoNum type="alphaLcParenR"/>
            </a:pPr>
            <a:r>
              <a:rPr lang="es-MX" sz="1600" dirty="0">
                <a:latin typeface="Trebuchet MS" panose="020B0603020202020204" pitchFamily="34" charset="0"/>
                <a:ea typeface="Times New Roman"/>
                <a:cs typeface="Calibri"/>
              </a:rPr>
              <a:t>validar el </a:t>
            </a:r>
            <a:r>
              <a:rPr lang="es-MX" sz="1600" dirty="0" smtClean="0">
                <a:latin typeface="Trebuchet MS" panose="020B0603020202020204" pitchFamily="34" charset="0"/>
                <a:ea typeface="Times New Roman"/>
                <a:cs typeface="Calibri"/>
              </a:rPr>
              <a:t>informe</a:t>
            </a:r>
            <a:endParaRPr lang="es-MX" sz="1600" dirty="0">
              <a:latin typeface="Trebuchet MS" panose="020B0603020202020204" pitchFamily="34" charset="0"/>
              <a:ea typeface="Times New Roman"/>
              <a:cs typeface="Calibri"/>
            </a:endParaRPr>
          </a:p>
          <a:p>
            <a:pPr>
              <a:lnSpc>
                <a:spcPct val="115000"/>
              </a:lnSpc>
              <a:spcAft>
                <a:spcPts val="1000"/>
              </a:spcAft>
            </a:pPr>
            <a:endParaRPr lang="es-ES" sz="2000" b="1" dirty="0" smtClean="0">
              <a:solidFill>
                <a:srgbClr val="3399FF"/>
              </a:solidFill>
              <a:latin typeface="Trebuchet MS" panose="020B0603020202020204" pitchFamily="34" charset="0"/>
              <a:ea typeface="Times New Roman"/>
              <a:cs typeface="Calibri"/>
            </a:endParaRPr>
          </a:p>
          <a:p>
            <a:pPr>
              <a:lnSpc>
                <a:spcPct val="115000"/>
              </a:lnSpc>
              <a:spcAft>
                <a:spcPts val="1000"/>
              </a:spcAft>
            </a:pPr>
            <a:endParaRPr lang="es-ES" sz="2000" b="1" dirty="0" smtClean="0">
              <a:solidFill>
                <a:srgbClr val="3399FF"/>
              </a:solidFill>
              <a:latin typeface="Trebuchet MS" panose="020B0603020202020204" pitchFamily="34" charset="0"/>
              <a:ea typeface="Times New Roman"/>
              <a:cs typeface="Calibri"/>
            </a:endParaRPr>
          </a:p>
        </p:txBody>
      </p:sp>
      <p:sp>
        <p:nvSpPr>
          <p:cNvPr id="12" name="Title 1"/>
          <p:cNvSpPr txBox="1">
            <a:spLocks/>
          </p:cNvSpPr>
          <p:nvPr/>
        </p:nvSpPr>
        <p:spPr>
          <a:xfrm>
            <a:off x="911424" y="1003473"/>
            <a:ext cx="9289032" cy="40930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solidFill>
                  <a:srgbClr val="08489E"/>
                </a:solidFill>
                <a:latin typeface="Trebuchet MS" panose="020B0603020202020204" pitchFamily="34" charset="0"/>
              </a:rPr>
              <a:t>Revisión </a:t>
            </a:r>
            <a:r>
              <a:rPr lang="en-US" sz="2400" b="1" dirty="0">
                <a:solidFill>
                  <a:srgbClr val="08489E"/>
                </a:solidFill>
                <a:latin typeface="Trebuchet MS" panose="020B0603020202020204" pitchFamily="34" charset="0"/>
              </a:rPr>
              <a:t>Sistemática de la </a:t>
            </a:r>
            <a:r>
              <a:rPr lang="en-US" sz="2400" b="1" dirty="0" smtClean="0">
                <a:solidFill>
                  <a:srgbClr val="08489E"/>
                </a:solidFill>
                <a:latin typeface="Trebuchet MS" panose="020B0603020202020204" pitchFamily="34" charset="0"/>
              </a:rPr>
              <a:t>Literatura 2/5 </a:t>
            </a:r>
            <a:endParaRPr lang="en-US" sz="2400" b="1" dirty="0">
              <a:solidFill>
                <a:srgbClr val="08489E"/>
              </a:solidFill>
              <a:latin typeface="Trebuchet MS" panose="020B0603020202020204" pitchFamily="34" charset="0"/>
            </a:endParaRPr>
          </a:p>
        </p:txBody>
      </p:sp>
      <p:sp>
        <p:nvSpPr>
          <p:cNvPr id="10" name="Marcador de pie de página 1"/>
          <p:cNvSpPr>
            <a:spLocks noGrp="1"/>
          </p:cNvSpPr>
          <p:nvPr>
            <p:ph type="ftr" sz="quarter" idx="11"/>
          </p:nvPr>
        </p:nvSpPr>
        <p:spPr>
          <a:xfrm>
            <a:off x="911423" y="5733256"/>
            <a:ext cx="10282516" cy="576064"/>
          </a:xfrm>
        </p:spPr>
        <p:txBody>
          <a:bodyPr/>
          <a:lstStyle/>
          <a:p>
            <a:pPr algn="just"/>
            <a:endParaRPr lang="en-US" b="1" dirty="0">
              <a:solidFill>
                <a:schemeClr val="tx1"/>
              </a:solidFill>
            </a:endParaRPr>
          </a:p>
          <a:p>
            <a:pPr algn="just"/>
            <a:endParaRPr lang="en-US" b="1" dirty="0" smtClean="0">
              <a:solidFill>
                <a:schemeClr val="tx1"/>
              </a:solidFill>
            </a:endParaRPr>
          </a:p>
          <a:p>
            <a:pPr algn="just"/>
            <a:endParaRPr lang="en-US" b="1" dirty="0" smtClean="0">
              <a:solidFill>
                <a:schemeClr val="tx1"/>
              </a:solidFill>
            </a:endParaRPr>
          </a:p>
          <a:p>
            <a:pPr algn="just"/>
            <a:r>
              <a:rPr lang="en-US" sz="1100" b="1" dirty="0" smtClean="0">
                <a:solidFill>
                  <a:schemeClr val="tx1"/>
                </a:solidFill>
                <a:latin typeface="Arial" panose="020B0604020202020204" pitchFamily="34" charset="0"/>
                <a:cs typeface="Arial" panose="020B0604020202020204" pitchFamily="34" charset="0"/>
              </a:rPr>
              <a:t>1. </a:t>
            </a:r>
            <a:r>
              <a:rPr lang="es-MX" sz="1100" b="1" dirty="0" smtClean="0">
                <a:solidFill>
                  <a:schemeClr val="tx1"/>
                </a:solidFill>
                <a:latin typeface="Arial" panose="020B0604020202020204" pitchFamily="34" charset="0"/>
                <a:cs typeface="Arial" panose="020B0604020202020204" pitchFamily="34" charset="0"/>
              </a:rPr>
              <a:t>Pearl </a:t>
            </a:r>
            <a:r>
              <a:rPr lang="es-MX" sz="1100" b="1" dirty="0">
                <a:solidFill>
                  <a:schemeClr val="tx1"/>
                </a:solidFill>
                <a:latin typeface="Arial" panose="020B0604020202020204" pitchFamily="34" charset="0"/>
                <a:cs typeface="Arial" panose="020B0604020202020204" pitchFamily="34" charset="0"/>
              </a:rPr>
              <a:t>Brereton, Barbara A. Kitchenham, David Budgen, Mark Turner, Mohamed Khalil. (2007). Lessons from applying the systematic literature review process within the software engineering domain, Journal of Systems and Software, Volume 80, Issue 4, Pages 571-583, ISSN 0164-1212, </a:t>
            </a:r>
            <a:r>
              <a:rPr lang="es-MX" sz="1100" b="1" dirty="0">
                <a:solidFill>
                  <a:schemeClr val="tx1"/>
                </a:solidFill>
                <a:latin typeface="Arial" panose="020B0604020202020204" pitchFamily="34" charset="0"/>
                <a:cs typeface="Arial" panose="020B0604020202020204" pitchFamily="34" charset="0"/>
                <a:hlinkClick r:id="rId6"/>
              </a:rPr>
              <a:t>https://doi.org/10.1016/j.jss.2006.07.009</a:t>
            </a:r>
            <a:endParaRPr lang="es-MX" sz="1100" b="1" dirty="0">
              <a:solidFill>
                <a:schemeClr val="tx1"/>
              </a:solidFill>
              <a:latin typeface="Arial" panose="020B0604020202020204" pitchFamily="34" charset="0"/>
              <a:cs typeface="Arial" panose="020B0604020202020204" pitchFamily="34" charset="0"/>
            </a:endParaRPr>
          </a:p>
          <a:p>
            <a:pPr algn="just"/>
            <a:endParaRPr lang="en-US" b="1" dirty="0">
              <a:solidFill>
                <a:schemeClr val="tx1"/>
              </a:solidFill>
            </a:endParaRPr>
          </a:p>
          <a:p>
            <a:pPr algn="just"/>
            <a:endParaRPr lang="en-US" b="1" dirty="0" smtClean="0">
              <a:solidFill>
                <a:schemeClr val="tx1"/>
              </a:solidFill>
            </a:endParaRPr>
          </a:p>
          <a:p>
            <a:pPr algn="just"/>
            <a:endParaRPr lang="es-MX" dirty="0">
              <a:solidFill>
                <a:schemeClr val="tx1"/>
              </a:solidFill>
            </a:endParaRPr>
          </a:p>
        </p:txBody>
      </p:sp>
    </p:spTree>
    <p:extLst>
      <p:ext uri="{BB962C8B-B14F-4D97-AF65-F5344CB8AC3E}">
        <p14:creationId xmlns:p14="http://schemas.microsoft.com/office/powerpoint/2010/main" val="65822085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pic>
        <p:nvPicPr>
          <p:cNvPr id="6" name="Imagen 5"/>
          <p:cNvPicPr/>
          <p:nvPr/>
        </p:nvPicPr>
        <p:blipFill rotWithShape="1">
          <a:blip r:embed="rId2">
            <a:extLst>
              <a:ext uri="{28A0092B-C50C-407E-A947-70E740481C1C}">
                <a14:useLocalDpi xmlns:a14="http://schemas.microsoft.com/office/drawing/2010/main" val="0"/>
              </a:ext>
            </a:extLst>
          </a:blip>
          <a:srcRect t="1" r="32064" b="-10136"/>
          <a:stretch/>
        </p:blipFill>
        <p:spPr bwMode="auto">
          <a:xfrm>
            <a:off x="110789" y="112160"/>
            <a:ext cx="3410075" cy="757457"/>
          </a:xfrm>
          <a:prstGeom prst="rect">
            <a:avLst/>
          </a:prstGeom>
          <a:noFill/>
          <a:ln>
            <a:noFill/>
          </a:ln>
          <a:extLst>
            <a:ext uri="{53640926-AAD7-44D8-BBD7-CCE9431645EC}">
              <a14:shadowObscured xmlns:a14="http://schemas.microsoft.com/office/drawing/2010/main"/>
            </a:ext>
          </a:extLst>
        </p:spPr>
      </p:pic>
      <p:pic>
        <p:nvPicPr>
          <p:cNvPr id="7" name="Imagen 6" descr="Resultado de imagen para instituto tecnologico de orizaba logo"/>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51537" y="77977"/>
            <a:ext cx="779082" cy="805180"/>
          </a:xfrm>
          <a:prstGeom prst="rect">
            <a:avLst/>
          </a:prstGeom>
          <a:noFill/>
          <a:ln>
            <a:noFill/>
          </a:ln>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74675" y="125347"/>
            <a:ext cx="1619264" cy="740391"/>
          </a:xfrm>
          <a:prstGeom prst="rect">
            <a:avLst/>
          </a:prstGeom>
        </p:spPr>
      </p:pic>
      <p:sp>
        <p:nvSpPr>
          <p:cNvPr id="9" name="Rectángulo 8"/>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11" name="3 Rectángulo"/>
          <p:cNvSpPr/>
          <p:nvPr/>
        </p:nvSpPr>
        <p:spPr>
          <a:xfrm>
            <a:off x="911423" y="1412776"/>
            <a:ext cx="10340113" cy="3448123"/>
          </a:xfrm>
          <a:prstGeom prst="rect">
            <a:avLst/>
          </a:prstGeom>
        </p:spPr>
        <p:txBody>
          <a:bodyPr wrap="square">
            <a:spAutoFit/>
          </a:bodyPr>
          <a:lstStyle/>
          <a:p>
            <a:pPr>
              <a:lnSpc>
                <a:spcPct val="115000"/>
              </a:lnSpc>
              <a:spcAft>
                <a:spcPts val="1000"/>
              </a:spcAft>
            </a:pPr>
            <a:r>
              <a:rPr lang="es-ES" sz="2000" b="1" dirty="0">
                <a:solidFill>
                  <a:srgbClr val="3399FF"/>
                </a:solidFill>
                <a:latin typeface="Trebuchet MS" panose="020B0603020202020204" pitchFamily="34" charset="0"/>
                <a:ea typeface="Times New Roman"/>
                <a:cs typeface="Calibri"/>
              </a:rPr>
              <a:t>Marco </a:t>
            </a:r>
            <a:r>
              <a:rPr lang="es-ES" sz="2000" b="1" dirty="0" smtClean="0">
                <a:solidFill>
                  <a:srgbClr val="3399FF"/>
                </a:solidFill>
                <a:latin typeface="Trebuchet MS" panose="020B0603020202020204" pitchFamily="34" charset="0"/>
                <a:ea typeface="Times New Roman"/>
                <a:cs typeface="Calibri"/>
              </a:rPr>
              <a:t>metodológico propuesto </a:t>
            </a:r>
            <a:r>
              <a:rPr lang="es-ES" sz="2000" b="1" dirty="0">
                <a:solidFill>
                  <a:srgbClr val="3399FF"/>
                </a:solidFill>
                <a:latin typeface="Trebuchet MS" panose="020B0603020202020204" pitchFamily="34" charset="0"/>
                <a:ea typeface="Times New Roman"/>
                <a:cs typeface="Calibri"/>
              </a:rPr>
              <a:t>por </a:t>
            </a:r>
            <a:r>
              <a:rPr lang="en-US" sz="2000" b="1" dirty="0">
                <a:solidFill>
                  <a:srgbClr val="3399FF"/>
                </a:solidFill>
                <a:latin typeface="Trebuchet MS" panose="020B0603020202020204" pitchFamily="34" charset="0"/>
                <a:ea typeface="Times New Roman"/>
                <a:cs typeface="Calibri"/>
              </a:rPr>
              <a:t>Kitchenham </a:t>
            </a:r>
            <a:r>
              <a:rPr lang="es-ES" sz="2000" b="1" dirty="0" smtClean="0">
                <a:solidFill>
                  <a:srgbClr val="3399FF"/>
                </a:solidFill>
                <a:latin typeface="Trebuchet MS" panose="020B0603020202020204" pitchFamily="34" charset="0"/>
                <a:ea typeface="Times New Roman"/>
                <a:cs typeface="Calibri"/>
              </a:rPr>
              <a:t>&amp; Pearl Brereton </a:t>
            </a:r>
            <a:r>
              <a:rPr lang="es-ES" sz="2000" b="1" dirty="0">
                <a:solidFill>
                  <a:srgbClr val="3399FF"/>
                </a:solidFill>
                <a:latin typeface="Trebuchet MS" panose="020B0603020202020204" pitchFamily="34" charset="0"/>
                <a:ea typeface="Times New Roman"/>
                <a:cs typeface="Calibri"/>
              </a:rPr>
              <a:t>(</a:t>
            </a:r>
            <a:r>
              <a:rPr lang="es-ES" sz="2000" b="1" dirty="0" smtClean="0">
                <a:solidFill>
                  <a:srgbClr val="3399FF"/>
                </a:solidFill>
                <a:latin typeface="Trebuchet MS" panose="020B0603020202020204" pitchFamily="34" charset="0"/>
                <a:ea typeface="Times New Roman"/>
                <a:cs typeface="Calibri"/>
              </a:rPr>
              <a:t>2013)</a:t>
            </a:r>
            <a:r>
              <a:rPr lang="es-ES" b="1" dirty="0" smtClean="0">
                <a:latin typeface="Trebuchet MS" panose="020B0603020202020204" pitchFamily="34" charset="0"/>
                <a:ea typeface="Times New Roman"/>
                <a:cs typeface="Calibri"/>
              </a:rPr>
              <a:t>²</a:t>
            </a:r>
            <a:r>
              <a:rPr lang="es-ES" sz="2000" b="1" dirty="0" smtClean="0">
                <a:solidFill>
                  <a:srgbClr val="3399FF"/>
                </a:solidFill>
                <a:latin typeface="Trebuchet MS" panose="020B0603020202020204" pitchFamily="34" charset="0"/>
                <a:ea typeface="Times New Roman"/>
                <a:cs typeface="Calibri"/>
              </a:rPr>
              <a:t> </a:t>
            </a:r>
          </a:p>
          <a:p>
            <a:pPr>
              <a:lnSpc>
                <a:spcPct val="115000"/>
              </a:lnSpc>
              <a:spcAft>
                <a:spcPts val="1000"/>
              </a:spcAft>
            </a:pPr>
            <a:r>
              <a:rPr lang="es-ES" sz="1600" b="1" dirty="0" smtClean="0">
                <a:solidFill>
                  <a:srgbClr val="A50021"/>
                </a:solidFill>
                <a:latin typeface="Trebuchet MS" panose="020B0603020202020204" pitchFamily="34" charset="0"/>
                <a:ea typeface="Times New Roman"/>
                <a:cs typeface="Calibri"/>
              </a:rPr>
              <a:t>[417 </a:t>
            </a:r>
            <a:r>
              <a:rPr lang="es-ES" sz="1600" b="1" dirty="0">
                <a:solidFill>
                  <a:srgbClr val="A50021"/>
                </a:solidFill>
                <a:latin typeface="Trebuchet MS" panose="020B0603020202020204" pitchFamily="34" charset="0"/>
                <a:ea typeface="Times New Roman"/>
                <a:cs typeface="Calibri"/>
              </a:rPr>
              <a:t>citas hasta Junio 2020]</a:t>
            </a:r>
          </a:p>
          <a:p>
            <a:pPr marL="342900" lvl="0" indent="-342900" eaLnBrk="0" fontAlgn="base" hangingPunct="0">
              <a:spcBef>
                <a:spcPct val="0"/>
              </a:spcBef>
              <a:spcAft>
                <a:spcPct val="0"/>
              </a:spcAft>
              <a:buClr>
                <a:srgbClr val="3399FF"/>
              </a:buClr>
              <a:buFont typeface="+mj-lt"/>
              <a:buAutoNum type="arabicPeriod"/>
            </a:pPr>
            <a:r>
              <a:rPr lang="es-ES" sz="1600" dirty="0">
                <a:latin typeface="Trebuchet MS" panose="020B0603020202020204" pitchFamily="34" charset="0"/>
              </a:rPr>
              <a:t>Objetivos y preguntas de </a:t>
            </a:r>
            <a:r>
              <a:rPr lang="es-ES" sz="1600" dirty="0" smtClean="0">
                <a:latin typeface="Trebuchet MS" panose="020B0603020202020204" pitchFamily="34" charset="0"/>
              </a:rPr>
              <a:t>investigación</a:t>
            </a:r>
          </a:p>
          <a:p>
            <a:pPr marL="342900" lvl="0" indent="-342900" eaLnBrk="0" fontAlgn="base" hangingPunct="0">
              <a:spcBef>
                <a:spcPct val="0"/>
              </a:spcBef>
              <a:spcAft>
                <a:spcPct val="0"/>
              </a:spcAft>
              <a:buClr>
                <a:srgbClr val="3399FF"/>
              </a:buClr>
              <a:buFont typeface="+mj-lt"/>
              <a:buAutoNum type="arabicPeriod"/>
            </a:pPr>
            <a:r>
              <a:rPr lang="es-ES" sz="1600" dirty="0">
                <a:latin typeface="Trebuchet MS" panose="020B0603020202020204" pitchFamily="34" charset="0"/>
              </a:rPr>
              <a:t>Proceso de búsqueda y </a:t>
            </a:r>
            <a:r>
              <a:rPr lang="es-ES" sz="1600" dirty="0" smtClean="0">
                <a:latin typeface="Trebuchet MS" panose="020B0603020202020204" pitchFamily="34" charset="0"/>
              </a:rPr>
              <a:t>selección</a:t>
            </a:r>
          </a:p>
          <a:p>
            <a:pPr marL="800100" lvl="1" indent="-342900" eaLnBrk="0" fontAlgn="base" hangingPunct="0">
              <a:spcBef>
                <a:spcPct val="0"/>
              </a:spcBef>
              <a:spcAft>
                <a:spcPct val="0"/>
              </a:spcAft>
              <a:buClr>
                <a:srgbClr val="3399FF"/>
              </a:buClr>
              <a:buFont typeface="Arial" panose="020B0604020202020204" pitchFamily="34" charset="0"/>
              <a:buChar char="•"/>
            </a:pPr>
            <a:r>
              <a:rPr lang="es-ES" sz="1600" dirty="0" smtClean="0">
                <a:latin typeface="Trebuchet MS" panose="020B0603020202020204" pitchFamily="34" charset="0"/>
              </a:rPr>
              <a:t>Proceso de búsqueda inicial</a:t>
            </a:r>
          </a:p>
          <a:p>
            <a:pPr marL="800100" lvl="1" indent="-342900" eaLnBrk="0" fontAlgn="base" hangingPunct="0">
              <a:spcBef>
                <a:spcPct val="0"/>
              </a:spcBef>
              <a:spcAft>
                <a:spcPct val="0"/>
              </a:spcAft>
              <a:buClr>
                <a:srgbClr val="3399FF"/>
              </a:buClr>
              <a:buFont typeface="Arial" panose="020B0604020202020204" pitchFamily="34" charset="0"/>
              <a:buChar char="•"/>
            </a:pPr>
            <a:r>
              <a:rPr lang="es-ES" sz="1600" dirty="0" smtClean="0">
                <a:latin typeface="Trebuchet MS" panose="020B0603020202020204" pitchFamily="34" charset="0"/>
              </a:rPr>
              <a:t>Validación de búsqueda y selección</a:t>
            </a:r>
          </a:p>
          <a:p>
            <a:pPr marL="800100" lvl="1" indent="-342900" eaLnBrk="0" fontAlgn="base" hangingPunct="0">
              <a:spcBef>
                <a:spcPct val="0"/>
              </a:spcBef>
              <a:spcAft>
                <a:spcPct val="0"/>
              </a:spcAft>
              <a:buClr>
                <a:srgbClr val="3399FF"/>
              </a:buClr>
              <a:buFont typeface="Arial" panose="020B0604020202020204" pitchFamily="34" charset="0"/>
              <a:buChar char="•"/>
            </a:pPr>
            <a:r>
              <a:rPr lang="es-ES" sz="1600" dirty="0" smtClean="0">
                <a:latin typeface="Trebuchet MS" panose="020B0603020202020204" pitchFamily="34" charset="0"/>
              </a:rPr>
              <a:t>Criterios de inclusión y exclusión</a:t>
            </a:r>
          </a:p>
          <a:p>
            <a:pPr marL="800100" lvl="1" indent="-342900" eaLnBrk="0" fontAlgn="base" hangingPunct="0">
              <a:spcBef>
                <a:spcPct val="0"/>
              </a:spcBef>
              <a:spcAft>
                <a:spcPct val="0"/>
              </a:spcAft>
              <a:buClr>
                <a:srgbClr val="3399FF"/>
              </a:buClr>
              <a:buFont typeface="Arial" panose="020B0604020202020204" pitchFamily="34" charset="0"/>
              <a:buChar char="•"/>
            </a:pPr>
            <a:r>
              <a:rPr lang="es-ES" sz="1600" dirty="0" smtClean="0">
                <a:latin typeface="Trebuchet MS" panose="020B0603020202020204" pitchFamily="34" charset="0"/>
              </a:rPr>
              <a:t>Evaluación de la calidad</a:t>
            </a:r>
          </a:p>
          <a:p>
            <a:pPr marL="800100" lvl="1" indent="-342900" eaLnBrk="0" fontAlgn="base" hangingPunct="0">
              <a:spcBef>
                <a:spcPct val="0"/>
              </a:spcBef>
              <a:spcAft>
                <a:spcPct val="0"/>
              </a:spcAft>
              <a:buClr>
                <a:srgbClr val="3399FF"/>
              </a:buClr>
              <a:buFont typeface="Arial" panose="020B0604020202020204" pitchFamily="34" charset="0"/>
              <a:buChar char="•"/>
            </a:pPr>
            <a:r>
              <a:rPr lang="es-ES" sz="1600" dirty="0" smtClean="0">
                <a:latin typeface="Trebuchet MS" panose="020B0603020202020204" pitchFamily="34" charset="0"/>
              </a:rPr>
              <a:t>Extracción de datos</a:t>
            </a:r>
          </a:p>
          <a:p>
            <a:pPr marL="800100" lvl="1" indent="-342900" eaLnBrk="0" fontAlgn="base" hangingPunct="0">
              <a:spcBef>
                <a:spcPct val="0"/>
              </a:spcBef>
              <a:spcAft>
                <a:spcPct val="0"/>
              </a:spcAft>
              <a:buClr>
                <a:srgbClr val="3399FF"/>
              </a:buClr>
              <a:buFont typeface="Arial" panose="020B0604020202020204" pitchFamily="34" charset="0"/>
              <a:buChar char="•"/>
            </a:pPr>
            <a:r>
              <a:rPr lang="es-ES" sz="1600" dirty="0" smtClean="0">
                <a:latin typeface="Trebuchet MS" panose="020B0603020202020204" pitchFamily="34" charset="0"/>
              </a:rPr>
              <a:t>Fiabilidad de extracción de datos y calidad</a:t>
            </a:r>
          </a:p>
          <a:p>
            <a:pPr marL="800100" lvl="1" indent="-342900" eaLnBrk="0" fontAlgn="base" hangingPunct="0">
              <a:spcBef>
                <a:spcPct val="0"/>
              </a:spcBef>
              <a:spcAft>
                <a:spcPct val="0"/>
              </a:spcAft>
              <a:buClr>
                <a:srgbClr val="3399FF"/>
              </a:buClr>
              <a:buFont typeface="Arial" panose="020B0604020202020204" pitchFamily="34" charset="0"/>
              <a:buChar char="•"/>
            </a:pPr>
            <a:r>
              <a:rPr lang="es-ES" sz="1600" dirty="0">
                <a:latin typeface="Trebuchet MS" panose="020B0603020202020204" pitchFamily="34" charset="0"/>
              </a:rPr>
              <a:t>Agregación y síntesis de </a:t>
            </a:r>
            <a:r>
              <a:rPr lang="es-ES" sz="1600" dirty="0" smtClean="0">
                <a:latin typeface="Trebuchet MS" panose="020B0603020202020204" pitchFamily="34" charset="0"/>
              </a:rPr>
              <a:t>datos</a:t>
            </a:r>
          </a:p>
          <a:p>
            <a:pPr marL="342900" lvl="0" indent="-342900" eaLnBrk="0" fontAlgn="base" hangingPunct="0">
              <a:spcBef>
                <a:spcPct val="0"/>
              </a:spcBef>
              <a:spcAft>
                <a:spcPct val="0"/>
              </a:spcAft>
              <a:buClr>
                <a:srgbClr val="3399FF"/>
              </a:buClr>
              <a:buFont typeface="+mj-lt"/>
              <a:buAutoNum type="arabicPeriod"/>
            </a:pPr>
            <a:r>
              <a:rPr lang="es-ES" sz="1600" dirty="0">
                <a:latin typeface="Trebuchet MS" panose="020B0603020202020204" pitchFamily="34" charset="0"/>
              </a:rPr>
              <a:t>Estudios incluidos y excluidos y </a:t>
            </a:r>
            <a:r>
              <a:rPr lang="es-ES" sz="1600" dirty="0" smtClean="0">
                <a:latin typeface="Trebuchet MS" panose="020B0603020202020204" pitchFamily="34" charset="0"/>
              </a:rPr>
              <a:t>validez</a:t>
            </a:r>
          </a:p>
        </p:txBody>
      </p:sp>
      <p:sp>
        <p:nvSpPr>
          <p:cNvPr id="12" name="Title 1"/>
          <p:cNvSpPr txBox="1">
            <a:spLocks/>
          </p:cNvSpPr>
          <p:nvPr/>
        </p:nvSpPr>
        <p:spPr>
          <a:xfrm>
            <a:off x="911424" y="1003473"/>
            <a:ext cx="9289032" cy="40930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solidFill>
                  <a:srgbClr val="08489E"/>
                </a:solidFill>
                <a:latin typeface="Trebuchet MS" panose="020B0603020202020204" pitchFamily="34" charset="0"/>
              </a:rPr>
              <a:t>Revisión </a:t>
            </a:r>
            <a:r>
              <a:rPr lang="en-US" sz="2400" b="1" dirty="0">
                <a:solidFill>
                  <a:srgbClr val="08489E"/>
                </a:solidFill>
                <a:latin typeface="Trebuchet MS" panose="020B0603020202020204" pitchFamily="34" charset="0"/>
              </a:rPr>
              <a:t>Sistemática de la </a:t>
            </a:r>
            <a:r>
              <a:rPr lang="en-US" sz="2400" b="1" dirty="0" smtClean="0">
                <a:solidFill>
                  <a:srgbClr val="08489E"/>
                </a:solidFill>
                <a:latin typeface="Trebuchet MS" panose="020B0603020202020204" pitchFamily="34" charset="0"/>
              </a:rPr>
              <a:t>Literatura 3/5 </a:t>
            </a:r>
            <a:endParaRPr lang="en-US" sz="2400" b="1" dirty="0">
              <a:solidFill>
                <a:srgbClr val="08489E"/>
              </a:solidFill>
              <a:latin typeface="Trebuchet MS" panose="020B0603020202020204" pitchFamily="34" charset="0"/>
            </a:endParaRPr>
          </a:p>
        </p:txBody>
      </p:sp>
      <p:sp>
        <p:nvSpPr>
          <p:cNvPr id="10" name="Marcador de pie de página 1"/>
          <p:cNvSpPr txBox="1">
            <a:spLocks/>
          </p:cNvSpPr>
          <p:nvPr/>
        </p:nvSpPr>
        <p:spPr>
          <a:xfrm>
            <a:off x="911423" y="5733256"/>
            <a:ext cx="10282516" cy="576064"/>
          </a:xfrm>
          <a:prstGeom prst="rect">
            <a:avLst/>
          </a:prstGeom>
        </p:spPr>
        <p:txBody>
          <a:bodyPr vert="horz" lIns="91440" tIns="45720" rIns="91440" bIns="45720" rtlCol="0" anchor="ctr"/>
          <a:lstStyle>
            <a:defPPr>
              <a:defRPr lang="es-MX"/>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endParaRPr lang="en-US" b="1" dirty="0" smtClean="0">
              <a:solidFill>
                <a:schemeClr val="tx1"/>
              </a:solidFill>
            </a:endParaRPr>
          </a:p>
          <a:p>
            <a:pPr algn="just"/>
            <a:endParaRPr lang="en-US" b="1" dirty="0" smtClean="0">
              <a:solidFill>
                <a:schemeClr val="tx1"/>
              </a:solidFill>
            </a:endParaRPr>
          </a:p>
          <a:p>
            <a:pPr algn="just"/>
            <a:endParaRPr lang="en-US" b="1" dirty="0" smtClean="0">
              <a:solidFill>
                <a:schemeClr val="tx1"/>
              </a:solidFill>
            </a:endParaRPr>
          </a:p>
          <a:p>
            <a:pPr algn="just"/>
            <a:r>
              <a:rPr lang="en-US" sz="1100" b="1" dirty="0">
                <a:solidFill>
                  <a:schemeClr val="tx1"/>
                </a:solidFill>
                <a:latin typeface="Arial" panose="020B0604020202020204" pitchFamily="34" charset="0"/>
                <a:cs typeface="Arial" panose="020B0604020202020204" pitchFamily="34" charset="0"/>
              </a:rPr>
              <a:t>2</a:t>
            </a:r>
            <a:r>
              <a:rPr lang="en-US" sz="1100" b="1" dirty="0" smtClean="0">
                <a:solidFill>
                  <a:schemeClr val="tx1"/>
                </a:solidFill>
                <a:latin typeface="Arial" panose="020B0604020202020204" pitchFamily="34" charset="0"/>
                <a:cs typeface="Arial" panose="020B0604020202020204" pitchFamily="34" charset="0"/>
              </a:rPr>
              <a:t>. </a:t>
            </a:r>
            <a:r>
              <a:rPr lang="en-US" sz="1100" b="1" dirty="0">
                <a:solidFill>
                  <a:schemeClr val="tx1"/>
                </a:solidFill>
                <a:latin typeface="Arial" panose="020B0604020202020204" pitchFamily="34" charset="0"/>
                <a:cs typeface="Arial" panose="020B0604020202020204" pitchFamily="34" charset="0"/>
              </a:rPr>
              <a:t>Barbara Kitchenham, Pearl </a:t>
            </a:r>
            <a:r>
              <a:rPr lang="en-US" sz="1100" b="1" dirty="0" smtClean="0">
                <a:solidFill>
                  <a:schemeClr val="tx1"/>
                </a:solidFill>
                <a:latin typeface="Arial" panose="020B0604020202020204" pitchFamily="34" charset="0"/>
                <a:cs typeface="Arial" panose="020B0604020202020204" pitchFamily="34" charset="0"/>
              </a:rPr>
              <a:t>Brereton. (2013). A </a:t>
            </a:r>
            <a:r>
              <a:rPr lang="en-US" sz="1100" b="1" dirty="0">
                <a:solidFill>
                  <a:schemeClr val="tx1"/>
                </a:solidFill>
                <a:latin typeface="Arial" panose="020B0604020202020204" pitchFamily="34" charset="0"/>
                <a:cs typeface="Arial" panose="020B0604020202020204" pitchFamily="34" charset="0"/>
              </a:rPr>
              <a:t>systematic review of systematic review process research in software engineering, Information and Software Technology, Volume 55, Issue 12, </a:t>
            </a:r>
            <a:r>
              <a:rPr lang="en-US" sz="1100" b="1" dirty="0" smtClean="0">
                <a:solidFill>
                  <a:schemeClr val="tx1"/>
                </a:solidFill>
                <a:latin typeface="Arial" panose="020B0604020202020204" pitchFamily="34" charset="0"/>
                <a:cs typeface="Arial" panose="020B0604020202020204" pitchFamily="34" charset="0"/>
              </a:rPr>
              <a:t>Pages </a:t>
            </a:r>
            <a:r>
              <a:rPr lang="en-US" sz="1100" b="1" dirty="0">
                <a:solidFill>
                  <a:schemeClr val="tx1"/>
                </a:solidFill>
                <a:latin typeface="Arial" panose="020B0604020202020204" pitchFamily="34" charset="0"/>
                <a:cs typeface="Arial" panose="020B0604020202020204" pitchFamily="34" charset="0"/>
              </a:rPr>
              <a:t>2049-2075, ISSN 0950-5849, </a:t>
            </a:r>
            <a:r>
              <a:rPr lang="en-US" sz="1100" b="1" dirty="0">
                <a:solidFill>
                  <a:schemeClr val="tx1"/>
                </a:solidFill>
                <a:latin typeface="Arial" panose="020B0604020202020204" pitchFamily="34" charset="0"/>
                <a:cs typeface="Arial" panose="020B0604020202020204" pitchFamily="34" charset="0"/>
                <a:hlinkClick r:id="rId5"/>
              </a:rPr>
              <a:t>https://</a:t>
            </a:r>
            <a:r>
              <a:rPr lang="en-US" sz="1100" b="1" dirty="0" smtClean="0">
                <a:solidFill>
                  <a:schemeClr val="tx1"/>
                </a:solidFill>
                <a:latin typeface="Arial" panose="020B0604020202020204" pitchFamily="34" charset="0"/>
                <a:cs typeface="Arial" panose="020B0604020202020204" pitchFamily="34" charset="0"/>
                <a:hlinkClick r:id="rId5"/>
              </a:rPr>
              <a:t>doi.org/10.1016/j.infsof.2013.07.010</a:t>
            </a:r>
            <a:endParaRPr lang="en-US" sz="1100" b="1" dirty="0" smtClean="0">
              <a:solidFill>
                <a:schemeClr val="tx1"/>
              </a:solidFill>
              <a:latin typeface="Arial" panose="020B0604020202020204" pitchFamily="34" charset="0"/>
              <a:cs typeface="Arial" panose="020B0604020202020204" pitchFamily="34" charset="0"/>
            </a:endParaRPr>
          </a:p>
          <a:p>
            <a:pPr algn="l"/>
            <a:endParaRPr lang="en-US" sz="1100" b="1" dirty="0">
              <a:solidFill>
                <a:schemeClr val="tx1"/>
              </a:solidFill>
              <a:latin typeface="Arial" panose="020B0604020202020204" pitchFamily="34" charset="0"/>
              <a:cs typeface="Arial" panose="020B0604020202020204" pitchFamily="34" charset="0"/>
            </a:endParaRPr>
          </a:p>
          <a:p>
            <a:pPr algn="just"/>
            <a:endParaRPr lang="en-US" sz="1100" b="1" dirty="0" smtClean="0">
              <a:solidFill>
                <a:schemeClr val="tx1"/>
              </a:solidFill>
              <a:latin typeface="Arial" panose="020B0604020202020204" pitchFamily="34" charset="0"/>
              <a:cs typeface="Arial" panose="020B0604020202020204" pitchFamily="34" charset="0"/>
            </a:endParaRPr>
          </a:p>
          <a:p>
            <a:pPr algn="just"/>
            <a:endParaRPr lang="en-US" b="1" dirty="0" smtClean="0">
              <a:solidFill>
                <a:schemeClr val="tx1"/>
              </a:solidFill>
            </a:endParaRPr>
          </a:p>
          <a:p>
            <a:pPr algn="just"/>
            <a:endParaRPr lang="es-MX" dirty="0">
              <a:solidFill>
                <a:schemeClr val="tx1"/>
              </a:solidFill>
            </a:endParaRPr>
          </a:p>
        </p:txBody>
      </p:sp>
    </p:spTree>
    <p:extLst>
      <p:ext uri="{BB962C8B-B14F-4D97-AF65-F5344CB8AC3E}">
        <p14:creationId xmlns:p14="http://schemas.microsoft.com/office/powerpoint/2010/main" val="219790551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pic>
        <p:nvPicPr>
          <p:cNvPr id="6" name="Imagen 5"/>
          <p:cNvPicPr/>
          <p:nvPr/>
        </p:nvPicPr>
        <p:blipFill rotWithShape="1">
          <a:blip r:embed="rId3">
            <a:extLst>
              <a:ext uri="{28A0092B-C50C-407E-A947-70E740481C1C}">
                <a14:useLocalDpi xmlns:a14="http://schemas.microsoft.com/office/drawing/2010/main" val="0"/>
              </a:ext>
            </a:extLst>
          </a:blip>
          <a:srcRect t="1" r="32064" b="-10136"/>
          <a:stretch/>
        </p:blipFill>
        <p:spPr bwMode="auto">
          <a:xfrm>
            <a:off x="110789" y="112160"/>
            <a:ext cx="3410075" cy="757457"/>
          </a:xfrm>
          <a:prstGeom prst="rect">
            <a:avLst/>
          </a:prstGeom>
          <a:noFill/>
          <a:ln>
            <a:noFill/>
          </a:ln>
          <a:extLst>
            <a:ext uri="{53640926-AAD7-44D8-BBD7-CCE9431645EC}">
              <a14:shadowObscured xmlns:a14="http://schemas.microsoft.com/office/drawing/2010/main"/>
            </a:ext>
          </a:extLst>
        </p:spPr>
      </p:pic>
      <p:pic>
        <p:nvPicPr>
          <p:cNvPr id="7" name="Imagen 6" descr="Resultado de imagen para instituto tecnologico de orizaba logo"/>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251537" y="77977"/>
            <a:ext cx="779082" cy="805180"/>
          </a:xfrm>
          <a:prstGeom prst="rect">
            <a:avLst/>
          </a:prstGeom>
          <a:noFill/>
          <a:ln>
            <a:noFill/>
          </a:ln>
        </p:spPr>
      </p:pic>
      <p:pic>
        <p:nvPicPr>
          <p:cNvPr id="8" name="Imagen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74675" y="125347"/>
            <a:ext cx="1619264" cy="740391"/>
          </a:xfrm>
          <a:prstGeom prst="rect">
            <a:avLst/>
          </a:prstGeom>
        </p:spPr>
      </p:pic>
      <p:sp>
        <p:nvSpPr>
          <p:cNvPr id="9" name="Rectángulo 8"/>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11" name="3 Rectángulo"/>
          <p:cNvSpPr/>
          <p:nvPr/>
        </p:nvSpPr>
        <p:spPr>
          <a:xfrm>
            <a:off x="1775520" y="1585235"/>
            <a:ext cx="9865096" cy="4267835"/>
          </a:xfrm>
          <a:prstGeom prst="rect">
            <a:avLst/>
          </a:prstGeom>
        </p:spPr>
        <p:txBody>
          <a:bodyPr wrap="square">
            <a:spAutoFit/>
          </a:bodyPr>
          <a:lstStyle/>
          <a:p>
            <a:pPr>
              <a:lnSpc>
                <a:spcPct val="115000"/>
              </a:lnSpc>
              <a:spcAft>
                <a:spcPts val="1000"/>
              </a:spcAft>
            </a:pPr>
            <a:r>
              <a:rPr lang="es-ES" sz="2000" b="1" dirty="0">
                <a:solidFill>
                  <a:srgbClr val="3399FF"/>
                </a:solidFill>
                <a:latin typeface="Trebuchet MS" panose="020B0603020202020204" pitchFamily="34" charset="0"/>
                <a:ea typeface="Times New Roman"/>
                <a:cs typeface="Calibri"/>
              </a:rPr>
              <a:t> </a:t>
            </a:r>
            <a:r>
              <a:rPr lang="es-ES" sz="2000" b="1" dirty="0" smtClean="0">
                <a:solidFill>
                  <a:srgbClr val="3399FF"/>
                </a:solidFill>
                <a:latin typeface="Trebuchet MS" panose="020B0603020202020204" pitchFamily="34" charset="0"/>
                <a:ea typeface="Times New Roman"/>
                <a:cs typeface="Calibri"/>
              </a:rPr>
              <a:t>Ejemplos del área de TI </a:t>
            </a:r>
            <a:endParaRPr lang="es-ES" sz="2000" b="1" dirty="0">
              <a:latin typeface="Trebuchet MS" panose="020B0603020202020204" pitchFamily="34" charset="0"/>
              <a:ea typeface="Times New Roman"/>
              <a:cs typeface="Calibri"/>
            </a:endParaRPr>
          </a:p>
          <a:p>
            <a:pPr marL="342900" indent="-342900" algn="just">
              <a:buClr>
                <a:srgbClr val="3399FF"/>
              </a:buClr>
              <a:buSzPct val="140000"/>
              <a:buFont typeface="Arial" panose="020B0604020202020204" pitchFamily="34" charset="0"/>
              <a:buChar char="•"/>
            </a:pPr>
            <a:r>
              <a:rPr lang="en-US" sz="1600" dirty="0" smtClean="0">
                <a:latin typeface="Trebuchet MS" panose="020B0603020202020204" pitchFamily="34" charset="0"/>
              </a:rPr>
              <a:t>Connolly</a:t>
            </a:r>
            <a:r>
              <a:rPr lang="en-US" sz="1600" dirty="0">
                <a:latin typeface="Trebuchet MS" panose="020B0603020202020204" pitchFamily="34" charset="0"/>
              </a:rPr>
              <a:t>, T. M., Boyle, E. A., MacArthur, E., Hainey, T., &amp; Boyle, J. M. (2012). A </a:t>
            </a:r>
            <a:r>
              <a:rPr lang="en-US" sz="1600" b="1" dirty="0">
                <a:solidFill>
                  <a:srgbClr val="A50021"/>
                </a:solidFill>
                <a:latin typeface="Trebuchet MS" panose="020B0603020202020204" pitchFamily="34" charset="0"/>
              </a:rPr>
              <a:t>systematic literature review </a:t>
            </a:r>
            <a:r>
              <a:rPr lang="en-US" sz="1600" dirty="0">
                <a:latin typeface="Trebuchet MS" panose="020B0603020202020204" pitchFamily="34" charset="0"/>
              </a:rPr>
              <a:t>of empirical evidence on computer games and serious games. </a:t>
            </a:r>
            <a:r>
              <a:rPr lang="es-MX" sz="1600" dirty="0">
                <a:latin typeface="Trebuchet MS" panose="020B0603020202020204" pitchFamily="34" charset="0"/>
              </a:rPr>
              <a:t>Computers and Education, 59(2), 661–686. </a:t>
            </a:r>
            <a:r>
              <a:rPr lang="es-MX" sz="1600" u="sng" dirty="0">
                <a:latin typeface="Trebuchet MS" panose="020B0603020202020204" pitchFamily="34" charset="0"/>
                <a:hlinkClick r:id="rId6"/>
              </a:rPr>
              <a:t>https://</a:t>
            </a:r>
            <a:r>
              <a:rPr lang="es-MX" sz="1600" u="sng" dirty="0" smtClean="0">
                <a:latin typeface="Trebuchet MS" panose="020B0603020202020204" pitchFamily="34" charset="0"/>
                <a:hlinkClick r:id="rId6"/>
              </a:rPr>
              <a:t>doi.org/10.1016/j.compedu.2012.03.004</a:t>
            </a:r>
            <a:endParaRPr lang="es-MX" sz="1600" u="sng" dirty="0" smtClean="0">
              <a:latin typeface="Trebuchet MS" panose="020B0603020202020204" pitchFamily="34" charset="0"/>
            </a:endParaRPr>
          </a:p>
          <a:p>
            <a:pPr marL="342900" indent="-342900" algn="just">
              <a:buClr>
                <a:srgbClr val="3399FF"/>
              </a:buClr>
              <a:buSzPct val="140000"/>
              <a:buFont typeface="Arial" panose="020B0604020202020204" pitchFamily="34" charset="0"/>
              <a:buChar char="•"/>
            </a:pPr>
            <a:r>
              <a:rPr lang="en-US" sz="1600" dirty="0">
                <a:latin typeface="Trebuchet MS" panose="020B0603020202020204" pitchFamily="34" charset="0"/>
              </a:rPr>
              <a:t>Wohlin, C. (2014). Guidelines for snowballing in </a:t>
            </a:r>
            <a:r>
              <a:rPr lang="en-US" sz="1600" b="1" dirty="0">
                <a:solidFill>
                  <a:srgbClr val="A50021"/>
                </a:solidFill>
                <a:latin typeface="Trebuchet MS" panose="020B0603020202020204" pitchFamily="34" charset="0"/>
              </a:rPr>
              <a:t>systematic literature studies </a:t>
            </a:r>
            <a:r>
              <a:rPr lang="en-US" sz="1600" dirty="0">
                <a:latin typeface="Trebuchet MS" panose="020B0603020202020204" pitchFamily="34" charset="0"/>
              </a:rPr>
              <a:t>and a replication in software engineering. </a:t>
            </a:r>
            <a:r>
              <a:rPr lang="es-MX" sz="1600" dirty="0">
                <a:latin typeface="Trebuchet MS" panose="020B0603020202020204" pitchFamily="34" charset="0"/>
              </a:rPr>
              <a:t>ACM International Conference Proceeding Series. </a:t>
            </a:r>
            <a:r>
              <a:rPr lang="es-MX" sz="1600" u="sng" dirty="0">
                <a:latin typeface="Trebuchet MS" panose="020B0603020202020204" pitchFamily="34" charset="0"/>
                <a:hlinkClick r:id="rId7"/>
              </a:rPr>
              <a:t>https://doi.org/10.1145/2601248.2601268</a:t>
            </a:r>
            <a:r>
              <a:rPr lang="es-MX" sz="1600" dirty="0">
                <a:latin typeface="Trebuchet MS" panose="020B0603020202020204" pitchFamily="34" charset="0"/>
              </a:rPr>
              <a:t> </a:t>
            </a:r>
            <a:endParaRPr lang="es-MX" sz="1600" u="sng" dirty="0" smtClean="0">
              <a:latin typeface="Trebuchet MS" panose="020B0603020202020204" pitchFamily="34" charset="0"/>
            </a:endParaRPr>
          </a:p>
          <a:p>
            <a:pPr marL="342900" indent="-342900" algn="just">
              <a:buClr>
                <a:srgbClr val="3399FF"/>
              </a:buClr>
              <a:buSzPct val="140000"/>
              <a:buFont typeface="Arial" panose="020B0604020202020204" pitchFamily="34" charset="0"/>
              <a:buChar char="•"/>
            </a:pPr>
            <a:r>
              <a:rPr lang="en-US" sz="1600" dirty="0">
                <a:latin typeface="Trebuchet MS" panose="020B0603020202020204" pitchFamily="34" charset="0"/>
              </a:rPr>
              <a:t>Hall, T., Beecham, S., Bowes, D., Gray, D., &amp; Counsell, S. (2012). A </a:t>
            </a:r>
            <a:r>
              <a:rPr lang="en-US" sz="1600" b="1" dirty="0">
                <a:solidFill>
                  <a:srgbClr val="A50021"/>
                </a:solidFill>
                <a:latin typeface="Trebuchet MS" panose="020B0603020202020204" pitchFamily="34" charset="0"/>
              </a:rPr>
              <a:t>systematic literature review </a:t>
            </a:r>
            <a:r>
              <a:rPr lang="en-US" sz="1600" dirty="0">
                <a:latin typeface="Trebuchet MS" panose="020B0603020202020204" pitchFamily="34" charset="0"/>
              </a:rPr>
              <a:t>on fault prediction performance in software engineering. </a:t>
            </a:r>
            <a:r>
              <a:rPr lang="es-MX" sz="1600" dirty="0">
                <a:latin typeface="Trebuchet MS" panose="020B0603020202020204" pitchFamily="34" charset="0"/>
              </a:rPr>
              <a:t>IEEE Transactions on Software Engineering, 38(6), 1276–1304. </a:t>
            </a:r>
            <a:r>
              <a:rPr lang="es-MX" sz="1600" u="sng" dirty="0">
                <a:latin typeface="Trebuchet MS" panose="020B0603020202020204" pitchFamily="34" charset="0"/>
                <a:hlinkClick r:id="rId8"/>
              </a:rPr>
              <a:t>https://doi.org/10.1109/TSE.2011.103</a:t>
            </a:r>
            <a:r>
              <a:rPr lang="es-MX" sz="1600" dirty="0">
                <a:latin typeface="Trebuchet MS" panose="020B0603020202020204" pitchFamily="34" charset="0"/>
              </a:rPr>
              <a:t> </a:t>
            </a:r>
            <a:endParaRPr lang="es-MX" sz="1600" dirty="0" smtClean="0">
              <a:latin typeface="Trebuchet MS" panose="020B0603020202020204" pitchFamily="34" charset="0"/>
            </a:endParaRPr>
          </a:p>
          <a:p>
            <a:pPr marL="342900" indent="-342900" algn="just">
              <a:buClr>
                <a:srgbClr val="3399FF"/>
              </a:buClr>
              <a:buSzPct val="140000"/>
              <a:buFont typeface="Arial" panose="020B0604020202020204" pitchFamily="34" charset="0"/>
              <a:buChar char="•"/>
            </a:pPr>
            <a:r>
              <a:rPr lang="en-US" sz="1600" dirty="0">
                <a:latin typeface="Trebuchet MS" panose="020B0603020202020204" pitchFamily="34" charset="0"/>
              </a:rPr>
              <a:t>Kitchenham, B., Pretorius, R., Budgen, D., Brereton, O. P., Turner, M., Niazi, M., &amp; Linkman, S. (2010). </a:t>
            </a:r>
            <a:r>
              <a:rPr lang="en-US" sz="1600" b="1" dirty="0">
                <a:solidFill>
                  <a:srgbClr val="A50021"/>
                </a:solidFill>
                <a:latin typeface="Trebuchet MS" panose="020B0603020202020204" pitchFamily="34" charset="0"/>
              </a:rPr>
              <a:t>Systematic literature reviews </a:t>
            </a:r>
            <a:r>
              <a:rPr lang="en-US" sz="1600" dirty="0">
                <a:latin typeface="Trebuchet MS" panose="020B0603020202020204" pitchFamily="34" charset="0"/>
              </a:rPr>
              <a:t>in software engineering-A tertiary study. Information and Software Technology, 52(8), 792–805. </a:t>
            </a:r>
            <a:r>
              <a:rPr lang="en-US" sz="1600" u="sng" dirty="0">
                <a:latin typeface="Trebuchet MS" panose="020B0603020202020204" pitchFamily="34" charset="0"/>
                <a:hlinkClick r:id="rId9"/>
              </a:rPr>
              <a:t>https://</a:t>
            </a:r>
            <a:r>
              <a:rPr lang="en-US" sz="1600" u="sng" dirty="0" smtClean="0">
                <a:latin typeface="Trebuchet MS" panose="020B0603020202020204" pitchFamily="34" charset="0"/>
                <a:hlinkClick r:id="rId9"/>
              </a:rPr>
              <a:t>doi.org/10.1016/j.infsof.2010.03.006</a:t>
            </a:r>
            <a:endParaRPr lang="en-US" sz="1600" u="sng" dirty="0" smtClean="0">
              <a:latin typeface="Trebuchet MS" panose="020B0603020202020204" pitchFamily="34" charset="0"/>
            </a:endParaRPr>
          </a:p>
          <a:p>
            <a:pPr marL="342900" indent="-342900" algn="just">
              <a:buClr>
                <a:srgbClr val="3399FF"/>
              </a:buClr>
              <a:buSzPct val="140000"/>
              <a:buFont typeface="Arial" panose="020B0604020202020204" pitchFamily="34" charset="0"/>
              <a:buChar char="•"/>
            </a:pPr>
            <a:r>
              <a:rPr lang="es-MX" sz="1600" dirty="0">
                <a:latin typeface="Trebuchet MS" panose="020B0603020202020204" pitchFamily="34" charset="0"/>
              </a:rPr>
              <a:t>Kaiwartya, O., Abdullah, A. H., Cao, Y., Altameem, A., Prasad, M., Lin, C. T., &amp; Liu, X. (2016). </a:t>
            </a:r>
            <a:r>
              <a:rPr lang="en-US" sz="1600" dirty="0">
                <a:latin typeface="Trebuchet MS" panose="020B0603020202020204" pitchFamily="34" charset="0"/>
              </a:rPr>
              <a:t>Internet of Vehicles: Motivation, Layered Architecture, Network Model, Challenges, and Future Aspects. </a:t>
            </a:r>
            <a:r>
              <a:rPr lang="es-MX" sz="1600" dirty="0">
                <a:latin typeface="Trebuchet MS" panose="020B0603020202020204" pitchFamily="34" charset="0"/>
              </a:rPr>
              <a:t>IEEE Access, 4, </a:t>
            </a:r>
            <a:r>
              <a:rPr lang="es-MX" sz="1600" dirty="0" smtClean="0">
                <a:latin typeface="Trebuchet MS" panose="020B0603020202020204" pitchFamily="34" charset="0"/>
              </a:rPr>
              <a:t>5356–5373. </a:t>
            </a:r>
            <a:r>
              <a:rPr lang="en-US" sz="1600" u="sng" dirty="0" smtClean="0">
                <a:latin typeface="Trebuchet MS" panose="020B0603020202020204" pitchFamily="34" charset="0"/>
                <a:hlinkClick r:id="rId10"/>
              </a:rPr>
              <a:t>https</a:t>
            </a:r>
            <a:r>
              <a:rPr lang="en-US" sz="1600" u="sng" dirty="0">
                <a:latin typeface="Trebuchet MS" panose="020B0603020202020204" pitchFamily="34" charset="0"/>
                <a:hlinkClick r:id="rId10"/>
              </a:rPr>
              <a:t>://doi.org/10.1109/ACCESS.2016.2603219</a:t>
            </a:r>
            <a:endParaRPr lang="en-US" sz="1600" dirty="0">
              <a:latin typeface="Trebuchet MS" panose="020B0603020202020204" pitchFamily="34" charset="0"/>
            </a:endParaRPr>
          </a:p>
        </p:txBody>
      </p:sp>
      <p:sp>
        <p:nvSpPr>
          <p:cNvPr id="12" name="Title 1"/>
          <p:cNvSpPr txBox="1">
            <a:spLocks/>
          </p:cNvSpPr>
          <p:nvPr/>
        </p:nvSpPr>
        <p:spPr>
          <a:xfrm>
            <a:off x="911424" y="1003473"/>
            <a:ext cx="9289032" cy="40930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solidFill>
                  <a:srgbClr val="08489E"/>
                </a:solidFill>
                <a:latin typeface="Trebuchet MS" panose="020B0603020202020204" pitchFamily="34" charset="0"/>
              </a:rPr>
              <a:t>Revisión </a:t>
            </a:r>
            <a:r>
              <a:rPr lang="en-US" sz="2400" b="1" dirty="0">
                <a:solidFill>
                  <a:srgbClr val="08489E"/>
                </a:solidFill>
                <a:latin typeface="Trebuchet MS" panose="020B0603020202020204" pitchFamily="34" charset="0"/>
              </a:rPr>
              <a:t>Sistemática de la </a:t>
            </a:r>
            <a:r>
              <a:rPr lang="en-US" sz="2400" b="1" dirty="0" smtClean="0">
                <a:solidFill>
                  <a:srgbClr val="08489E"/>
                </a:solidFill>
                <a:latin typeface="Trebuchet MS" panose="020B0603020202020204" pitchFamily="34" charset="0"/>
              </a:rPr>
              <a:t>Literatura 4/5 </a:t>
            </a:r>
            <a:endParaRPr lang="en-US" sz="2400" b="1" dirty="0">
              <a:solidFill>
                <a:srgbClr val="08489E"/>
              </a:solidFill>
              <a:latin typeface="Trebuchet MS" panose="020B0603020202020204" pitchFamily="34" charset="0"/>
            </a:endParaRPr>
          </a:p>
        </p:txBody>
      </p:sp>
      <p:sp>
        <p:nvSpPr>
          <p:cNvPr id="10" name="CuadroTexto 9"/>
          <p:cNvSpPr txBox="1"/>
          <p:nvPr/>
        </p:nvSpPr>
        <p:spPr>
          <a:xfrm>
            <a:off x="244645" y="4186255"/>
            <a:ext cx="1488605" cy="369332"/>
          </a:xfrm>
          <a:prstGeom prst="rect">
            <a:avLst/>
          </a:prstGeom>
          <a:noFill/>
        </p:spPr>
        <p:txBody>
          <a:bodyPr wrap="square" rtlCol="0">
            <a:spAutoFit/>
          </a:bodyPr>
          <a:lstStyle/>
          <a:p>
            <a:r>
              <a:rPr lang="en-US" dirty="0" smtClean="0">
                <a:latin typeface="Trebuchet MS" panose="020B0603020202020204" pitchFamily="34" charset="0"/>
              </a:rPr>
              <a:t>[</a:t>
            </a:r>
            <a:r>
              <a:rPr lang="es-MX" b="1" dirty="0" smtClean="0">
                <a:solidFill>
                  <a:srgbClr val="990000"/>
                </a:solidFill>
                <a:latin typeface="Trebuchet MS" panose="020B0603020202020204" pitchFamily="34" charset="0"/>
              </a:rPr>
              <a:t>628  citas</a:t>
            </a:r>
            <a:r>
              <a:rPr lang="en-US" dirty="0" smtClean="0">
                <a:latin typeface="Trebuchet MS" panose="020B0603020202020204" pitchFamily="34" charset="0"/>
              </a:rPr>
              <a:t>]</a:t>
            </a:r>
          </a:p>
        </p:txBody>
      </p:sp>
      <p:sp>
        <p:nvSpPr>
          <p:cNvPr id="13" name="CuadroTexto 12"/>
          <p:cNvSpPr txBox="1"/>
          <p:nvPr/>
        </p:nvSpPr>
        <p:spPr>
          <a:xfrm>
            <a:off x="247891" y="3428572"/>
            <a:ext cx="1527899" cy="369332"/>
          </a:xfrm>
          <a:prstGeom prst="rect">
            <a:avLst/>
          </a:prstGeom>
          <a:noFill/>
        </p:spPr>
        <p:txBody>
          <a:bodyPr wrap="square" rtlCol="0">
            <a:spAutoFit/>
          </a:bodyPr>
          <a:lstStyle/>
          <a:p>
            <a:r>
              <a:rPr lang="en-US" dirty="0" smtClean="0">
                <a:latin typeface="Trebuchet MS" panose="020B0603020202020204" pitchFamily="34" charset="0"/>
              </a:rPr>
              <a:t>[</a:t>
            </a:r>
            <a:r>
              <a:rPr lang="es-MX" b="1" dirty="0" smtClean="0">
                <a:solidFill>
                  <a:srgbClr val="990000"/>
                </a:solidFill>
                <a:latin typeface="Trebuchet MS" panose="020B0603020202020204" pitchFamily="34" charset="0"/>
              </a:rPr>
              <a:t>817 citas</a:t>
            </a:r>
            <a:r>
              <a:rPr lang="en-US" dirty="0" smtClean="0">
                <a:latin typeface="Trebuchet MS" panose="020B0603020202020204" pitchFamily="34" charset="0"/>
              </a:rPr>
              <a:t>]</a:t>
            </a:r>
          </a:p>
        </p:txBody>
      </p:sp>
      <p:sp>
        <p:nvSpPr>
          <p:cNvPr id="17" name="CuadroTexto 16"/>
          <p:cNvSpPr txBox="1"/>
          <p:nvPr/>
        </p:nvSpPr>
        <p:spPr>
          <a:xfrm>
            <a:off x="249485" y="2720162"/>
            <a:ext cx="1527899" cy="369332"/>
          </a:xfrm>
          <a:prstGeom prst="rect">
            <a:avLst/>
          </a:prstGeom>
          <a:noFill/>
        </p:spPr>
        <p:txBody>
          <a:bodyPr wrap="square" rtlCol="0">
            <a:spAutoFit/>
          </a:bodyPr>
          <a:lstStyle/>
          <a:p>
            <a:r>
              <a:rPr lang="en-US" dirty="0" smtClean="0">
                <a:latin typeface="Trebuchet MS" panose="020B0603020202020204" pitchFamily="34" charset="0"/>
              </a:rPr>
              <a:t>[</a:t>
            </a:r>
            <a:r>
              <a:rPr lang="es-MX" b="1" dirty="0" smtClean="0">
                <a:solidFill>
                  <a:srgbClr val="990000"/>
                </a:solidFill>
                <a:latin typeface="Trebuchet MS" panose="020B0603020202020204" pitchFamily="34" charset="0"/>
              </a:rPr>
              <a:t>1100 citas</a:t>
            </a:r>
            <a:r>
              <a:rPr lang="en-US" dirty="0" smtClean="0">
                <a:latin typeface="Trebuchet MS" panose="020B0603020202020204" pitchFamily="34" charset="0"/>
              </a:rPr>
              <a:t>]</a:t>
            </a:r>
          </a:p>
        </p:txBody>
      </p:sp>
      <p:sp>
        <p:nvSpPr>
          <p:cNvPr id="14" name="CuadroTexto 13"/>
          <p:cNvSpPr txBox="1"/>
          <p:nvPr/>
        </p:nvSpPr>
        <p:spPr>
          <a:xfrm>
            <a:off x="247621" y="2006008"/>
            <a:ext cx="1527899" cy="369332"/>
          </a:xfrm>
          <a:prstGeom prst="rect">
            <a:avLst/>
          </a:prstGeom>
          <a:noFill/>
        </p:spPr>
        <p:txBody>
          <a:bodyPr wrap="square" rtlCol="0">
            <a:spAutoFit/>
          </a:bodyPr>
          <a:lstStyle/>
          <a:p>
            <a:r>
              <a:rPr lang="en-US" dirty="0" smtClean="0">
                <a:latin typeface="Trebuchet MS" panose="020B0603020202020204" pitchFamily="34" charset="0"/>
              </a:rPr>
              <a:t>[</a:t>
            </a:r>
            <a:r>
              <a:rPr lang="es-MX" b="1" dirty="0" smtClean="0">
                <a:solidFill>
                  <a:srgbClr val="990000"/>
                </a:solidFill>
                <a:latin typeface="Trebuchet MS" panose="020B0603020202020204" pitchFamily="34" charset="0"/>
              </a:rPr>
              <a:t>2185 citas</a:t>
            </a:r>
            <a:r>
              <a:rPr lang="en-US" dirty="0" smtClean="0">
                <a:latin typeface="Trebuchet MS" panose="020B0603020202020204" pitchFamily="34" charset="0"/>
              </a:rPr>
              <a:t>]</a:t>
            </a:r>
          </a:p>
        </p:txBody>
      </p:sp>
      <p:sp>
        <p:nvSpPr>
          <p:cNvPr id="15" name="CuadroTexto 14"/>
          <p:cNvSpPr txBox="1"/>
          <p:nvPr/>
        </p:nvSpPr>
        <p:spPr>
          <a:xfrm>
            <a:off x="247867" y="4924542"/>
            <a:ext cx="1488605" cy="369332"/>
          </a:xfrm>
          <a:prstGeom prst="rect">
            <a:avLst/>
          </a:prstGeom>
          <a:noFill/>
        </p:spPr>
        <p:txBody>
          <a:bodyPr wrap="square" rtlCol="0">
            <a:spAutoFit/>
          </a:bodyPr>
          <a:lstStyle/>
          <a:p>
            <a:r>
              <a:rPr lang="en-US" dirty="0" smtClean="0">
                <a:latin typeface="Trebuchet MS" panose="020B0603020202020204" pitchFamily="34" charset="0"/>
              </a:rPr>
              <a:t>[</a:t>
            </a:r>
            <a:r>
              <a:rPr lang="es-MX" b="1" dirty="0" smtClean="0">
                <a:solidFill>
                  <a:srgbClr val="990000"/>
                </a:solidFill>
                <a:latin typeface="Trebuchet MS" panose="020B0603020202020204" pitchFamily="34" charset="0"/>
              </a:rPr>
              <a:t>510  citas</a:t>
            </a:r>
            <a:r>
              <a:rPr lang="en-US" dirty="0" smtClean="0">
                <a:latin typeface="Trebuchet MS" panose="020B0603020202020204" pitchFamily="34" charset="0"/>
              </a:rPr>
              <a:t>]</a:t>
            </a:r>
          </a:p>
        </p:txBody>
      </p:sp>
    </p:spTree>
    <p:extLst>
      <p:ext uri="{BB962C8B-B14F-4D97-AF65-F5344CB8AC3E}">
        <p14:creationId xmlns:p14="http://schemas.microsoft.com/office/powerpoint/2010/main" val="103953325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pic>
        <p:nvPicPr>
          <p:cNvPr id="6" name="Imagen 5"/>
          <p:cNvPicPr/>
          <p:nvPr/>
        </p:nvPicPr>
        <p:blipFill rotWithShape="1">
          <a:blip r:embed="rId3">
            <a:extLst>
              <a:ext uri="{28A0092B-C50C-407E-A947-70E740481C1C}">
                <a14:useLocalDpi xmlns:a14="http://schemas.microsoft.com/office/drawing/2010/main" val="0"/>
              </a:ext>
            </a:extLst>
          </a:blip>
          <a:srcRect t="1" r="32064" b="-10136"/>
          <a:stretch/>
        </p:blipFill>
        <p:spPr bwMode="auto">
          <a:xfrm>
            <a:off x="110789" y="112160"/>
            <a:ext cx="3410075" cy="757457"/>
          </a:xfrm>
          <a:prstGeom prst="rect">
            <a:avLst/>
          </a:prstGeom>
          <a:noFill/>
          <a:ln>
            <a:noFill/>
          </a:ln>
          <a:extLst>
            <a:ext uri="{53640926-AAD7-44D8-BBD7-CCE9431645EC}">
              <a14:shadowObscured xmlns:a14="http://schemas.microsoft.com/office/drawing/2010/main"/>
            </a:ext>
          </a:extLst>
        </p:spPr>
      </p:pic>
      <p:pic>
        <p:nvPicPr>
          <p:cNvPr id="7" name="Imagen 6" descr="Resultado de imagen para instituto tecnologico de orizaba logo"/>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251537" y="77977"/>
            <a:ext cx="779082" cy="805180"/>
          </a:xfrm>
          <a:prstGeom prst="rect">
            <a:avLst/>
          </a:prstGeom>
          <a:noFill/>
          <a:ln>
            <a:noFill/>
          </a:ln>
        </p:spPr>
      </p:pic>
      <p:pic>
        <p:nvPicPr>
          <p:cNvPr id="8" name="Imagen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74675" y="125347"/>
            <a:ext cx="1619264" cy="740391"/>
          </a:xfrm>
          <a:prstGeom prst="rect">
            <a:avLst/>
          </a:prstGeom>
        </p:spPr>
      </p:pic>
      <p:sp>
        <p:nvSpPr>
          <p:cNvPr id="9" name="Rectángulo 8"/>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11" name="3 Rectángulo"/>
          <p:cNvSpPr/>
          <p:nvPr/>
        </p:nvSpPr>
        <p:spPr>
          <a:xfrm>
            <a:off x="1775520" y="1585235"/>
            <a:ext cx="9865096" cy="4021614"/>
          </a:xfrm>
          <a:prstGeom prst="rect">
            <a:avLst/>
          </a:prstGeom>
        </p:spPr>
        <p:txBody>
          <a:bodyPr wrap="square">
            <a:spAutoFit/>
          </a:bodyPr>
          <a:lstStyle/>
          <a:p>
            <a:pPr>
              <a:lnSpc>
                <a:spcPct val="115000"/>
              </a:lnSpc>
              <a:spcAft>
                <a:spcPts val="1000"/>
              </a:spcAft>
            </a:pPr>
            <a:r>
              <a:rPr lang="es-ES" sz="2000" b="1" dirty="0">
                <a:solidFill>
                  <a:srgbClr val="3399FF"/>
                </a:solidFill>
                <a:latin typeface="Trebuchet MS" panose="020B0603020202020204" pitchFamily="34" charset="0"/>
                <a:ea typeface="Times New Roman"/>
                <a:cs typeface="Calibri"/>
              </a:rPr>
              <a:t> </a:t>
            </a:r>
            <a:r>
              <a:rPr lang="es-ES" sz="2000" b="1" dirty="0" smtClean="0">
                <a:solidFill>
                  <a:srgbClr val="3399FF"/>
                </a:solidFill>
                <a:latin typeface="Trebuchet MS" panose="020B0603020202020204" pitchFamily="34" charset="0"/>
                <a:ea typeface="Times New Roman"/>
                <a:cs typeface="Calibri"/>
              </a:rPr>
              <a:t>Ejemplos de otras áreas </a:t>
            </a:r>
            <a:endParaRPr lang="es-ES" sz="2000" b="1" dirty="0">
              <a:latin typeface="Trebuchet MS" panose="020B0603020202020204" pitchFamily="34" charset="0"/>
              <a:ea typeface="Times New Roman"/>
              <a:cs typeface="Calibri"/>
            </a:endParaRPr>
          </a:p>
          <a:p>
            <a:pPr marL="342900" indent="-342900" algn="just">
              <a:buClr>
                <a:srgbClr val="3399FF"/>
              </a:buClr>
              <a:buSzPct val="140000"/>
              <a:buFont typeface="Arial" panose="020B0604020202020204" pitchFamily="34" charset="0"/>
              <a:buChar char="•"/>
            </a:pPr>
            <a:r>
              <a:rPr lang="en-US" sz="1600" dirty="0" smtClean="0">
                <a:latin typeface="Trebuchet MS" panose="020B0603020202020204" pitchFamily="34" charset="0"/>
              </a:rPr>
              <a:t>Siddiqi</a:t>
            </a:r>
            <a:r>
              <a:rPr lang="en-US" sz="1600" dirty="0">
                <a:latin typeface="Trebuchet MS" panose="020B0603020202020204" pitchFamily="34" charset="0"/>
              </a:rPr>
              <a:t>, N., House, A. O., &amp; Holmes, J. D. (2006). Occurrence and outcome of delirium in medical in-patients: A </a:t>
            </a:r>
            <a:r>
              <a:rPr lang="en-US" sz="1600" b="1" dirty="0">
                <a:solidFill>
                  <a:srgbClr val="A50021"/>
                </a:solidFill>
                <a:latin typeface="Trebuchet MS" panose="020B0603020202020204" pitchFamily="34" charset="0"/>
              </a:rPr>
              <a:t>systematic literature review</a:t>
            </a:r>
            <a:r>
              <a:rPr lang="en-US" sz="1600" dirty="0">
                <a:latin typeface="Trebuchet MS" panose="020B0603020202020204" pitchFamily="34" charset="0"/>
              </a:rPr>
              <a:t>. </a:t>
            </a:r>
            <a:r>
              <a:rPr lang="es-MX" sz="1600" dirty="0">
                <a:latin typeface="Trebuchet MS" panose="020B0603020202020204" pitchFamily="34" charset="0"/>
              </a:rPr>
              <a:t>Age and Ageing, 35(4), 350–364. </a:t>
            </a:r>
            <a:r>
              <a:rPr lang="en-US" sz="1600" u="sng" dirty="0">
                <a:latin typeface="Trebuchet MS" panose="020B0603020202020204" pitchFamily="34" charset="0"/>
                <a:hlinkClick r:id="rId6"/>
              </a:rPr>
              <a:t>https://doi.org/10.1093/ageing/afl005</a:t>
            </a:r>
            <a:r>
              <a:rPr lang="es-MX" sz="1600" dirty="0">
                <a:latin typeface="Trebuchet MS" panose="020B0603020202020204" pitchFamily="34" charset="0"/>
              </a:rPr>
              <a:t>     </a:t>
            </a:r>
            <a:r>
              <a:rPr lang="en-US" sz="1600" dirty="0">
                <a:latin typeface="Trebuchet MS" panose="020B0603020202020204" pitchFamily="34" charset="0"/>
              </a:rPr>
              <a:t>  </a:t>
            </a:r>
            <a:endParaRPr lang="es-MX" sz="1600" dirty="0">
              <a:latin typeface="Trebuchet MS" panose="020B0603020202020204" pitchFamily="34" charset="0"/>
            </a:endParaRPr>
          </a:p>
          <a:p>
            <a:pPr marL="342900" indent="-342900" algn="just">
              <a:buClr>
                <a:srgbClr val="3399FF"/>
              </a:buClr>
              <a:buSzPct val="140000"/>
              <a:buFont typeface="Arial" panose="020B0604020202020204" pitchFamily="34" charset="0"/>
              <a:buChar char="•"/>
            </a:pPr>
            <a:r>
              <a:rPr lang="en-US" sz="1600" dirty="0">
                <a:latin typeface="Trebuchet MS" panose="020B0603020202020204" pitchFamily="34" charset="0"/>
              </a:rPr>
              <a:t>Patel, M. M., Widdowson, M. A., Glass, R. I., Akazawa, K., Vinjé, J., &amp; Parashar, U. D. (2008). </a:t>
            </a:r>
            <a:r>
              <a:rPr lang="en-US" sz="1600" b="1" dirty="0">
                <a:solidFill>
                  <a:srgbClr val="A50021"/>
                </a:solidFill>
                <a:latin typeface="Trebuchet MS" panose="020B0603020202020204" pitchFamily="34" charset="0"/>
              </a:rPr>
              <a:t>Systematic literature review </a:t>
            </a:r>
            <a:r>
              <a:rPr lang="en-US" sz="1600" dirty="0">
                <a:latin typeface="Trebuchet MS" panose="020B0603020202020204" pitchFamily="34" charset="0"/>
              </a:rPr>
              <a:t>of role of noroviruses in sporadic gastroenteritis. </a:t>
            </a:r>
            <a:r>
              <a:rPr lang="es-MX" sz="1600" dirty="0">
                <a:latin typeface="Trebuchet MS" panose="020B0603020202020204" pitchFamily="34" charset="0"/>
              </a:rPr>
              <a:t>Emerging Infectious Diseases, 14(8), 1224–1231. </a:t>
            </a:r>
            <a:r>
              <a:rPr lang="es-MX" sz="1600" u="sng" dirty="0">
                <a:latin typeface="Trebuchet MS" panose="020B0603020202020204" pitchFamily="34" charset="0"/>
                <a:hlinkClick r:id="rId7"/>
              </a:rPr>
              <a:t>https://doi.org/10.3201/eid1408.071114</a:t>
            </a:r>
            <a:r>
              <a:rPr lang="es-MX" sz="1600" dirty="0">
                <a:latin typeface="Trebuchet MS" panose="020B0603020202020204" pitchFamily="34" charset="0"/>
              </a:rPr>
              <a:t>     </a:t>
            </a:r>
          </a:p>
          <a:p>
            <a:pPr marL="342900" indent="-342900" algn="just">
              <a:buClr>
                <a:srgbClr val="3399FF"/>
              </a:buClr>
              <a:buSzPct val="140000"/>
              <a:buFont typeface="Arial" panose="020B0604020202020204" pitchFamily="34" charset="0"/>
              <a:buChar char="•"/>
            </a:pPr>
            <a:r>
              <a:rPr lang="en-US" sz="1600" dirty="0">
                <a:latin typeface="Trebuchet MS" panose="020B0603020202020204" pitchFamily="34" charset="0"/>
              </a:rPr>
              <a:t>Michie, S., &amp; Williams, S. (2003). Reducing work related psychological ill health and sickness absence: </a:t>
            </a:r>
            <a:r>
              <a:rPr lang="en-US" sz="1600" b="1" dirty="0">
                <a:solidFill>
                  <a:srgbClr val="A50021"/>
                </a:solidFill>
                <a:latin typeface="Trebuchet MS" panose="020B0603020202020204" pitchFamily="34" charset="0"/>
              </a:rPr>
              <a:t>A systematic literature review</a:t>
            </a:r>
            <a:r>
              <a:rPr lang="en-US" sz="1600" dirty="0">
                <a:latin typeface="Trebuchet MS" panose="020B0603020202020204" pitchFamily="34" charset="0"/>
              </a:rPr>
              <a:t>. </a:t>
            </a:r>
            <a:r>
              <a:rPr lang="es-MX" sz="1600" dirty="0">
                <a:latin typeface="Trebuchet MS" panose="020B0603020202020204" pitchFamily="34" charset="0"/>
              </a:rPr>
              <a:t>Occupational and Environmental Medicine, 60(1), 3–9. </a:t>
            </a:r>
            <a:r>
              <a:rPr lang="en-US" sz="1600" u="sng" dirty="0">
                <a:latin typeface="Trebuchet MS" panose="020B0603020202020204" pitchFamily="34" charset="0"/>
                <a:hlinkClick r:id="rId8"/>
              </a:rPr>
              <a:t>https://doi.org/10.1136/oem.60.1.3</a:t>
            </a:r>
            <a:r>
              <a:rPr lang="es-MX" sz="1600" dirty="0">
                <a:latin typeface="Trebuchet MS" panose="020B0603020202020204" pitchFamily="34" charset="0"/>
              </a:rPr>
              <a:t>     </a:t>
            </a:r>
          </a:p>
          <a:p>
            <a:pPr marL="342900" indent="-342900" algn="just">
              <a:buClr>
                <a:srgbClr val="3399FF"/>
              </a:buClr>
              <a:buSzPct val="140000"/>
              <a:buFont typeface="Arial" panose="020B0604020202020204" pitchFamily="34" charset="0"/>
              <a:buChar char="•"/>
            </a:pPr>
            <a:r>
              <a:rPr lang="en-US" sz="1600" dirty="0">
                <a:latin typeface="Trebuchet MS" panose="020B0603020202020204" pitchFamily="34" charset="0"/>
              </a:rPr>
              <a:t>Parris, D. L., &amp; Peachey, J. W. (2013). A </a:t>
            </a:r>
            <a:r>
              <a:rPr lang="en-US" sz="1600" b="1" dirty="0">
                <a:solidFill>
                  <a:srgbClr val="A50021"/>
                </a:solidFill>
                <a:latin typeface="Trebuchet MS" panose="020B0603020202020204" pitchFamily="34" charset="0"/>
              </a:rPr>
              <a:t>Systematic Literature Review </a:t>
            </a:r>
            <a:r>
              <a:rPr lang="en-US" sz="1600" dirty="0">
                <a:latin typeface="Trebuchet MS" panose="020B0603020202020204" pitchFamily="34" charset="0"/>
              </a:rPr>
              <a:t>of Servant Leadership Theory in Organizational Contexts. Journal of Business Ethics, 113(3), 377–393. </a:t>
            </a:r>
            <a:r>
              <a:rPr lang="en-US" sz="1600" u="sng" dirty="0">
                <a:latin typeface="Trebuchet MS" panose="020B0603020202020204" pitchFamily="34" charset="0"/>
                <a:hlinkClick r:id="rId9"/>
              </a:rPr>
              <a:t>https://doi.org/10.1007/s10551-012-1322-6</a:t>
            </a:r>
            <a:r>
              <a:rPr lang="en-US" sz="1600" dirty="0">
                <a:latin typeface="Trebuchet MS" panose="020B0603020202020204" pitchFamily="34" charset="0"/>
              </a:rPr>
              <a:t>    </a:t>
            </a:r>
            <a:endParaRPr lang="es-MX" sz="1600" dirty="0">
              <a:latin typeface="Trebuchet MS" panose="020B0603020202020204" pitchFamily="34" charset="0"/>
            </a:endParaRPr>
          </a:p>
          <a:p>
            <a:pPr marL="342900" indent="-342900" algn="just">
              <a:buClr>
                <a:srgbClr val="3399FF"/>
              </a:buClr>
              <a:buSzPct val="140000"/>
              <a:buFont typeface="Arial" panose="020B0604020202020204" pitchFamily="34" charset="0"/>
              <a:buChar char="•"/>
            </a:pPr>
            <a:r>
              <a:rPr lang="en-US" sz="1600" dirty="0" smtClean="0">
                <a:latin typeface="Trebuchet MS" panose="020B0603020202020204" pitchFamily="34" charset="0"/>
              </a:rPr>
              <a:t>Manikas, K., &amp; Hansen, K. M. (2013). Software ecosystems-A </a:t>
            </a:r>
            <a:r>
              <a:rPr lang="en-US" sz="1600" b="1" dirty="0" smtClean="0">
                <a:solidFill>
                  <a:srgbClr val="A50021"/>
                </a:solidFill>
                <a:latin typeface="Trebuchet MS" panose="020B0603020202020204" pitchFamily="34" charset="0"/>
              </a:rPr>
              <a:t>systematic literature review</a:t>
            </a:r>
            <a:r>
              <a:rPr lang="en-US" sz="1600" dirty="0" smtClean="0">
                <a:latin typeface="Trebuchet MS" panose="020B0603020202020204" pitchFamily="34" charset="0"/>
              </a:rPr>
              <a:t>. Journal of Systems and Software, 86(5), 1294–1306. </a:t>
            </a:r>
            <a:r>
              <a:rPr lang="en-US" sz="1600" u="sng" dirty="0" smtClean="0">
                <a:latin typeface="Trebuchet MS" panose="020B0603020202020204" pitchFamily="34" charset="0"/>
                <a:hlinkClick r:id="rId10"/>
              </a:rPr>
              <a:t>https://doi.org/10.1016/j.jss.2012.12.026</a:t>
            </a:r>
            <a:r>
              <a:rPr lang="es-MX" sz="1600" dirty="0" smtClean="0">
                <a:latin typeface="Trebuchet MS" panose="020B0603020202020204" pitchFamily="34" charset="0"/>
              </a:rPr>
              <a:t>) </a:t>
            </a:r>
          </a:p>
        </p:txBody>
      </p:sp>
      <p:sp>
        <p:nvSpPr>
          <p:cNvPr id="12" name="Title 1"/>
          <p:cNvSpPr txBox="1">
            <a:spLocks/>
          </p:cNvSpPr>
          <p:nvPr/>
        </p:nvSpPr>
        <p:spPr>
          <a:xfrm>
            <a:off x="911424" y="1003473"/>
            <a:ext cx="9289032" cy="40930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solidFill>
                  <a:srgbClr val="08489E"/>
                </a:solidFill>
                <a:latin typeface="Trebuchet MS" panose="020B0603020202020204" pitchFamily="34" charset="0"/>
              </a:rPr>
              <a:t>Revisión </a:t>
            </a:r>
            <a:r>
              <a:rPr lang="en-US" sz="2400" b="1" dirty="0">
                <a:solidFill>
                  <a:srgbClr val="08489E"/>
                </a:solidFill>
                <a:latin typeface="Trebuchet MS" panose="020B0603020202020204" pitchFamily="34" charset="0"/>
              </a:rPr>
              <a:t>Sistemática de la </a:t>
            </a:r>
            <a:r>
              <a:rPr lang="en-US" sz="2400" b="1" dirty="0" smtClean="0">
                <a:solidFill>
                  <a:srgbClr val="08489E"/>
                </a:solidFill>
                <a:latin typeface="Trebuchet MS" panose="020B0603020202020204" pitchFamily="34" charset="0"/>
              </a:rPr>
              <a:t>Literatura 5/5 </a:t>
            </a:r>
            <a:endParaRPr lang="en-US" sz="2400" b="1" dirty="0">
              <a:solidFill>
                <a:srgbClr val="08489E"/>
              </a:solidFill>
              <a:latin typeface="Trebuchet MS" panose="020B0603020202020204" pitchFamily="34" charset="0"/>
            </a:endParaRPr>
          </a:p>
        </p:txBody>
      </p:sp>
      <p:sp>
        <p:nvSpPr>
          <p:cNvPr id="10" name="CuadroTexto 9"/>
          <p:cNvSpPr txBox="1"/>
          <p:nvPr/>
        </p:nvSpPr>
        <p:spPr>
          <a:xfrm>
            <a:off x="244645" y="4186255"/>
            <a:ext cx="1488605" cy="369332"/>
          </a:xfrm>
          <a:prstGeom prst="rect">
            <a:avLst/>
          </a:prstGeom>
          <a:noFill/>
        </p:spPr>
        <p:txBody>
          <a:bodyPr wrap="square" rtlCol="0">
            <a:spAutoFit/>
          </a:bodyPr>
          <a:lstStyle/>
          <a:p>
            <a:r>
              <a:rPr lang="en-US" dirty="0" smtClean="0">
                <a:latin typeface="Trebuchet MS" panose="020B0603020202020204" pitchFamily="34" charset="0"/>
              </a:rPr>
              <a:t>[</a:t>
            </a:r>
            <a:r>
              <a:rPr lang="es-MX" b="1" dirty="0" smtClean="0">
                <a:solidFill>
                  <a:srgbClr val="990000"/>
                </a:solidFill>
                <a:latin typeface="Trebuchet MS" panose="020B0603020202020204" pitchFamily="34" charset="0"/>
              </a:rPr>
              <a:t>862  citas</a:t>
            </a:r>
            <a:r>
              <a:rPr lang="en-US" dirty="0" smtClean="0">
                <a:latin typeface="Trebuchet MS" panose="020B0603020202020204" pitchFamily="34" charset="0"/>
              </a:rPr>
              <a:t>]</a:t>
            </a:r>
          </a:p>
        </p:txBody>
      </p:sp>
      <p:sp>
        <p:nvSpPr>
          <p:cNvPr id="13" name="CuadroTexto 12"/>
          <p:cNvSpPr txBox="1"/>
          <p:nvPr/>
        </p:nvSpPr>
        <p:spPr>
          <a:xfrm>
            <a:off x="247891" y="3428572"/>
            <a:ext cx="1527899" cy="369332"/>
          </a:xfrm>
          <a:prstGeom prst="rect">
            <a:avLst/>
          </a:prstGeom>
          <a:noFill/>
        </p:spPr>
        <p:txBody>
          <a:bodyPr wrap="square" rtlCol="0">
            <a:spAutoFit/>
          </a:bodyPr>
          <a:lstStyle/>
          <a:p>
            <a:r>
              <a:rPr lang="en-US" dirty="0" smtClean="0">
                <a:latin typeface="Trebuchet MS" panose="020B0603020202020204" pitchFamily="34" charset="0"/>
              </a:rPr>
              <a:t>[</a:t>
            </a:r>
            <a:r>
              <a:rPr lang="es-MX" b="1" dirty="0" smtClean="0">
                <a:solidFill>
                  <a:srgbClr val="990000"/>
                </a:solidFill>
                <a:latin typeface="Trebuchet MS" panose="020B0603020202020204" pitchFamily="34" charset="0"/>
              </a:rPr>
              <a:t>1011 citas</a:t>
            </a:r>
            <a:r>
              <a:rPr lang="en-US" dirty="0" smtClean="0">
                <a:latin typeface="Trebuchet MS" panose="020B0603020202020204" pitchFamily="34" charset="0"/>
              </a:rPr>
              <a:t>]</a:t>
            </a:r>
          </a:p>
        </p:txBody>
      </p:sp>
      <p:sp>
        <p:nvSpPr>
          <p:cNvPr id="17" name="CuadroTexto 16"/>
          <p:cNvSpPr txBox="1"/>
          <p:nvPr/>
        </p:nvSpPr>
        <p:spPr>
          <a:xfrm>
            <a:off x="249485" y="2720162"/>
            <a:ext cx="1527899" cy="369332"/>
          </a:xfrm>
          <a:prstGeom prst="rect">
            <a:avLst/>
          </a:prstGeom>
          <a:noFill/>
        </p:spPr>
        <p:txBody>
          <a:bodyPr wrap="square" rtlCol="0">
            <a:spAutoFit/>
          </a:bodyPr>
          <a:lstStyle/>
          <a:p>
            <a:r>
              <a:rPr lang="en-US" dirty="0" smtClean="0">
                <a:latin typeface="Trebuchet MS" panose="020B0603020202020204" pitchFamily="34" charset="0"/>
              </a:rPr>
              <a:t>[</a:t>
            </a:r>
            <a:r>
              <a:rPr lang="es-MX" b="1" dirty="0" smtClean="0">
                <a:solidFill>
                  <a:srgbClr val="990000"/>
                </a:solidFill>
                <a:latin typeface="Trebuchet MS" panose="020B0603020202020204" pitchFamily="34" charset="0"/>
              </a:rPr>
              <a:t>1042 citas</a:t>
            </a:r>
            <a:r>
              <a:rPr lang="en-US" dirty="0" smtClean="0">
                <a:latin typeface="Trebuchet MS" panose="020B0603020202020204" pitchFamily="34" charset="0"/>
              </a:rPr>
              <a:t>]</a:t>
            </a:r>
          </a:p>
        </p:txBody>
      </p:sp>
      <p:sp>
        <p:nvSpPr>
          <p:cNvPr id="14" name="CuadroTexto 13"/>
          <p:cNvSpPr txBox="1"/>
          <p:nvPr/>
        </p:nvSpPr>
        <p:spPr>
          <a:xfrm>
            <a:off x="247621" y="2006008"/>
            <a:ext cx="1527899" cy="369332"/>
          </a:xfrm>
          <a:prstGeom prst="rect">
            <a:avLst/>
          </a:prstGeom>
          <a:noFill/>
        </p:spPr>
        <p:txBody>
          <a:bodyPr wrap="square" rtlCol="0">
            <a:spAutoFit/>
          </a:bodyPr>
          <a:lstStyle/>
          <a:p>
            <a:r>
              <a:rPr lang="en-US" dirty="0" smtClean="0">
                <a:latin typeface="Trebuchet MS" panose="020B0603020202020204" pitchFamily="34" charset="0"/>
              </a:rPr>
              <a:t>[</a:t>
            </a:r>
            <a:r>
              <a:rPr lang="es-MX" b="1" dirty="0" smtClean="0">
                <a:solidFill>
                  <a:srgbClr val="990000"/>
                </a:solidFill>
                <a:latin typeface="Trebuchet MS" panose="020B0603020202020204" pitchFamily="34" charset="0"/>
              </a:rPr>
              <a:t>1072 citas</a:t>
            </a:r>
            <a:r>
              <a:rPr lang="en-US" dirty="0" smtClean="0">
                <a:latin typeface="Trebuchet MS" panose="020B0603020202020204" pitchFamily="34" charset="0"/>
              </a:rPr>
              <a:t>]</a:t>
            </a:r>
          </a:p>
        </p:txBody>
      </p:sp>
      <p:sp>
        <p:nvSpPr>
          <p:cNvPr id="15" name="CuadroTexto 14"/>
          <p:cNvSpPr txBox="1"/>
          <p:nvPr/>
        </p:nvSpPr>
        <p:spPr>
          <a:xfrm>
            <a:off x="247867" y="4924542"/>
            <a:ext cx="1488605" cy="369332"/>
          </a:xfrm>
          <a:prstGeom prst="rect">
            <a:avLst/>
          </a:prstGeom>
          <a:noFill/>
        </p:spPr>
        <p:txBody>
          <a:bodyPr wrap="square" rtlCol="0">
            <a:spAutoFit/>
          </a:bodyPr>
          <a:lstStyle/>
          <a:p>
            <a:r>
              <a:rPr lang="en-US" dirty="0" smtClean="0">
                <a:latin typeface="Trebuchet MS" panose="020B0603020202020204" pitchFamily="34" charset="0"/>
              </a:rPr>
              <a:t>[</a:t>
            </a:r>
            <a:r>
              <a:rPr lang="es-MX" b="1" dirty="0" smtClean="0">
                <a:solidFill>
                  <a:srgbClr val="990000"/>
                </a:solidFill>
                <a:latin typeface="Trebuchet MS" panose="020B0603020202020204" pitchFamily="34" charset="0"/>
              </a:rPr>
              <a:t>460  citas</a:t>
            </a:r>
            <a:r>
              <a:rPr lang="en-US" dirty="0" smtClean="0">
                <a:latin typeface="Trebuchet MS" panose="020B0603020202020204" pitchFamily="34" charset="0"/>
              </a:rPr>
              <a:t>]</a:t>
            </a:r>
          </a:p>
        </p:txBody>
      </p:sp>
    </p:spTree>
    <p:extLst>
      <p:ext uri="{BB962C8B-B14F-4D97-AF65-F5344CB8AC3E}">
        <p14:creationId xmlns:p14="http://schemas.microsoft.com/office/powerpoint/2010/main" val="71056616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pic>
        <p:nvPicPr>
          <p:cNvPr id="6" name="Imagen 5"/>
          <p:cNvPicPr/>
          <p:nvPr/>
        </p:nvPicPr>
        <p:blipFill rotWithShape="1">
          <a:blip r:embed="rId3">
            <a:extLst>
              <a:ext uri="{28A0092B-C50C-407E-A947-70E740481C1C}">
                <a14:useLocalDpi xmlns:a14="http://schemas.microsoft.com/office/drawing/2010/main" val="0"/>
              </a:ext>
            </a:extLst>
          </a:blip>
          <a:srcRect t="1" r="32064" b="-10136"/>
          <a:stretch/>
        </p:blipFill>
        <p:spPr bwMode="auto">
          <a:xfrm>
            <a:off x="110789" y="112160"/>
            <a:ext cx="3410075" cy="757457"/>
          </a:xfrm>
          <a:prstGeom prst="rect">
            <a:avLst/>
          </a:prstGeom>
          <a:noFill/>
          <a:ln>
            <a:noFill/>
          </a:ln>
          <a:extLst>
            <a:ext uri="{53640926-AAD7-44D8-BBD7-CCE9431645EC}">
              <a14:shadowObscured xmlns:a14="http://schemas.microsoft.com/office/drawing/2010/main"/>
            </a:ext>
          </a:extLst>
        </p:spPr>
      </p:pic>
      <p:pic>
        <p:nvPicPr>
          <p:cNvPr id="7" name="Imagen 6" descr="Resultado de imagen para instituto tecnologico de orizaba logo"/>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251537" y="77977"/>
            <a:ext cx="779082" cy="805180"/>
          </a:xfrm>
          <a:prstGeom prst="rect">
            <a:avLst/>
          </a:prstGeom>
          <a:noFill/>
          <a:ln>
            <a:noFill/>
          </a:ln>
        </p:spPr>
      </p:pic>
      <p:pic>
        <p:nvPicPr>
          <p:cNvPr id="8" name="Imagen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74675" y="125347"/>
            <a:ext cx="1619264" cy="740391"/>
          </a:xfrm>
          <a:prstGeom prst="rect">
            <a:avLst/>
          </a:prstGeom>
        </p:spPr>
      </p:pic>
      <p:sp>
        <p:nvSpPr>
          <p:cNvPr id="9" name="Rectángulo 8"/>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10" name="Title 1"/>
          <p:cNvSpPr txBox="1">
            <a:spLocks/>
          </p:cNvSpPr>
          <p:nvPr/>
        </p:nvSpPr>
        <p:spPr>
          <a:xfrm>
            <a:off x="911424" y="1003473"/>
            <a:ext cx="9289032" cy="40930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solidFill>
                  <a:srgbClr val="08489E"/>
                </a:solidFill>
                <a:latin typeface="Trebuchet MS" panose="020B0603020202020204" pitchFamily="34" charset="0"/>
              </a:rPr>
              <a:t>Revisión de alcance 1/5</a:t>
            </a:r>
            <a:endParaRPr lang="en-US" sz="2400" b="1" dirty="0">
              <a:solidFill>
                <a:srgbClr val="08489E"/>
              </a:solidFill>
              <a:latin typeface="Trebuchet MS" panose="020B0603020202020204" pitchFamily="34" charset="0"/>
            </a:endParaRPr>
          </a:p>
        </p:txBody>
      </p:sp>
      <p:sp>
        <p:nvSpPr>
          <p:cNvPr id="12" name="3 Rectángulo"/>
          <p:cNvSpPr/>
          <p:nvPr/>
        </p:nvSpPr>
        <p:spPr>
          <a:xfrm>
            <a:off x="911423" y="1585235"/>
            <a:ext cx="6912769" cy="4051878"/>
          </a:xfrm>
          <a:prstGeom prst="rect">
            <a:avLst/>
          </a:prstGeom>
        </p:spPr>
        <p:txBody>
          <a:bodyPr wrap="square">
            <a:spAutoFit/>
          </a:bodyPr>
          <a:lstStyle/>
          <a:p>
            <a:pPr>
              <a:lnSpc>
                <a:spcPct val="115000"/>
              </a:lnSpc>
              <a:spcAft>
                <a:spcPts val="1000"/>
              </a:spcAft>
            </a:pPr>
            <a:r>
              <a:rPr lang="es-ES" sz="2000" b="1" dirty="0">
                <a:solidFill>
                  <a:srgbClr val="3399FF"/>
                </a:solidFill>
                <a:latin typeface="Trebuchet MS" panose="020B0603020202020204" pitchFamily="34" charset="0"/>
                <a:ea typeface="Times New Roman"/>
                <a:cs typeface="Calibri"/>
              </a:rPr>
              <a:t>Definición</a:t>
            </a:r>
          </a:p>
          <a:p>
            <a:pPr algn="just">
              <a:lnSpc>
                <a:spcPct val="115000"/>
              </a:lnSpc>
              <a:spcAft>
                <a:spcPts val="1000"/>
              </a:spcAft>
            </a:pPr>
            <a:r>
              <a:rPr lang="es-ES" dirty="0">
                <a:latin typeface="Trebuchet MS" panose="020B0603020202020204" pitchFamily="34" charset="0"/>
                <a:ea typeface="Times New Roman"/>
                <a:cs typeface="Times New Roman"/>
              </a:rPr>
              <a:t>La </a:t>
            </a:r>
            <a:r>
              <a:rPr lang="es-ES" b="1" dirty="0">
                <a:latin typeface="Trebuchet MS" panose="020B0603020202020204" pitchFamily="34" charset="0"/>
                <a:ea typeface="Times New Roman"/>
                <a:cs typeface="Times New Roman"/>
              </a:rPr>
              <a:t>Revisión de alcance </a:t>
            </a:r>
            <a:r>
              <a:rPr lang="es-ES" dirty="0">
                <a:latin typeface="Trebuchet MS" panose="020B0603020202020204" pitchFamily="34" charset="0"/>
                <a:ea typeface="Times New Roman"/>
                <a:cs typeface="Times New Roman"/>
              </a:rPr>
              <a:t>presenta una visión general amplia de la evidencia relacionada con un tema, independientemente de la calidad del estudio, y son útiles al examinar áreas que están surgiendo, para aclarar conceptos clave e identificar </a:t>
            </a:r>
            <a:r>
              <a:rPr lang="es-ES" dirty="0" smtClean="0">
                <a:latin typeface="Trebuchet MS" panose="020B0603020202020204" pitchFamily="34" charset="0"/>
                <a:ea typeface="Times New Roman"/>
                <a:cs typeface="Times New Roman"/>
              </a:rPr>
              <a:t>brechas. Tienen una </a:t>
            </a:r>
            <a:r>
              <a:rPr lang="es-ES" dirty="0">
                <a:latin typeface="Trebuchet MS" panose="020B0603020202020204" pitchFamily="34" charset="0"/>
                <a:ea typeface="Times New Roman"/>
                <a:cs typeface="Times New Roman"/>
              </a:rPr>
              <a:t>gran utilidad para sintetizar evidencia de investigación y a menudo se utilizan para </a:t>
            </a:r>
            <a:r>
              <a:rPr lang="es-ES" dirty="0" smtClean="0">
                <a:latin typeface="Trebuchet MS" panose="020B0603020202020204" pitchFamily="34" charset="0"/>
                <a:ea typeface="Times New Roman"/>
                <a:cs typeface="Times New Roman"/>
              </a:rPr>
              <a:t>[clasificar </a:t>
            </a:r>
            <a:r>
              <a:rPr lang="es-ES" dirty="0">
                <a:latin typeface="Trebuchet MS" panose="020B0603020202020204" pitchFamily="34" charset="0"/>
                <a:ea typeface="Times New Roman"/>
                <a:cs typeface="Times New Roman"/>
              </a:rPr>
              <a:t>o agrupar] la literatura existente en un campo dado en términos de su naturaleza, características y </a:t>
            </a:r>
            <a:r>
              <a:rPr lang="es-ES" dirty="0" smtClean="0">
                <a:latin typeface="Trebuchet MS" panose="020B0603020202020204" pitchFamily="34" charset="0"/>
                <a:ea typeface="Times New Roman"/>
                <a:cs typeface="Times New Roman"/>
              </a:rPr>
              <a:t>volumen. </a:t>
            </a:r>
            <a:r>
              <a:rPr lang="es-ES" b="1" dirty="0" smtClean="0">
                <a:latin typeface="Trebuchet MS" panose="020B0603020202020204" pitchFamily="34" charset="0"/>
                <a:ea typeface="Times New Roman"/>
                <a:cs typeface="Times New Roman"/>
              </a:rPr>
              <a:t>Levac, </a:t>
            </a:r>
            <a:r>
              <a:rPr lang="es-MX" b="1" dirty="0" smtClean="0">
                <a:latin typeface="Trebuchet MS" panose="020B0603020202020204" pitchFamily="34" charset="0"/>
                <a:ea typeface="Times New Roman"/>
                <a:cs typeface="Times New Roman"/>
              </a:rPr>
              <a:t>Colquhoun</a:t>
            </a:r>
            <a:r>
              <a:rPr lang="es-MX" b="1" dirty="0">
                <a:latin typeface="Trebuchet MS" panose="020B0603020202020204" pitchFamily="34" charset="0"/>
                <a:ea typeface="Times New Roman"/>
                <a:cs typeface="Times New Roman"/>
              </a:rPr>
              <a:t> </a:t>
            </a:r>
            <a:r>
              <a:rPr lang="es-MX" b="1" dirty="0" smtClean="0">
                <a:latin typeface="Trebuchet MS" panose="020B0603020202020204" pitchFamily="34" charset="0"/>
                <a:ea typeface="Times New Roman"/>
                <a:cs typeface="Times New Roman"/>
              </a:rPr>
              <a:t>&amp;  O’Brien</a:t>
            </a:r>
            <a:r>
              <a:rPr lang="es-MX" b="1" dirty="0">
                <a:latin typeface="Trebuchet MS" panose="020B0603020202020204" pitchFamily="34" charset="0"/>
                <a:ea typeface="Times New Roman"/>
                <a:cs typeface="Times New Roman"/>
              </a:rPr>
              <a:t> </a:t>
            </a:r>
            <a:r>
              <a:rPr lang="es-ES" b="1" dirty="0">
                <a:latin typeface="Trebuchet MS" panose="020B0603020202020204" pitchFamily="34" charset="0"/>
                <a:ea typeface="Times New Roman"/>
                <a:cs typeface="Times New Roman"/>
              </a:rPr>
              <a:t>(2010)</a:t>
            </a:r>
            <a:r>
              <a:rPr lang="es-ES" b="1" baseline="30000" dirty="0">
                <a:latin typeface="Trebuchet MS" panose="020B0603020202020204" pitchFamily="34" charset="0"/>
                <a:ea typeface="Times New Roman"/>
                <a:cs typeface="Times New Roman"/>
              </a:rPr>
              <a:t>3</a:t>
            </a:r>
            <a:endParaRPr lang="es-ES" b="1" dirty="0">
              <a:latin typeface="Trebuchet MS" panose="020B0603020202020204" pitchFamily="34" charset="0"/>
              <a:ea typeface="Times New Roman"/>
              <a:cs typeface="Times New Roman"/>
            </a:endParaRPr>
          </a:p>
          <a:p>
            <a:pPr algn="just">
              <a:lnSpc>
                <a:spcPct val="115000"/>
              </a:lnSpc>
              <a:spcAft>
                <a:spcPts val="1000"/>
              </a:spcAft>
            </a:pPr>
            <a:endParaRPr lang="es-ES" sz="2000" dirty="0">
              <a:latin typeface="Trebuchet MS" panose="020B0603020202020204" pitchFamily="34" charset="0"/>
              <a:ea typeface="Times New Roman"/>
              <a:cs typeface="Times New Roman"/>
            </a:endParaRPr>
          </a:p>
        </p:txBody>
      </p:sp>
      <p:pic>
        <p:nvPicPr>
          <p:cNvPr id="3" name="Imagen 2"/>
          <p:cNvPicPr>
            <a:picLocks noChangeAspect="1"/>
          </p:cNvPicPr>
          <p:nvPr/>
        </p:nvPicPr>
        <p:blipFill rotWithShape="1">
          <a:blip r:embed="rId6">
            <a:extLst>
              <a:ext uri="{28A0092B-C50C-407E-A947-70E740481C1C}">
                <a14:useLocalDpi xmlns:a14="http://schemas.microsoft.com/office/drawing/2010/main" val="0"/>
              </a:ext>
            </a:extLst>
          </a:blip>
          <a:srcRect l="7408" r="11095"/>
          <a:stretch/>
        </p:blipFill>
        <p:spPr>
          <a:xfrm>
            <a:off x="8256240" y="1989349"/>
            <a:ext cx="3096344" cy="2849547"/>
          </a:xfrm>
          <a:prstGeom prst="rect">
            <a:avLst/>
          </a:prstGeom>
          <a:ln>
            <a:noFill/>
          </a:ln>
          <a:effectLst>
            <a:outerShdw blurRad="292100" dist="139700" dir="2700000" algn="tl" rotWithShape="0">
              <a:srgbClr val="333333">
                <a:alpha val="65000"/>
              </a:srgbClr>
            </a:outerShdw>
          </a:effectLst>
        </p:spPr>
      </p:pic>
      <p:sp>
        <p:nvSpPr>
          <p:cNvPr id="11" name="Marcador de pie de página 1"/>
          <p:cNvSpPr txBox="1">
            <a:spLocks/>
          </p:cNvSpPr>
          <p:nvPr/>
        </p:nvSpPr>
        <p:spPr>
          <a:xfrm>
            <a:off x="911423" y="5733256"/>
            <a:ext cx="10282516" cy="576064"/>
          </a:xfrm>
          <a:prstGeom prst="rect">
            <a:avLst/>
          </a:prstGeom>
        </p:spPr>
        <p:txBody>
          <a:bodyPr vert="horz" lIns="91440" tIns="45720" rIns="91440" bIns="45720" rtlCol="0" anchor="ctr"/>
          <a:lstStyle>
            <a:defPPr>
              <a:defRPr lang="es-MX"/>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endParaRPr lang="en-US" b="1" dirty="0" smtClean="0">
              <a:solidFill>
                <a:schemeClr val="tx1"/>
              </a:solidFill>
            </a:endParaRPr>
          </a:p>
          <a:p>
            <a:pPr algn="just"/>
            <a:endParaRPr lang="en-US" b="1" dirty="0" smtClean="0">
              <a:solidFill>
                <a:schemeClr val="tx1"/>
              </a:solidFill>
            </a:endParaRPr>
          </a:p>
          <a:p>
            <a:pPr algn="just"/>
            <a:endParaRPr lang="en-US" b="1" dirty="0" smtClean="0">
              <a:solidFill>
                <a:schemeClr val="tx1"/>
              </a:solidFill>
            </a:endParaRPr>
          </a:p>
          <a:p>
            <a:pPr algn="just"/>
            <a:r>
              <a:rPr lang="en-US" sz="1100" b="1" dirty="0" smtClean="0">
                <a:solidFill>
                  <a:schemeClr val="tx1"/>
                </a:solidFill>
                <a:latin typeface="Arial" panose="020B0604020202020204" pitchFamily="34" charset="0"/>
                <a:cs typeface="Arial" panose="020B0604020202020204" pitchFamily="34" charset="0"/>
              </a:rPr>
              <a:t>3. </a:t>
            </a:r>
            <a:r>
              <a:rPr lang="en-US" sz="1100" b="1" dirty="0">
                <a:solidFill>
                  <a:schemeClr val="tx1"/>
                </a:solidFill>
                <a:latin typeface="Arial" panose="020B0604020202020204" pitchFamily="34" charset="0"/>
                <a:cs typeface="Arial" panose="020B0604020202020204" pitchFamily="34" charset="0"/>
              </a:rPr>
              <a:t>Levac, D., Colquhoun, H., &amp; O'Brien, K. K. (2010). Scoping studies: advancing the </a:t>
            </a:r>
            <a:r>
              <a:rPr lang="en-US" sz="1100" b="1" dirty="0" smtClean="0">
                <a:solidFill>
                  <a:schemeClr val="tx1"/>
                </a:solidFill>
                <a:latin typeface="Arial" panose="020B0604020202020204" pitchFamily="34" charset="0"/>
                <a:cs typeface="Arial" panose="020B0604020202020204" pitchFamily="34" charset="0"/>
              </a:rPr>
              <a:t>methodology, Implementation science, Volume 5, Issue 1</a:t>
            </a:r>
            <a:r>
              <a:rPr lang="en-US" sz="1100" b="1" dirty="0">
                <a:solidFill>
                  <a:schemeClr val="tx1"/>
                </a:solidFill>
                <a:latin typeface="Arial" panose="020B0604020202020204" pitchFamily="34" charset="0"/>
                <a:cs typeface="Arial" panose="020B0604020202020204" pitchFamily="34" charset="0"/>
              </a:rPr>
              <a:t>, Page 69, ISSN </a:t>
            </a:r>
            <a:r>
              <a:rPr lang="en-US" sz="1100" b="1" dirty="0" smtClean="0">
                <a:solidFill>
                  <a:schemeClr val="tx1"/>
                </a:solidFill>
                <a:latin typeface="Arial" panose="020B0604020202020204" pitchFamily="34" charset="0"/>
                <a:cs typeface="Arial" panose="020B0604020202020204" pitchFamily="34" charset="0"/>
              </a:rPr>
              <a:t>1748-5908, </a:t>
            </a:r>
            <a:r>
              <a:rPr lang="en-US" sz="1100" b="1" dirty="0" smtClean="0">
                <a:solidFill>
                  <a:schemeClr val="tx1"/>
                </a:solidFill>
                <a:latin typeface="Arial" panose="020B0604020202020204" pitchFamily="34" charset="0"/>
                <a:cs typeface="Arial" panose="020B0604020202020204" pitchFamily="34" charset="0"/>
                <a:hlinkClick r:id="rId7"/>
              </a:rPr>
              <a:t>https</a:t>
            </a:r>
            <a:r>
              <a:rPr lang="en-US" sz="1100" b="1" dirty="0">
                <a:solidFill>
                  <a:schemeClr val="tx1"/>
                </a:solidFill>
                <a:latin typeface="Arial" panose="020B0604020202020204" pitchFamily="34" charset="0"/>
                <a:cs typeface="Arial" panose="020B0604020202020204" pitchFamily="34" charset="0"/>
                <a:hlinkClick r:id="rId7"/>
              </a:rPr>
              <a:t>://</a:t>
            </a:r>
            <a:r>
              <a:rPr lang="en-US" sz="1100" b="1" dirty="0" smtClean="0">
                <a:solidFill>
                  <a:schemeClr val="tx1"/>
                </a:solidFill>
                <a:latin typeface="Arial" panose="020B0604020202020204" pitchFamily="34" charset="0"/>
                <a:cs typeface="Arial" panose="020B0604020202020204" pitchFamily="34" charset="0"/>
                <a:hlinkClick r:id="rId7"/>
              </a:rPr>
              <a:t>doi.org/10.1186/1748-5908-5-69</a:t>
            </a:r>
            <a:endParaRPr lang="en-US" sz="1100" b="1" dirty="0" smtClean="0">
              <a:solidFill>
                <a:schemeClr val="tx1"/>
              </a:solidFill>
              <a:latin typeface="Arial" panose="020B0604020202020204" pitchFamily="34" charset="0"/>
              <a:cs typeface="Arial" panose="020B0604020202020204" pitchFamily="34" charset="0"/>
            </a:endParaRPr>
          </a:p>
          <a:p>
            <a:pPr algn="l"/>
            <a:endParaRPr lang="en-US" sz="1100" b="1" dirty="0" smtClean="0">
              <a:solidFill>
                <a:schemeClr val="tx1"/>
              </a:solidFill>
              <a:latin typeface="Arial" panose="020B0604020202020204" pitchFamily="34" charset="0"/>
              <a:cs typeface="Arial" panose="020B0604020202020204" pitchFamily="34" charset="0"/>
            </a:endParaRPr>
          </a:p>
          <a:p>
            <a:pPr algn="just"/>
            <a:endParaRPr lang="en-US" sz="1100" b="1" dirty="0" smtClean="0">
              <a:solidFill>
                <a:schemeClr val="tx1"/>
              </a:solidFill>
              <a:latin typeface="Arial" panose="020B0604020202020204" pitchFamily="34" charset="0"/>
              <a:cs typeface="Arial" panose="020B0604020202020204" pitchFamily="34" charset="0"/>
            </a:endParaRPr>
          </a:p>
          <a:p>
            <a:pPr algn="just"/>
            <a:endParaRPr lang="en-US" b="1" dirty="0" smtClean="0">
              <a:solidFill>
                <a:schemeClr val="tx1"/>
              </a:solidFill>
            </a:endParaRPr>
          </a:p>
          <a:p>
            <a:pPr algn="just"/>
            <a:endParaRPr lang="es-MX" dirty="0">
              <a:solidFill>
                <a:schemeClr val="tx1"/>
              </a:solidFill>
            </a:endParaRPr>
          </a:p>
        </p:txBody>
      </p:sp>
    </p:spTree>
    <p:extLst>
      <p:ext uri="{BB962C8B-B14F-4D97-AF65-F5344CB8AC3E}">
        <p14:creationId xmlns:p14="http://schemas.microsoft.com/office/powerpoint/2010/main" val="129412424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pic>
        <p:nvPicPr>
          <p:cNvPr id="6" name="Imagen 5"/>
          <p:cNvPicPr/>
          <p:nvPr/>
        </p:nvPicPr>
        <p:blipFill rotWithShape="1">
          <a:blip r:embed="rId2">
            <a:extLst>
              <a:ext uri="{28A0092B-C50C-407E-A947-70E740481C1C}">
                <a14:useLocalDpi xmlns:a14="http://schemas.microsoft.com/office/drawing/2010/main" val="0"/>
              </a:ext>
            </a:extLst>
          </a:blip>
          <a:srcRect t="1" r="32064" b="-10136"/>
          <a:stretch/>
        </p:blipFill>
        <p:spPr bwMode="auto">
          <a:xfrm>
            <a:off x="110789" y="112160"/>
            <a:ext cx="3410075" cy="757457"/>
          </a:xfrm>
          <a:prstGeom prst="rect">
            <a:avLst/>
          </a:prstGeom>
          <a:noFill/>
          <a:ln>
            <a:noFill/>
          </a:ln>
          <a:extLst>
            <a:ext uri="{53640926-AAD7-44D8-BBD7-CCE9431645EC}">
              <a14:shadowObscured xmlns:a14="http://schemas.microsoft.com/office/drawing/2010/main"/>
            </a:ext>
          </a:extLst>
        </p:spPr>
      </p:pic>
      <p:pic>
        <p:nvPicPr>
          <p:cNvPr id="7" name="Imagen 6" descr="Resultado de imagen para instituto tecnologico de orizaba logo"/>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51537" y="77977"/>
            <a:ext cx="779082" cy="805180"/>
          </a:xfrm>
          <a:prstGeom prst="rect">
            <a:avLst/>
          </a:prstGeom>
          <a:noFill/>
          <a:ln>
            <a:noFill/>
          </a:ln>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74675" y="125347"/>
            <a:ext cx="1619264" cy="740391"/>
          </a:xfrm>
          <a:prstGeom prst="rect">
            <a:avLst/>
          </a:prstGeom>
        </p:spPr>
      </p:pic>
      <p:sp>
        <p:nvSpPr>
          <p:cNvPr id="9" name="Rectángulo 8"/>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10" name="Title 1"/>
          <p:cNvSpPr txBox="1">
            <a:spLocks/>
          </p:cNvSpPr>
          <p:nvPr/>
        </p:nvSpPr>
        <p:spPr>
          <a:xfrm>
            <a:off x="911424" y="1003473"/>
            <a:ext cx="9289032" cy="40930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solidFill>
                  <a:srgbClr val="08489E"/>
                </a:solidFill>
                <a:latin typeface="Trebuchet MS" panose="020B0603020202020204" pitchFamily="34" charset="0"/>
              </a:rPr>
              <a:t>Revisión de alcance 2/5</a:t>
            </a:r>
            <a:endParaRPr lang="en-US" sz="2400" b="1" dirty="0">
              <a:solidFill>
                <a:srgbClr val="08489E"/>
              </a:solidFill>
              <a:latin typeface="Trebuchet MS" panose="020B0603020202020204" pitchFamily="34" charset="0"/>
            </a:endParaRPr>
          </a:p>
        </p:txBody>
      </p:sp>
      <p:sp>
        <p:nvSpPr>
          <p:cNvPr id="11" name="3 Rectángulo"/>
          <p:cNvSpPr/>
          <p:nvPr/>
        </p:nvSpPr>
        <p:spPr>
          <a:xfrm>
            <a:off x="911423" y="1412776"/>
            <a:ext cx="10340113" cy="3289106"/>
          </a:xfrm>
          <a:prstGeom prst="rect">
            <a:avLst/>
          </a:prstGeom>
        </p:spPr>
        <p:txBody>
          <a:bodyPr wrap="square">
            <a:spAutoFit/>
          </a:bodyPr>
          <a:lstStyle/>
          <a:p>
            <a:pPr>
              <a:lnSpc>
                <a:spcPct val="115000"/>
              </a:lnSpc>
              <a:spcAft>
                <a:spcPts val="1000"/>
              </a:spcAft>
            </a:pPr>
            <a:r>
              <a:rPr lang="es-ES" sz="2000" b="1" dirty="0">
                <a:solidFill>
                  <a:srgbClr val="3399FF"/>
                </a:solidFill>
                <a:latin typeface="Trebuchet MS" panose="020B0603020202020204" pitchFamily="34" charset="0"/>
                <a:ea typeface="Times New Roman"/>
                <a:cs typeface="Calibri"/>
              </a:rPr>
              <a:t>Marco metodológico propuesto por Arksey </a:t>
            </a:r>
            <a:r>
              <a:rPr lang="es-ES" sz="2000" b="1" dirty="0" smtClean="0">
                <a:solidFill>
                  <a:srgbClr val="3399FF"/>
                </a:solidFill>
                <a:latin typeface="Trebuchet MS" panose="020B0603020202020204" pitchFamily="34" charset="0"/>
                <a:ea typeface="Times New Roman"/>
                <a:cs typeface="Calibri"/>
              </a:rPr>
              <a:t>&amp; O'Malley </a:t>
            </a:r>
            <a:r>
              <a:rPr lang="es-ES" sz="2000" b="1" dirty="0">
                <a:solidFill>
                  <a:srgbClr val="3399FF"/>
                </a:solidFill>
                <a:latin typeface="Trebuchet MS" panose="020B0603020202020204" pitchFamily="34" charset="0"/>
                <a:ea typeface="Times New Roman"/>
                <a:cs typeface="Calibri"/>
              </a:rPr>
              <a:t>(</a:t>
            </a:r>
            <a:r>
              <a:rPr lang="es-ES" sz="2000" b="1" dirty="0" smtClean="0">
                <a:solidFill>
                  <a:srgbClr val="3399FF"/>
                </a:solidFill>
                <a:latin typeface="Trebuchet MS" panose="020B0603020202020204" pitchFamily="34" charset="0"/>
                <a:ea typeface="Times New Roman"/>
                <a:cs typeface="Calibri"/>
              </a:rPr>
              <a:t>2005)</a:t>
            </a:r>
            <a:r>
              <a:rPr lang="es-ES" b="1" baseline="30000" dirty="0">
                <a:latin typeface="Trebuchet MS" panose="020B0603020202020204" pitchFamily="34" charset="0"/>
                <a:ea typeface="Times New Roman"/>
                <a:cs typeface="Calibri"/>
              </a:rPr>
              <a:t>4</a:t>
            </a:r>
            <a:endParaRPr lang="es-ES" b="1" baseline="30000" dirty="0" smtClean="0">
              <a:latin typeface="Trebuchet MS" panose="020B0603020202020204" pitchFamily="34" charset="0"/>
              <a:ea typeface="Times New Roman"/>
              <a:cs typeface="Calibri"/>
            </a:endParaRPr>
          </a:p>
          <a:p>
            <a:pPr>
              <a:lnSpc>
                <a:spcPct val="115000"/>
              </a:lnSpc>
              <a:spcAft>
                <a:spcPts val="1000"/>
              </a:spcAft>
            </a:pPr>
            <a:r>
              <a:rPr lang="es-ES" sz="1600" b="1" dirty="0" smtClean="0">
                <a:solidFill>
                  <a:srgbClr val="A50021"/>
                </a:solidFill>
                <a:latin typeface="Trebuchet MS" panose="020B0603020202020204" pitchFamily="34" charset="0"/>
                <a:ea typeface="Times New Roman"/>
                <a:cs typeface="Calibri"/>
              </a:rPr>
              <a:t>[7565 </a:t>
            </a:r>
            <a:r>
              <a:rPr lang="es-ES" sz="1600" b="1" dirty="0">
                <a:solidFill>
                  <a:srgbClr val="A50021"/>
                </a:solidFill>
                <a:latin typeface="Trebuchet MS" panose="020B0603020202020204" pitchFamily="34" charset="0"/>
                <a:ea typeface="Times New Roman"/>
                <a:cs typeface="Calibri"/>
              </a:rPr>
              <a:t>citas hasta Junio 2020]</a:t>
            </a:r>
          </a:p>
          <a:p>
            <a:pPr marL="342900" indent="-342900">
              <a:spcAft>
                <a:spcPts val="1000"/>
              </a:spcAft>
              <a:buClr>
                <a:srgbClr val="3399FF"/>
              </a:buClr>
              <a:buFont typeface="+mj-lt"/>
              <a:buAutoNum type="arabicPeriod"/>
            </a:pPr>
            <a:r>
              <a:rPr lang="es-ES" dirty="0">
                <a:latin typeface="Trebuchet MS" panose="020B0603020202020204" pitchFamily="34" charset="0"/>
              </a:rPr>
              <a:t>Identificar </a:t>
            </a:r>
            <a:r>
              <a:rPr lang="es-ES" dirty="0" smtClean="0">
                <a:latin typeface="Trebuchet MS" panose="020B0603020202020204" pitchFamily="34" charset="0"/>
              </a:rPr>
              <a:t>la pregunta </a:t>
            </a:r>
            <a:r>
              <a:rPr lang="es-ES" dirty="0">
                <a:latin typeface="Trebuchet MS" panose="020B0603020202020204" pitchFamily="34" charset="0"/>
              </a:rPr>
              <a:t>de investigación</a:t>
            </a:r>
          </a:p>
          <a:p>
            <a:pPr marL="342900" indent="-342900">
              <a:spcAft>
                <a:spcPts val="1000"/>
              </a:spcAft>
              <a:buClr>
                <a:srgbClr val="3399FF"/>
              </a:buClr>
              <a:buFont typeface="+mj-lt"/>
              <a:buAutoNum type="arabicPeriod"/>
            </a:pPr>
            <a:r>
              <a:rPr lang="es-ES" dirty="0">
                <a:latin typeface="Trebuchet MS" panose="020B0603020202020204" pitchFamily="34" charset="0"/>
              </a:rPr>
              <a:t>Identificar los estudios relevantes</a:t>
            </a:r>
          </a:p>
          <a:p>
            <a:pPr marL="342900" indent="-342900">
              <a:spcAft>
                <a:spcPts val="1000"/>
              </a:spcAft>
              <a:buClr>
                <a:srgbClr val="3399FF"/>
              </a:buClr>
              <a:buFont typeface="+mj-lt"/>
              <a:buAutoNum type="arabicPeriod"/>
            </a:pPr>
            <a:r>
              <a:rPr lang="es-ES" dirty="0">
                <a:latin typeface="Trebuchet MS" panose="020B0603020202020204" pitchFamily="34" charset="0"/>
              </a:rPr>
              <a:t>Seleccionar los estudios</a:t>
            </a:r>
          </a:p>
          <a:p>
            <a:pPr marL="342900" indent="-342900">
              <a:spcAft>
                <a:spcPts val="1000"/>
              </a:spcAft>
              <a:buClr>
                <a:srgbClr val="3399FF"/>
              </a:buClr>
              <a:buFont typeface="+mj-lt"/>
              <a:buAutoNum type="arabicPeriod"/>
            </a:pPr>
            <a:r>
              <a:rPr lang="es-ES" dirty="0" smtClean="0">
                <a:latin typeface="Trebuchet MS" panose="020B0603020202020204" pitchFamily="34" charset="0"/>
              </a:rPr>
              <a:t>Categorizar</a:t>
            </a:r>
            <a:r>
              <a:rPr lang="es-ES" dirty="0" smtClean="0">
                <a:latin typeface="Trebuchet MS" panose="020B0603020202020204" pitchFamily="34" charset="0"/>
              </a:rPr>
              <a:t> </a:t>
            </a:r>
            <a:r>
              <a:rPr lang="es-ES" dirty="0">
                <a:latin typeface="Trebuchet MS" panose="020B0603020202020204" pitchFamily="34" charset="0"/>
              </a:rPr>
              <a:t>los datos</a:t>
            </a:r>
          </a:p>
          <a:p>
            <a:pPr marL="342900" indent="-342900">
              <a:spcAft>
                <a:spcPts val="1000"/>
              </a:spcAft>
              <a:buClr>
                <a:srgbClr val="3399FF"/>
              </a:buClr>
              <a:buFont typeface="+mj-lt"/>
              <a:buAutoNum type="arabicPeriod"/>
            </a:pPr>
            <a:r>
              <a:rPr lang="es-ES" dirty="0">
                <a:latin typeface="Trebuchet MS" panose="020B0603020202020204" pitchFamily="34" charset="0"/>
              </a:rPr>
              <a:t>Recopilar, resumir e informar </a:t>
            </a:r>
            <a:r>
              <a:rPr lang="es-ES" dirty="0" smtClean="0">
                <a:latin typeface="Trebuchet MS" panose="020B0603020202020204" pitchFamily="34" charset="0"/>
              </a:rPr>
              <a:t>los resultados</a:t>
            </a:r>
          </a:p>
          <a:p>
            <a:pPr marL="342900" indent="-342900">
              <a:spcAft>
                <a:spcPts val="1000"/>
              </a:spcAft>
              <a:buClr>
                <a:srgbClr val="3399FF"/>
              </a:buClr>
              <a:buFont typeface="+mj-lt"/>
              <a:buAutoNum type="arabicPeriod"/>
            </a:pPr>
            <a:r>
              <a:rPr lang="es-ES" dirty="0" smtClean="0">
                <a:latin typeface="Trebuchet MS" panose="020B0603020202020204" pitchFamily="34" charset="0"/>
              </a:rPr>
              <a:t>Consulta (opcional)</a:t>
            </a:r>
            <a:endParaRPr lang="es-ES" dirty="0" smtClean="0">
              <a:latin typeface="Trebuchet MS" panose="020B0603020202020204" pitchFamily="34" charset="0"/>
            </a:endParaRPr>
          </a:p>
        </p:txBody>
      </p:sp>
      <p:sp>
        <p:nvSpPr>
          <p:cNvPr id="13" name="Marcador de pie de página 1"/>
          <p:cNvSpPr txBox="1">
            <a:spLocks/>
          </p:cNvSpPr>
          <p:nvPr/>
        </p:nvSpPr>
        <p:spPr>
          <a:xfrm>
            <a:off x="911423" y="5733256"/>
            <a:ext cx="10282516" cy="576064"/>
          </a:xfrm>
          <a:prstGeom prst="rect">
            <a:avLst/>
          </a:prstGeom>
        </p:spPr>
        <p:txBody>
          <a:bodyPr vert="horz" lIns="91440" tIns="45720" rIns="91440" bIns="45720" rtlCol="0" anchor="ctr"/>
          <a:lstStyle>
            <a:defPPr>
              <a:defRPr lang="es-MX"/>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endParaRPr lang="en-US" b="1" dirty="0" smtClean="0">
              <a:solidFill>
                <a:schemeClr val="tx1"/>
              </a:solidFill>
            </a:endParaRPr>
          </a:p>
          <a:p>
            <a:pPr algn="just"/>
            <a:endParaRPr lang="en-US" b="1" dirty="0" smtClean="0">
              <a:solidFill>
                <a:schemeClr val="tx1"/>
              </a:solidFill>
            </a:endParaRPr>
          </a:p>
          <a:p>
            <a:pPr algn="just"/>
            <a:endParaRPr lang="en-US" b="1" dirty="0" smtClean="0">
              <a:solidFill>
                <a:schemeClr val="tx1"/>
              </a:solidFill>
            </a:endParaRPr>
          </a:p>
          <a:p>
            <a:pPr algn="just"/>
            <a:r>
              <a:rPr lang="en-US" sz="1100" b="1" dirty="0">
                <a:solidFill>
                  <a:schemeClr val="tx1"/>
                </a:solidFill>
                <a:latin typeface="Arial" panose="020B0604020202020204" pitchFamily="34" charset="0"/>
                <a:cs typeface="Arial" panose="020B0604020202020204" pitchFamily="34" charset="0"/>
              </a:rPr>
              <a:t>4</a:t>
            </a:r>
            <a:r>
              <a:rPr lang="en-US" sz="1100" b="1" dirty="0" smtClean="0">
                <a:solidFill>
                  <a:schemeClr val="tx1"/>
                </a:solidFill>
                <a:latin typeface="Arial" panose="020B0604020202020204" pitchFamily="34" charset="0"/>
                <a:cs typeface="Arial" panose="020B0604020202020204" pitchFamily="34" charset="0"/>
              </a:rPr>
              <a:t>. </a:t>
            </a:r>
            <a:r>
              <a:rPr lang="en-US" sz="1100" b="1" dirty="0">
                <a:solidFill>
                  <a:schemeClr val="tx1"/>
                </a:solidFill>
                <a:latin typeface="Arial" panose="020B0604020202020204" pitchFamily="34" charset="0"/>
                <a:cs typeface="Arial" panose="020B0604020202020204" pitchFamily="34" charset="0"/>
              </a:rPr>
              <a:t>Hilary Arksey &amp; Lisa </a:t>
            </a:r>
            <a:r>
              <a:rPr lang="en-US" sz="1100" b="1" dirty="0" smtClean="0">
                <a:solidFill>
                  <a:schemeClr val="tx1"/>
                </a:solidFill>
                <a:latin typeface="Arial" panose="020B0604020202020204" pitchFamily="34" charset="0"/>
                <a:cs typeface="Arial" panose="020B0604020202020204" pitchFamily="34" charset="0"/>
              </a:rPr>
              <a:t>O'Malley. (2005). Scoping </a:t>
            </a:r>
            <a:r>
              <a:rPr lang="en-US" sz="1100" b="1" dirty="0">
                <a:solidFill>
                  <a:schemeClr val="tx1"/>
                </a:solidFill>
                <a:latin typeface="Arial" panose="020B0604020202020204" pitchFamily="34" charset="0"/>
                <a:cs typeface="Arial" panose="020B0604020202020204" pitchFamily="34" charset="0"/>
              </a:rPr>
              <a:t>studies: towards a methodological framework, International Journal of Social Research Methodology</a:t>
            </a:r>
            <a:r>
              <a:rPr lang="en-US" sz="1100" b="1" dirty="0" smtClean="0">
                <a:solidFill>
                  <a:schemeClr val="tx1"/>
                </a:solidFill>
                <a:latin typeface="Arial" panose="020B0604020202020204" pitchFamily="34" charset="0"/>
                <a:cs typeface="Arial" panose="020B0604020202020204" pitchFamily="34" charset="0"/>
              </a:rPr>
              <a:t>, Volume 8, </a:t>
            </a:r>
            <a:r>
              <a:rPr lang="en-US" sz="1100" b="1" dirty="0">
                <a:solidFill>
                  <a:schemeClr val="tx1"/>
                </a:solidFill>
                <a:latin typeface="Arial" panose="020B0604020202020204" pitchFamily="34" charset="0"/>
                <a:cs typeface="Arial" panose="020B0604020202020204" pitchFamily="34" charset="0"/>
              </a:rPr>
              <a:t>Issue </a:t>
            </a:r>
            <a:r>
              <a:rPr lang="en-US" sz="1100" b="1" dirty="0" smtClean="0">
                <a:solidFill>
                  <a:schemeClr val="tx1"/>
                </a:solidFill>
                <a:latin typeface="Arial" panose="020B0604020202020204" pitchFamily="34" charset="0"/>
                <a:cs typeface="Arial" panose="020B0604020202020204" pitchFamily="34" charset="0"/>
              </a:rPr>
              <a:t>1, Pages 19-32, </a:t>
            </a:r>
            <a:r>
              <a:rPr lang="en-US" sz="1100" b="1" dirty="0">
                <a:solidFill>
                  <a:schemeClr val="tx1"/>
                </a:solidFill>
                <a:latin typeface="Arial" panose="020B0604020202020204" pitchFamily="34" charset="0"/>
                <a:cs typeface="Arial" panose="020B0604020202020204" pitchFamily="34" charset="0"/>
              </a:rPr>
              <a:t>ISSN 1364-5579, </a:t>
            </a:r>
            <a:r>
              <a:rPr lang="en-US" sz="1100" b="1" dirty="0">
                <a:solidFill>
                  <a:schemeClr val="tx1"/>
                </a:solidFill>
                <a:latin typeface="Arial" panose="020B0604020202020204" pitchFamily="34" charset="0"/>
                <a:cs typeface="Arial" panose="020B0604020202020204" pitchFamily="34" charset="0"/>
                <a:hlinkClick r:id="rId5"/>
              </a:rPr>
              <a:t>https://</a:t>
            </a:r>
            <a:r>
              <a:rPr lang="en-US" sz="1100" b="1" dirty="0" smtClean="0">
                <a:solidFill>
                  <a:schemeClr val="tx1"/>
                </a:solidFill>
                <a:latin typeface="Arial" panose="020B0604020202020204" pitchFamily="34" charset="0"/>
                <a:cs typeface="Arial" panose="020B0604020202020204" pitchFamily="34" charset="0"/>
                <a:hlinkClick r:id="rId5"/>
              </a:rPr>
              <a:t>doi.org/10.1016/j.infsof.2013.07.010</a:t>
            </a:r>
            <a:endParaRPr lang="en-US" sz="1100" b="1" dirty="0" smtClean="0">
              <a:solidFill>
                <a:schemeClr val="tx1"/>
              </a:solidFill>
              <a:latin typeface="Arial" panose="020B0604020202020204" pitchFamily="34" charset="0"/>
              <a:cs typeface="Arial" panose="020B0604020202020204" pitchFamily="34" charset="0"/>
            </a:endParaRPr>
          </a:p>
          <a:p>
            <a:pPr algn="l"/>
            <a:endParaRPr lang="en-US" sz="1100" b="1" dirty="0">
              <a:solidFill>
                <a:schemeClr val="tx1"/>
              </a:solidFill>
              <a:latin typeface="Arial" panose="020B0604020202020204" pitchFamily="34" charset="0"/>
              <a:cs typeface="Arial" panose="020B0604020202020204" pitchFamily="34" charset="0"/>
            </a:endParaRPr>
          </a:p>
          <a:p>
            <a:pPr algn="just"/>
            <a:endParaRPr lang="en-US" sz="1100" b="1" dirty="0" smtClean="0">
              <a:solidFill>
                <a:schemeClr val="tx1"/>
              </a:solidFill>
              <a:latin typeface="Arial" panose="020B0604020202020204" pitchFamily="34" charset="0"/>
              <a:cs typeface="Arial" panose="020B0604020202020204" pitchFamily="34" charset="0"/>
            </a:endParaRPr>
          </a:p>
          <a:p>
            <a:pPr algn="just"/>
            <a:endParaRPr lang="en-US" b="1" dirty="0" smtClean="0">
              <a:solidFill>
                <a:schemeClr val="tx1"/>
              </a:solidFill>
            </a:endParaRPr>
          </a:p>
          <a:p>
            <a:pPr algn="just"/>
            <a:endParaRPr lang="es-MX" dirty="0">
              <a:solidFill>
                <a:schemeClr val="tx1"/>
              </a:solidFill>
            </a:endParaRPr>
          </a:p>
        </p:txBody>
      </p:sp>
    </p:spTree>
    <p:extLst>
      <p:ext uri="{BB962C8B-B14F-4D97-AF65-F5344CB8AC3E}">
        <p14:creationId xmlns:p14="http://schemas.microsoft.com/office/powerpoint/2010/main" val="95482174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pic>
        <p:nvPicPr>
          <p:cNvPr id="6" name="Imagen 5"/>
          <p:cNvPicPr/>
          <p:nvPr/>
        </p:nvPicPr>
        <p:blipFill rotWithShape="1">
          <a:blip r:embed="rId2">
            <a:extLst>
              <a:ext uri="{28A0092B-C50C-407E-A947-70E740481C1C}">
                <a14:useLocalDpi xmlns:a14="http://schemas.microsoft.com/office/drawing/2010/main" val="0"/>
              </a:ext>
            </a:extLst>
          </a:blip>
          <a:srcRect t="1" r="32064" b="-10136"/>
          <a:stretch/>
        </p:blipFill>
        <p:spPr bwMode="auto">
          <a:xfrm>
            <a:off x="110789" y="112160"/>
            <a:ext cx="3410075" cy="757457"/>
          </a:xfrm>
          <a:prstGeom prst="rect">
            <a:avLst/>
          </a:prstGeom>
          <a:noFill/>
          <a:ln>
            <a:noFill/>
          </a:ln>
          <a:extLst>
            <a:ext uri="{53640926-AAD7-44D8-BBD7-CCE9431645EC}">
              <a14:shadowObscured xmlns:a14="http://schemas.microsoft.com/office/drawing/2010/main"/>
            </a:ext>
          </a:extLst>
        </p:spPr>
      </p:pic>
      <p:pic>
        <p:nvPicPr>
          <p:cNvPr id="7" name="Imagen 6" descr="Resultado de imagen para instituto tecnologico de orizaba logo"/>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51537" y="77977"/>
            <a:ext cx="779082" cy="805180"/>
          </a:xfrm>
          <a:prstGeom prst="rect">
            <a:avLst/>
          </a:prstGeom>
          <a:noFill/>
          <a:ln>
            <a:noFill/>
          </a:ln>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74675" y="125347"/>
            <a:ext cx="1619264" cy="740391"/>
          </a:xfrm>
          <a:prstGeom prst="rect">
            <a:avLst/>
          </a:prstGeom>
        </p:spPr>
      </p:pic>
      <p:sp>
        <p:nvSpPr>
          <p:cNvPr id="9" name="Rectángulo 8"/>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10" name="Title 1"/>
          <p:cNvSpPr txBox="1">
            <a:spLocks/>
          </p:cNvSpPr>
          <p:nvPr/>
        </p:nvSpPr>
        <p:spPr>
          <a:xfrm>
            <a:off x="911424" y="1003473"/>
            <a:ext cx="9289032" cy="40930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solidFill>
                  <a:srgbClr val="08489E"/>
                </a:solidFill>
                <a:latin typeface="Trebuchet MS" panose="020B0603020202020204" pitchFamily="34" charset="0"/>
              </a:rPr>
              <a:t>Revisión de alcance 3/5</a:t>
            </a:r>
            <a:endParaRPr lang="en-US" sz="2400" b="1" dirty="0">
              <a:solidFill>
                <a:srgbClr val="08489E"/>
              </a:solidFill>
              <a:latin typeface="Trebuchet MS" panose="020B0603020202020204" pitchFamily="34" charset="0"/>
            </a:endParaRPr>
          </a:p>
        </p:txBody>
      </p:sp>
      <p:sp>
        <p:nvSpPr>
          <p:cNvPr id="11" name="3 Rectángulo"/>
          <p:cNvSpPr/>
          <p:nvPr/>
        </p:nvSpPr>
        <p:spPr>
          <a:xfrm>
            <a:off x="911423" y="1412776"/>
            <a:ext cx="10340113" cy="4079065"/>
          </a:xfrm>
          <a:prstGeom prst="rect">
            <a:avLst/>
          </a:prstGeom>
        </p:spPr>
        <p:txBody>
          <a:bodyPr wrap="square">
            <a:spAutoFit/>
          </a:bodyPr>
          <a:lstStyle/>
          <a:p>
            <a:pPr>
              <a:lnSpc>
                <a:spcPct val="115000"/>
              </a:lnSpc>
              <a:spcAft>
                <a:spcPts val="1000"/>
              </a:spcAft>
            </a:pPr>
            <a:r>
              <a:rPr lang="es-ES" sz="2000" b="1" dirty="0">
                <a:solidFill>
                  <a:srgbClr val="3399FF"/>
                </a:solidFill>
                <a:latin typeface="Trebuchet MS" panose="020B0603020202020204" pitchFamily="34" charset="0"/>
                <a:ea typeface="Times New Roman"/>
                <a:cs typeface="Calibri"/>
              </a:rPr>
              <a:t>Marco metodológico propuesto por </a:t>
            </a:r>
            <a:r>
              <a:rPr lang="es-ES" sz="2000" b="1" dirty="0" smtClean="0">
                <a:solidFill>
                  <a:srgbClr val="3399FF"/>
                </a:solidFill>
                <a:latin typeface="Trebuchet MS" panose="020B0603020202020204" pitchFamily="34" charset="0"/>
                <a:ea typeface="Times New Roman"/>
                <a:cs typeface="Calibri"/>
              </a:rPr>
              <a:t>Levac</a:t>
            </a:r>
            <a:r>
              <a:rPr lang="es-ES" sz="2000" b="1" dirty="0">
                <a:solidFill>
                  <a:srgbClr val="3399FF"/>
                </a:solidFill>
                <a:latin typeface="Trebuchet MS" panose="020B0603020202020204" pitchFamily="34" charset="0"/>
                <a:ea typeface="Times New Roman"/>
                <a:cs typeface="Calibri"/>
              </a:rPr>
              <a:t>, </a:t>
            </a:r>
            <a:r>
              <a:rPr lang="es-MX" sz="2000" b="1" dirty="0">
                <a:solidFill>
                  <a:srgbClr val="3399FF"/>
                </a:solidFill>
                <a:latin typeface="Trebuchet MS" panose="020B0603020202020204" pitchFamily="34" charset="0"/>
                <a:ea typeface="Times New Roman"/>
                <a:cs typeface="Calibri"/>
              </a:rPr>
              <a:t>Colquhoun &amp;  O’Brien </a:t>
            </a:r>
            <a:r>
              <a:rPr lang="es-ES" sz="2000" b="1" dirty="0">
                <a:solidFill>
                  <a:srgbClr val="3399FF"/>
                </a:solidFill>
                <a:latin typeface="Trebuchet MS" panose="020B0603020202020204" pitchFamily="34" charset="0"/>
                <a:ea typeface="Times New Roman"/>
                <a:cs typeface="Calibri"/>
              </a:rPr>
              <a:t>(</a:t>
            </a:r>
            <a:r>
              <a:rPr lang="es-ES" sz="2000" b="1" dirty="0" smtClean="0">
                <a:solidFill>
                  <a:srgbClr val="3399FF"/>
                </a:solidFill>
                <a:latin typeface="Trebuchet MS" panose="020B0603020202020204" pitchFamily="34" charset="0"/>
                <a:ea typeface="Times New Roman"/>
                <a:cs typeface="Calibri"/>
              </a:rPr>
              <a:t>2010)</a:t>
            </a:r>
            <a:r>
              <a:rPr lang="es-ES" b="1" baseline="30000" dirty="0" smtClean="0">
                <a:latin typeface="Trebuchet MS" panose="020B0603020202020204" pitchFamily="34" charset="0"/>
                <a:ea typeface="Times New Roman"/>
                <a:cs typeface="Calibri"/>
              </a:rPr>
              <a:t>3</a:t>
            </a:r>
            <a:endParaRPr lang="es-ES" b="1" baseline="30000" dirty="0">
              <a:latin typeface="Trebuchet MS" panose="020B0603020202020204" pitchFamily="34" charset="0"/>
              <a:ea typeface="Times New Roman"/>
              <a:cs typeface="Calibri"/>
            </a:endParaRPr>
          </a:p>
          <a:p>
            <a:pPr>
              <a:lnSpc>
                <a:spcPct val="115000"/>
              </a:lnSpc>
              <a:spcAft>
                <a:spcPts val="1000"/>
              </a:spcAft>
            </a:pPr>
            <a:r>
              <a:rPr lang="es-ES" sz="1600" b="1" dirty="0" smtClean="0">
                <a:solidFill>
                  <a:srgbClr val="A50021"/>
                </a:solidFill>
                <a:latin typeface="Trebuchet MS" panose="020B0603020202020204" pitchFamily="34" charset="0"/>
                <a:ea typeface="Times New Roman"/>
                <a:cs typeface="Calibri"/>
              </a:rPr>
              <a:t>[3623 </a:t>
            </a:r>
            <a:r>
              <a:rPr lang="es-ES" sz="1600" b="1" dirty="0">
                <a:solidFill>
                  <a:srgbClr val="A50021"/>
                </a:solidFill>
                <a:latin typeface="Trebuchet MS" panose="020B0603020202020204" pitchFamily="34" charset="0"/>
                <a:ea typeface="Times New Roman"/>
                <a:cs typeface="Calibri"/>
              </a:rPr>
              <a:t>citas hasta Junio 2020]</a:t>
            </a:r>
          </a:p>
          <a:p>
            <a:pPr marL="342900" indent="-342900">
              <a:spcAft>
                <a:spcPts val="1000"/>
              </a:spcAft>
              <a:buClr>
                <a:srgbClr val="3399FF"/>
              </a:buClr>
              <a:buFont typeface="+mj-lt"/>
              <a:buAutoNum type="arabicPeriod"/>
            </a:pPr>
            <a:r>
              <a:rPr lang="es-ES" sz="1600" dirty="0">
                <a:latin typeface="Trebuchet MS" panose="020B0603020202020204" pitchFamily="34" charset="0"/>
              </a:rPr>
              <a:t>Identificar la pregunta de </a:t>
            </a:r>
            <a:r>
              <a:rPr lang="es-ES" sz="1600" dirty="0" smtClean="0">
                <a:latin typeface="Trebuchet MS" panose="020B0603020202020204" pitchFamily="34" charset="0"/>
              </a:rPr>
              <a:t>investigación </a:t>
            </a:r>
            <a:r>
              <a:rPr lang="es-ES" sz="1600" b="1" dirty="0" smtClean="0">
                <a:latin typeface="Trebuchet MS" panose="020B0603020202020204" pitchFamily="34" charset="0"/>
              </a:rPr>
              <a:t>(relacionar el propósito y pregunta de investigación)</a:t>
            </a:r>
            <a:endParaRPr lang="es-ES" sz="1600" b="1" dirty="0">
              <a:latin typeface="Trebuchet MS" panose="020B0603020202020204" pitchFamily="34" charset="0"/>
            </a:endParaRPr>
          </a:p>
          <a:p>
            <a:pPr marL="342900" indent="-342900">
              <a:spcAft>
                <a:spcPts val="1000"/>
              </a:spcAft>
              <a:buClr>
                <a:srgbClr val="3399FF"/>
              </a:buClr>
              <a:buFont typeface="+mj-lt"/>
              <a:buAutoNum type="arabicPeriod"/>
            </a:pPr>
            <a:r>
              <a:rPr lang="es-ES" sz="1600" dirty="0">
                <a:latin typeface="Trebuchet MS" panose="020B0603020202020204" pitchFamily="34" charset="0"/>
              </a:rPr>
              <a:t>Identificar los estudios </a:t>
            </a:r>
            <a:r>
              <a:rPr lang="es-ES" sz="1600" dirty="0" smtClean="0">
                <a:latin typeface="Trebuchet MS" panose="020B0603020202020204" pitchFamily="34" charset="0"/>
              </a:rPr>
              <a:t>relevantes </a:t>
            </a:r>
            <a:r>
              <a:rPr lang="es-ES" sz="1600" b="1" dirty="0" smtClean="0">
                <a:latin typeface="Trebuchet MS" panose="020B0603020202020204" pitchFamily="34" charset="0"/>
              </a:rPr>
              <a:t>(equilibrar la viabilidad con la amplitud y exhaustividad del proceso de determinación del alcance)</a:t>
            </a:r>
            <a:endParaRPr lang="es-ES" sz="1600" b="1" dirty="0">
              <a:latin typeface="Trebuchet MS" panose="020B0603020202020204" pitchFamily="34" charset="0"/>
            </a:endParaRPr>
          </a:p>
          <a:p>
            <a:pPr marL="342900" indent="-342900">
              <a:spcAft>
                <a:spcPts val="1000"/>
              </a:spcAft>
              <a:buClr>
                <a:srgbClr val="3399FF"/>
              </a:buClr>
              <a:buFont typeface="+mj-lt"/>
              <a:buAutoNum type="arabicPeriod"/>
            </a:pPr>
            <a:r>
              <a:rPr lang="es-ES" sz="1600" dirty="0">
                <a:latin typeface="Trebuchet MS" panose="020B0603020202020204" pitchFamily="34" charset="0"/>
              </a:rPr>
              <a:t>Seleccionar los </a:t>
            </a:r>
            <a:r>
              <a:rPr lang="es-ES" sz="1600" dirty="0" smtClean="0">
                <a:latin typeface="Trebuchet MS" panose="020B0603020202020204" pitchFamily="34" charset="0"/>
              </a:rPr>
              <a:t>estudios </a:t>
            </a:r>
            <a:r>
              <a:rPr lang="es-ES" sz="1600" b="1" dirty="0" smtClean="0">
                <a:latin typeface="Trebuchet MS" panose="020B0603020202020204" pitchFamily="34" charset="0"/>
              </a:rPr>
              <a:t>(utilizar un enfoque iterativo para la selección de estudios y extracción de datos)</a:t>
            </a:r>
            <a:endParaRPr lang="es-ES" sz="1600" b="1" dirty="0">
              <a:latin typeface="Trebuchet MS" panose="020B0603020202020204" pitchFamily="34" charset="0"/>
            </a:endParaRPr>
          </a:p>
          <a:p>
            <a:pPr marL="342900" indent="-342900">
              <a:spcAft>
                <a:spcPts val="1000"/>
              </a:spcAft>
              <a:buClr>
                <a:srgbClr val="3399FF"/>
              </a:buClr>
              <a:buFont typeface="+mj-lt"/>
              <a:buAutoNum type="arabicPeriod"/>
            </a:pPr>
            <a:r>
              <a:rPr lang="es-ES" sz="1600" dirty="0">
                <a:latin typeface="Trebuchet MS" panose="020B0603020202020204" pitchFamily="34" charset="0"/>
              </a:rPr>
              <a:t>Categorizar los </a:t>
            </a:r>
            <a:r>
              <a:rPr lang="es-ES" sz="1600" dirty="0" smtClean="0">
                <a:latin typeface="Trebuchet MS" panose="020B0603020202020204" pitchFamily="34" charset="0"/>
              </a:rPr>
              <a:t>datos </a:t>
            </a:r>
            <a:r>
              <a:rPr lang="es-ES" sz="1600" b="1" dirty="0" smtClean="0">
                <a:latin typeface="Trebuchet MS" panose="020B0603020202020204" pitchFamily="34" charset="0"/>
              </a:rPr>
              <a:t>(incorporar un resumen numérico y análisis temático cualitativo)</a:t>
            </a:r>
            <a:endParaRPr lang="es-ES" sz="1600" b="1" dirty="0">
              <a:latin typeface="Trebuchet MS" panose="020B0603020202020204" pitchFamily="34" charset="0"/>
            </a:endParaRPr>
          </a:p>
          <a:p>
            <a:pPr marL="342900" indent="-342900">
              <a:spcAft>
                <a:spcPts val="1000"/>
              </a:spcAft>
              <a:buClr>
                <a:srgbClr val="3399FF"/>
              </a:buClr>
              <a:buFont typeface="+mj-lt"/>
              <a:buAutoNum type="arabicPeriod"/>
            </a:pPr>
            <a:r>
              <a:rPr lang="es-ES" sz="1600" dirty="0">
                <a:latin typeface="Trebuchet MS" panose="020B0603020202020204" pitchFamily="34" charset="0"/>
              </a:rPr>
              <a:t>Recopilar, resumir e informar los </a:t>
            </a:r>
            <a:r>
              <a:rPr lang="es-ES" sz="1600" dirty="0" smtClean="0">
                <a:latin typeface="Trebuchet MS" panose="020B0603020202020204" pitchFamily="34" charset="0"/>
              </a:rPr>
              <a:t>resultados </a:t>
            </a:r>
            <a:r>
              <a:rPr lang="es-ES" sz="1600" b="1" dirty="0" smtClean="0">
                <a:latin typeface="Trebuchet MS" panose="020B0603020202020204" pitchFamily="34" charset="0"/>
              </a:rPr>
              <a:t>(identificar la trascendencia de los resultados del estudio)</a:t>
            </a:r>
            <a:endParaRPr lang="es-ES" sz="1600" b="1" dirty="0">
              <a:latin typeface="Trebuchet MS" panose="020B0603020202020204" pitchFamily="34" charset="0"/>
            </a:endParaRPr>
          </a:p>
          <a:p>
            <a:pPr marL="342900" indent="-342900">
              <a:spcAft>
                <a:spcPts val="1000"/>
              </a:spcAft>
              <a:buClr>
                <a:srgbClr val="3399FF"/>
              </a:buClr>
              <a:buFont typeface="+mj-lt"/>
              <a:buAutoNum type="arabicPeriod"/>
            </a:pPr>
            <a:r>
              <a:rPr lang="es-ES" sz="1600" dirty="0">
                <a:latin typeface="Trebuchet MS" panose="020B0603020202020204" pitchFamily="34" charset="0"/>
              </a:rPr>
              <a:t>Consulta </a:t>
            </a:r>
            <a:r>
              <a:rPr lang="es-ES" sz="1600" b="1" dirty="0" smtClean="0">
                <a:latin typeface="Trebuchet MS" panose="020B0603020202020204" pitchFamily="34" charset="0"/>
              </a:rPr>
              <a:t>(adoptar la consulta como un componente requerido de la metodología)</a:t>
            </a:r>
            <a:endParaRPr lang="es-ES" sz="1600" b="1" dirty="0">
              <a:latin typeface="Trebuchet MS" panose="020B0603020202020204" pitchFamily="34" charset="0"/>
            </a:endParaRPr>
          </a:p>
          <a:p>
            <a:pPr>
              <a:lnSpc>
                <a:spcPct val="115000"/>
              </a:lnSpc>
              <a:spcAft>
                <a:spcPts val="1000"/>
              </a:spcAft>
            </a:pPr>
            <a:endParaRPr lang="es-ES" sz="2000" b="1" dirty="0" smtClean="0">
              <a:solidFill>
                <a:srgbClr val="3399FF"/>
              </a:solidFill>
              <a:latin typeface="Trebuchet MS" panose="020B0603020202020204" pitchFamily="34" charset="0"/>
              <a:ea typeface="Times New Roman"/>
              <a:cs typeface="Calibri"/>
            </a:endParaRPr>
          </a:p>
        </p:txBody>
      </p:sp>
      <p:sp>
        <p:nvSpPr>
          <p:cNvPr id="12" name="Marcador de pie de página 1"/>
          <p:cNvSpPr txBox="1">
            <a:spLocks/>
          </p:cNvSpPr>
          <p:nvPr/>
        </p:nvSpPr>
        <p:spPr>
          <a:xfrm>
            <a:off x="911423" y="5733256"/>
            <a:ext cx="10282516" cy="576064"/>
          </a:xfrm>
          <a:prstGeom prst="rect">
            <a:avLst/>
          </a:prstGeom>
        </p:spPr>
        <p:txBody>
          <a:bodyPr vert="horz" lIns="91440" tIns="45720" rIns="91440" bIns="45720" rtlCol="0" anchor="ctr"/>
          <a:lstStyle>
            <a:defPPr>
              <a:defRPr lang="es-MX"/>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endParaRPr lang="en-US" b="1" dirty="0" smtClean="0">
              <a:solidFill>
                <a:schemeClr val="tx1"/>
              </a:solidFill>
            </a:endParaRPr>
          </a:p>
          <a:p>
            <a:pPr algn="just"/>
            <a:endParaRPr lang="en-US" b="1" dirty="0" smtClean="0">
              <a:solidFill>
                <a:schemeClr val="tx1"/>
              </a:solidFill>
            </a:endParaRPr>
          </a:p>
          <a:p>
            <a:pPr algn="just"/>
            <a:endParaRPr lang="en-US" b="1" dirty="0" smtClean="0">
              <a:solidFill>
                <a:schemeClr val="tx1"/>
              </a:solidFill>
            </a:endParaRPr>
          </a:p>
          <a:p>
            <a:pPr algn="just"/>
            <a:r>
              <a:rPr lang="en-US" sz="1100" b="1" dirty="0" smtClean="0">
                <a:solidFill>
                  <a:schemeClr val="tx1"/>
                </a:solidFill>
                <a:latin typeface="Arial" panose="020B0604020202020204" pitchFamily="34" charset="0"/>
                <a:cs typeface="Arial" panose="020B0604020202020204" pitchFamily="34" charset="0"/>
              </a:rPr>
              <a:t>3. </a:t>
            </a:r>
            <a:r>
              <a:rPr lang="en-US" sz="1100" b="1" dirty="0">
                <a:solidFill>
                  <a:schemeClr val="tx1"/>
                </a:solidFill>
                <a:latin typeface="Arial" panose="020B0604020202020204" pitchFamily="34" charset="0"/>
                <a:cs typeface="Arial" panose="020B0604020202020204" pitchFamily="34" charset="0"/>
              </a:rPr>
              <a:t>Levac, D., Colquhoun, H., &amp; O'Brien, K. K. (2010). Scoping studies: advancing the </a:t>
            </a:r>
            <a:r>
              <a:rPr lang="en-US" sz="1100" b="1" dirty="0" smtClean="0">
                <a:solidFill>
                  <a:schemeClr val="tx1"/>
                </a:solidFill>
                <a:latin typeface="Arial" panose="020B0604020202020204" pitchFamily="34" charset="0"/>
                <a:cs typeface="Arial" panose="020B0604020202020204" pitchFamily="34" charset="0"/>
              </a:rPr>
              <a:t>methodology, Implementation science, Volume 5, Issue 1</a:t>
            </a:r>
            <a:r>
              <a:rPr lang="en-US" sz="1100" b="1" dirty="0">
                <a:solidFill>
                  <a:schemeClr val="tx1"/>
                </a:solidFill>
                <a:latin typeface="Arial" panose="020B0604020202020204" pitchFamily="34" charset="0"/>
                <a:cs typeface="Arial" panose="020B0604020202020204" pitchFamily="34" charset="0"/>
              </a:rPr>
              <a:t>, Page 69, ISSN </a:t>
            </a:r>
            <a:r>
              <a:rPr lang="en-US" sz="1100" b="1" dirty="0" smtClean="0">
                <a:solidFill>
                  <a:schemeClr val="tx1"/>
                </a:solidFill>
                <a:latin typeface="Arial" panose="020B0604020202020204" pitchFamily="34" charset="0"/>
                <a:cs typeface="Arial" panose="020B0604020202020204" pitchFamily="34" charset="0"/>
              </a:rPr>
              <a:t>1748-5908, </a:t>
            </a:r>
            <a:r>
              <a:rPr lang="en-US" sz="1100" b="1" dirty="0" smtClean="0">
                <a:solidFill>
                  <a:schemeClr val="tx1"/>
                </a:solidFill>
                <a:latin typeface="Arial" panose="020B0604020202020204" pitchFamily="34" charset="0"/>
                <a:cs typeface="Arial" panose="020B0604020202020204" pitchFamily="34" charset="0"/>
                <a:hlinkClick r:id="rId5"/>
              </a:rPr>
              <a:t>https</a:t>
            </a:r>
            <a:r>
              <a:rPr lang="en-US" sz="1100" b="1" dirty="0">
                <a:solidFill>
                  <a:schemeClr val="tx1"/>
                </a:solidFill>
                <a:latin typeface="Arial" panose="020B0604020202020204" pitchFamily="34" charset="0"/>
                <a:cs typeface="Arial" panose="020B0604020202020204" pitchFamily="34" charset="0"/>
                <a:hlinkClick r:id="rId5"/>
              </a:rPr>
              <a:t>://</a:t>
            </a:r>
            <a:r>
              <a:rPr lang="en-US" sz="1100" b="1" dirty="0" smtClean="0">
                <a:solidFill>
                  <a:schemeClr val="tx1"/>
                </a:solidFill>
                <a:latin typeface="Arial" panose="020B0604020202020204" pitchFamily="34" charset="0"/>
                <a:cs typeface="Arial" panose="020B0604020202020204" pitchFamily="34" charset="0"/>
                <a:hlinkClick r:id="rId5"/>
              </a:rPr>
              <a:t>doi.org/10.1186/1748-5908-5-69</a:t>
            </a:r>
            <a:endParaRPr lang="en-US" sz="1100" b="1" dirty="0" smtClean="0">
              <a:solidFill>
                <a:schemeClr val="tx1"/>
              </a:solidFill>
              <a:latin typeface="Arial" panose="020B0604020202020204" pitchFamily="34" charset="0"/>
              <a:cs typeface="Arial" panose="020B0604020202020204" pitchFamily="34" charset="0"/>
            </a:endParaRPr>
          </a:p>
          <a:p>
            <a:pPr algn="l"/>
            <a:endParaRPr lang="en-US" sz="1100" b="1" dirty="0" smtClean="0">
              <a:solidFill>
                <a:schemeClr val="tx1"/>
              </a:solidFill>
              <a:latin typeface="Arial" panose="020B0604020202020204" pitchFamily="34" charset="0"/>
              <a:cs typeface="Arial" panose="020B0604020202020204" pitchFamily="34" charset="0"/>
            </a:endParaRPr>
          </a:p>
          <a:p>
            <a:pPr algn="just"/>
            <a:endParaRPr lang="en-US" sz="1100" b="1" dirty="0" smtClean="0">
              <a:solidFill>
                <a:schemeClr val="tx1"/>
              </a:solidFill>
              <a:latin typeface="Arial" panose="020B0604020202020204" pitchFamily="34" charset="0"/>
              <a:cs typeface="Arial" panose="020B0604020202020204" pitchFamily="34" charset="0"/>
            </a:endParaRPr>
          </a:p>
          <a:p>
            <a:pPr algn="just"/>
            <a:endParaRPr lang="en-US" b="1" dirty="0" smtClean="0">
              <a:solidFill>
                <a:schemeClr val="tx1"/>
              </a:solidFill>
            </a:endParaRPr>
          </a:p>
          <a:p>
            <a:pPr algn="just"/>
            <a:endParaRPr lang="es-MX" dirty="0">
              <a:solidFill>
                <a:schemeClr val="tx1"/>
              </a:solidFill>
            </a:endParaRPr>
          </a:p>
        </p:txBody>
      </p:sp>
    </p:spTree>
    <p:extLst>
      <p:ext uri="{BB962C8B-B14F-4D97-AF65-F5344CB8AC3E}">
        <p14:creationId xmlns:p14="http://schemas.microsoft.com/office/powerpoint/2010/main" val="15047660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pic>
        <p:nvPicPr>
          <p:cNvPr id="6" name="Imagen 5"/>
          <p:cNvPicPr/>
          <p:nvPr/>
        </p:nvPicPr>
        <p:blipFill rotWithShape="1">
          <a:blip r:embed="rId3">
            <a:extLst>
              <a:ext uri="{28A0092B-C50C-407E-A947-70E740481C1C}">
                <a14:useLocalDpi xmlns:a14="http://schemas.microsoft.com/office/drawing/2010/main" val="0"/>
              </a:ext>
            </a:extLst>
          </a:blip>
          <a:srcRect t="1" r="32064" b="-10136"/>
          <a:stretch/>
        </p:blipFill>
        <p:spPr bwMode="auto">
          <a:xfrm>
            <a:off x="110789" y="112160"/>
            <a:ext cx="3410075" cy="757457"/>
          </a:xfrm>
          <a:prstGeom prst="rect">
            <a:avLst/>
          </a:prstGeom>
          <a:noFill/>
          <a:ln>
            <a:noFill/>
          </a:ln>
          <a:extLst>
            <a:ext uri="{53640926-AAD7-44D8-BBD7-CCE9431645EC}">
              <a14:shadowObscured xmlns:a14="http://schemas.microsoft.com/office/drawing/2010/main"/>
            </a:ext>
          </a:extLst>
        </p:spPr>
      </p:pic>
      <p:pic>
        <p:nvPicPr>
          <p:cNvPr id="7" name="Imagen 6" descr="Resultado de imagen para instituto tecnologico de orizaba logo"/>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251537" y="77977"/>
            <a:ext cx="779082" cy="805180"/>
          </a:xfrm>
          <a:prstGeom prst="rect">
            <a:avLst/>
          </a:prstGeom>
          <a:noFill/>
          <a:ln>
            <a:noFill/>
          </a:ln>
        </p:spPr>
      </p:pic>
      <p:pic>
        <p:nvPicPr>
          <p:cNvPr id="8" name="Imagen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74675" y="125347"/>
            <a:ext cx="1619264" cy="740391"/>
          </a:xfrm>
          <a:prstGeom prst="rect">
            <a:avLst/>
          </a:prstGeom>
        </p:spPr>
      </p:pic>
      <p:sp>
        <p:nvSpPr>
          <p:cNvPr id="9" name="Rectángulo 8"/>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11" name="3 Rectángulo"/>
          <p:cNvSpPr/>
          <p:nvPr/>
        </p:nvSpPr>
        <p:spPr>
          <a:xfrm>
            <a:off x="1775520" y="1585235"/>
            <a:ext cx="9937104" cy="4267835"/>
          </a:xfrm>
          <a:prstGeom prst="rect">
            <a:avLst/>
          </a:prstGeom>
        </p:spPr>
        <p:txBody>
          <a:bodyPr wrap="square">
            <a:spAutoFit/>
          </a:bodyPr>
          <a:lstStyle/>
          <a:p>
            <a:pPr>
              <a:lnSpc>
                <a:spcPct val="115000"/>
              </a:lnSpc>
              <a:spcAft>
                <a:spcPts val="1000"/>
              </a:spcAft>
            </a:pPr>
            <a:r>
              <a:rPr lang="es-ES" sz="2000" b="1" dirty="0" smtClean="0">
                <a:solidFill>
                  <a:srgbClr val="3399FF"/>
                </a:solidFill>
                <a:latin typeface="Trebuchet MS" panose="020B0603020202020204" pitchFamily="34" charset="0"/>
                <a:ea typeface="Times New Roman"/>
                <a:cs typeface="Calibri"/>
              </a:rPr>
              <a:t>Ejemplos del área de TI</a:t>
            </a:r>
            <a:endParaRPr lang="es-ES" sz="2000" b="1" dirty="0" smtClean="0">
              <a:latin typeface="Trebuchet MS" panose="020B0603020202020204" pitchFamily="34" charset="0"/>
              <a:ea typeface="Times New Roman"/>
              <a:cs typeface="Calibri"/>
            </a:endParaRPr>
          </a:p>
          <a:p>
            <a:pPr marL="285750" indent="-285750" algn="just">
              <a:buClr>
                <a:srgbClr val="3399FF"/>
              </a:buClr>
              <a:buSzPct val="140000"/>
              <a:buFont typeface="Arial" panose="020B0604020202020204" pitchFamily="34" charset="0"/>
              <a:buChar char="•"/>
            </a:pPr>
            <a:r>
              <a:rPr lang="en-US" sz="1600" dirty="0">
                <a:latin typeface="Trebuchet MS" panose="020B0603020202020204" pitchFamily="34" charset="0"/>
              </a:rPr>
              <a:t>Peters, M. D. J., Godfrey, C. M., Khalil, H., McInerney, P., Parker, D., &amp; Soares, C. B. (2015). Guidance for conducting </a:t>
            </a:r>
            <a:r>
              <a:rPr lang="en-US" sz="1600" b="1" dirty="0">
                <a:solidFill>
                  <a:srgbClr val="A50021"/>
                </a:solidFill>
                <a:latin typeface="Trebuchet MS" panose="020B0603020202020204" pitchFamily="34" charset="0"/>
              </a:rPr>
              <a:t>systematic scoping reviews</a:t>
            </a:r>
            <a:r>
              <a:rPr lang="en-US" sz="1600" dirty="0">
                <a:latin typeface="Trebuchet MS" panose="020B0603020202020204" pitchFamily="34" charset="0"/>
              </a:rPr>
              <a:t>. International Journal of Evidence-Based Healthcare, 13(3), 141–146. </a:t>
            </a:r>
            <a:r>
              <a:rPr lang="en-US" sz="1600" u="sng" dirty="0">
                <a:latin typeface="Trebuchet MS" panose="020B0603020202020204" pitchFamily="34" charset="0"/>
                <a:hlinkClick r:id="rId6"/>
              </a:rPr>
              <a:t>https://</a:t>
            </a:r>
            <a:r>
              <a:rPr lang="en-US" sz="1600" u="sng" dirty="0" smtClean="0">
                <a:latin typeface="Trebuchet MS" panose="020B0603020202020204" pitchFamily="34" charset="0"/>
                <a:hlinkClick r:id="rId6"/>
              </a:rPr>
              <a:t>doi.org/10.1097/XEB.0000000000000050</a:t>
            </a:r>
            <a:endParaRPr lang="en-US" sz="1600" u="sng" dirty="0" smtClean="0">
              <a:latin typeface="Trebuchet MS" panose="020B0603020202020204" pitchFamily="34" charset="0"/>
            </a:endParaRPr>
          </a:p>
          <a:p>
            <a:pPr marL="285750" indent="-285750" algn="just">
              <a:buClr>
                <a:srgbClr val="3399FF"/>
              </a:buClr>
              <a:buSzPct val="140000"/>
              <a:buFont typeface="Arial" panose="020B0604020202020204" pitchFamily="34" charset="0"/>
              <a:buChar char="•"/>
            </a:pPr>
            <a:r>
              <a:rPr lang="en-US" sz="1600" dirty="0">
                <a:latin typeface="Trebuchet MS" panose="020B0603020202020204" pitchFamily="34" charset="0"/>
              </a:rPr>
              <a:t>Wilson, P. M., Petticrew, M., Calnan, M. W., &amp; Nazareth, I. (2010). Disseminating research findings: What should researchers do? A </a:t>
            </a:r>
            <a:r>
              <a:rPr lang="en-US" sz="1600" b="1" dirty="0">
                <a:solidFill>
                  <a:srgbClr val="A50021"/>
                </a:solidFill>
                <a:latin typeface="Trebuchet MS" panose="020B0603020202020204" pitchFamily="34" charset="0"/>
              </a:rPr>
              <a:t>systematic scoping review </a:t>
            </a:r>
            <a:r>
              <a:rPr lang="en-US" sz="1600" dirty="0">
                <a:latin typeface="Trebuchet MS" panose="020B0603020202020204" pitchFamily="34" charset="0"/>
              </a:rPr>
              <a:t>of conceptual frameworks. </a:t>
            </a:r>
            <a:r>
              <a:rPr lang="es-MX" sz="1600" dirty="0">
                <a:latin typeface="Trebuchet MS" panose="020B0603020202020204" pitchFamily="34" charset="0"/>
              </a:rPr>
              <a:t>Implementation Science, 5(1). </a:t>
            </a:r>
            <a:r>
              <a:rPr lang="en-US" sz="1600" u="sng" dirty="0">
                <a:latin typeface="Trebuchet MS" panose="020B0603020202020204" pitchFamily="34" charset="0"/>
                <a:hlinkClick r:id="rId7"/>
              </a:rPr>
              <a:t>https://doi.org/10.1186/1748-5908-5-91</a:t>
            </a:r>
            <a:r>
              <a:rPr lang="en-US" sz="1600" dirty="0">
                <a:latin typeface="Trebuchet MS" panose="020B0603020202020204" pitchFamily="34" charset="0"/>
              </a:rPr>
              <a:t> </a:t>
            </a:r>
            <a:endParaRPr lang="en-US" sz="1600" dirty="0" smtClean="0">
              <a:latin typeface="Trebuchet MS" panose="020B0603020202020204" pitchFamily="34" charset="0"/>
            </a:endParaRPr>
          </a:p>
          <a:p>
            <a:pPr marL="285750" indent="-285750" algn="just">
              <a:buClr>
                <a:srgbClr val="3399FF"/>
              </a:buClr>
              <a:buSzPct val="140000"/>
              <a:buFont typeface="Arial" panose="020B0604020202020204" pitchFamily="34" charset="0"/>
              <a:buChar char="•"/>
            </a:pPr>
            <a:r>
              <a:rPr lang="en-US" sz="1600" dirty="0">
                <a:latin typeface="Trebuchet MS" panose="020B0603020202020204" pitchFamily="34" charset="0"/>
              </a:rPr>
              <a:t>Chambers, D., Wilson, P., Thompson, C., &amp; Harden, M. (2012). Social network analysis in healthcare settings: A </a:t>
            </a:r>
            <a:r>
              <a:rPr lang="en-US" sz="1600" b="1" dirty="0">
                <a:solidFill>
                  <a:srgbClr val="A50021"/>
                </a:solidFill>
                <a:latin typeface="Trebuchet MS" panose="020B0603020202020204" pitchFamily="34" charset="0"/>
              </a:rPr>
              <a:t>systematic scoping review</a:t>
            </a:r>
            <a:r>
              <a:rPr lang="en-US" sz="1600" dirty="0">
                <a:latin typeface="Trebuchet MS" panose="020B0603020202020204" pitchFamily="34" charset="0"/>
              </a:rPr>
              <a:t>. </a:t>
            </a:r>
            <a:r>
              <a:rPr lang="es-MX" sz="1600" dirty="0">
                <a:latin typeface="Trebuchet MS" panose="020B0603020202020204" pitchFamily="34" charset="0"/>
              </a:rPr>
              <a:t>PLoS ONE, 7(8). </a:t>
            </a:r>
            <a:r>
              <a:rPr lang="en-US" sz="1600" u="sng" dirty="0">
                <a:latin typeface="Trebuchet MS" panose="020B0603020202020204" pitchFamily="34" charset="0"/>
                <a:hlinkClick r:id="rId8"/>
              </a:rPr>
              <a:t>https://</a:t>
            </a:r>
            <a:r>
              <a:rPr lang="en-US" sz="1600" u="sng" dirty="0" smtClean="0">
                <a:latin typeface="Trebuchet MS" panose="020B0603020202020204" pitchFamily="34" charset="0"/>
                <a:hlinkClick r:id="rId8"/>
              </a:rPr>
              <a:t>doi.org/10.1371/journal.pone.0041911</a:t>
            </a:r>
            <a:endParaRPr lang="en-US" sz="1600" u="sng" dirty="0" smtClean="0">
              <a:latin typeface="Trebuchet MS" panose="020B0603020202020204" pitchFamily="34" charset="0"/>
            </a:endParaRPr>
          </a:p>
          <a:p>
            <a:pPr marL="285750" indent="-285750" algn="just">
              <a:buClr>
                <a:srgbClr val="3399FF"/>
              </a:buClr>
              <a:buSzPct val="140000"/>
              <a:buFont typeface="Arial" panose="020B0604020202020204" pitchFamily="34" charset="0"/>
              <a:buChar char="•"/>
            </a:pPr>
            <a:r>
              <a:rPr lang="en-US" sz="1600" dirty="0">
                <a:latin typeface="Trebuchet MS" panose="020B0603020202020204" pitchFamily="34" charset="0"/>
              </a:rPr>
              <a:t>Ubbink, D. T., Guyatt, G. H., &amp; Vermeulen, H. (2013). Framework of policy recommendations for implementation of evidence-based practice: A </a:t>
            </a:r>
            <a:r>
              <a:rPr lang="en-US" sz="1600" b="1" dirty="0">
                <a:solidFill>
                  <a:srgbClr val="A50021"/>
                </a:solidFill>
                <a:latin typeface="Trebuchet MS" panose="020B0603020202020204" pitchFamily="34" charset="0"/>
              </a:rPr>
              <a:t>systematic scoping review</a:t>
            </a:r>
            <a:r>
              <a:rPr lang="en-US" sz="1600" dirty="0">
                <a:latin typeface="Trebuchet MS" panose="020B0603020202020204" pitchFamily="34" charset="0"/>
              </a:rPr>
              <a:t>. BMJ Open, 3(1). </a:t>
            </a:r>
            <a:r>
              <a:rPr lang="en-US" sz="1600" u="sng" dirty="0">
                <a:latin typeface="Trebuchet MS" panose="020B0603020202020204" pitchFamily="34" charset="0"/>
                <a:hlinkClick r:id="rId9"/>
              </a:rPr>
              <a:t>https://doi.org/10.1136/bmjopen-2012-001881</a:t>
            </a:r>
            <a:endParaRPr lang="es-MX" sz="1600" dirty="0">
              <a:latin typeface="Trebuchet MS" panose="020B0603020202020204" pitchFamily="34" charset="0"/>
            </a:endParaRPr>
          </a:p>
          <a:p>
            <a:pPr marL="285750" indent="-285750" algn="just">
              <a:buClr>
                <a:srgbClr val="3399FF"/>
              </a:buClr>
              <a:buSzPct val="140000"/>
              <a:buFont typeface="Arial" panose="020B0604020202020204" pitchFamily="34" charset="0"/>
              <a:buChar char="•"/>
            </a:pPr>
            <a:r>
              <a:rPr lang="en-US" sz="1600" dirty="0">
                <a:latin typeface="Trebuchet MS" panose="020B0603020202020204" pitchFamily="34" charset="0"/>
              </a:rPr>
              <a:t>Samaan, Z., Mbuagbaw, L., Kosa, D., Borg Debono, V., Dillenburg, R., Zhang, S., Fruci, V., Dennis, B., Bawor, M., &amp; Thabane, L. (2013). A </a:t>
            </a:r>
            <a:r>
              <a:rPr lang="en-US" sz="1600" b="1" dirty="0">
                <a:solidFill>
                  <a:srgbClr val="A50021"/>
                </a:solidFill>
                <a:latin typeface="Trebuchet MS" panose="020B0603020202020204" pitchFamily="34" charset="0"/>
              </a:rPr>
              <a:t>systematic scoping review </a:t>
            </a:r>
            <a:r>
              <a:rPr lang="en-US" sz="1600" dirty="0">
                <a:latin typeface="Trebuchet MS" panose="020B0603020202020204" pitchFamily="34" charset="0"/>
              </a:rPr>
              <a:t>of adherence to reporting guidelines in health care literature. </a:t>
            </a:r>
            <a:r>
              <a:rPr lang="es-MX" sz="1600" dirty="0">
                <a:latin typeface="Trebuchet MS" panose="020B0603020202020204" pitchFamily="34" charset="0"/>
              </a:rPr>
              <a:t>Journal of Multidisciplinary Healthcare, 6, 169–188. </a:t>
            </a:r>
            <a:r>
              <a:rPr lang="es-MX" sz="1600" dirty="0">
                <a:latin typeface="Trebuchet MS" panose="020B0603020202020204" pitchFamily="34" charset="0"/>
                <a:hlinkClick r:id="rId10"/>
              </a:rPr>
              <a:t>https://</a:t>
            </a:r>
            <a:r>
              <a:rPr lang="es-MX" sz="1600" dirty="0" smtClean="0">
                <a:latin typeface="Trebuchet MS" panose="020B0603020202020204" pitchFamily="34" charset="0"/>
                <a:hlinkClick r:id="rId10"/>
              </a:rPr>
              <a:t>doi.org/10.2147/JMDH.S43952</a:t>
            </a:r>
            <a:endParaRPr lang="es-MX" sz="1600" dirty="0" smtClean="0">
              <a:latin typeface="Trebuchet MS" panose="020B0603020202020204" pitchFamily="34" charset="0"/>
            </a:endParaRPr>
          </a:p>
        </p:txBody>
      </p:sp>
      <p:sp>
        <p:nvSpPr>
          <p:cNvPr id="10" name="CuadroTexto 9"/>
          <p:cNvSpPr txBox="1"/>
          <p:nvPr/>
        </p:nvSpPr>
        <p:spPr>
          <a:xfrm>
            <a:off x="302646" y="2708920"/>
            <a:ext cx="1488605" cy="369332"/>
          </a:xfrm>
          <a:prstGeom prst="rect">
            <a:avLst/>
          </a:prstGeom>
          <a:noFill/>
        </p:spPr>
        <p:txBody>
          <a:bodyPr wrap="square" rtlCol="0">
            <a:spAutoFit/>
          </a:bodyPr>
          <a:lstStyle/>
          <a:p>
            <a:r>
              <a:rPr lang="en-US" dirty="0" smtClean="0">
                <a:latin typeface="Trebuchet MS" panose="020B0603020202020204" pitchFamily="34" charset="0"/>
              </a:rPr>
              <a:t>[</a:t>
            </a:r>
            <a:r>
              <a:rPr lang="es-MX" b="1" dirty="0" smtClean="0">
                <a:solidFill>
                  <a:srgbClr val="990000"/>
                </a:solidFill>
                <a:latin typeface="Trebuchet MS" panose="020B0603020202020204" pitchFamily="34" charset="0"/>
              </a:rPr>
              <a:t>227 citas</a:t>
            </a:r>
            <a:r>
              <a:rPr lang="en-US" dirty="0" smtClean="0">
                <a:latin typeface="Trebuchet MS" panose="020B0603020202020204" pitchFamily="34" charset="0"/>
              </a:rPr>
              <a:t>]</a:t>
            </a:r>
          </a:p>
        </p:txBody>
      </p:sp>
      <p:sp>
        <p:nvSpPr>
          <p:cNvPr id="13" name="CuadroTexto 12"/>
          <p:cNvSpPr txBox="1"/>
          <p:nvPr/>
        </p:nvSpPr>
        <p:spPr>
          <a:xfrm>
            <a:off x="301397" y="3448530"/>
            <a:ext cx="1527899" cy="369332"/>
          </a:xfrm>
          <a:prstGeom prst="rect">
            <a:avLst/>
          </a:prstGeom>
          <a:noFill/>
        </p:spPr>
        <p:txBody>
          <a:bodyPr wrap="square" rtlCol="0">
            <a:spAutoFit/>
          </a:bodyPr>
          <a:lstStyle/>
          <a:p>
            <a:r>
              <a:rPr lang="en-US" dirty="0" smtClean="0">
                <a:latin typeface="Trebuchet MS" panose="020B0603020202020204" pitchFamily="34" charset="0"/>
              </a:rPr>
              <a:t>[</a:t>
            </a:r>
            <a:r>
              <a:rPr lang="es-MX" b="1" dirty="0" smtClean="0">
                <a:solidFill>
                  <a:srgbClr val="990000"/>
                </a:solidFill>
                <a:latin typeface="Trebuchet MS" panose="020B0603020202020204" pitchFamily="34" charset="0"/>
              </a:rPr>
              <a:t>173 citas</a:t>
            </a:r>
            <a:r>
              <a:rPr lang="en-US" dirty="0" smtClean="0">
                <a:latin typeface="Trebuchet MS" panose="020B0603020202020204" pitchFamily="34" charset="0"/>
              </a:rPr>
              <a:t>]</a:t>
            </a:r>
          </a:p>
        </p:txBody>
      </p:sp>
      <p:sp>
        <p:nvSpPr>
          <p:cNvPr id="16" name="CuadroTexto 15"/>
          <p:cNvSpPr txBox="1"/>
          <p:nvPr/>
        </p:nvSpPr>
        <p:spPr>
          <a:xfrm>
            <a:off x="301397" y="3946346"/>
            <a:ext cx="1527899" cy="369332"/>
          </a:xfrm>
          <a:prstGeom prst="rect">
            <a:avLst/>
          </a:prstGeom>
          <a:noFill/>
        </p:spPr>
        <p:txBody>
          <a:bodyPr wrap="square" rtlCol="0">
            <a:spAutoFit/>
          </a:bodyPr>
          <a:lstStyle/>
          <a:p>
            <a:r>
              <a:rPr lang="en-US" dirty="0" smtClean="0">
                <a:latin typeface="Trebuchet MS" panose="020B0603020202020204" pitchFamily="34" charset="0"/>
              </a:rPr>
              <a:t>[</a:t>
            </a:r>
            <a:r>
              <a:rPr lang="es-MX" b="1" dirty="0" smtClean="0">
                <a:solidFill>
                  <a:srgbClr val="990000"/>
                </a:solidFill>
                <a:latin typeface="Trebuchet MS" panose="020B0603020202020204" pitchFamily="34" charset="0"/>
              </a:rPr>
              <a:t>146 citas</a:t>
            </a:r>
            <a:r>
              <a:rPr lang="en-US" dirty="0" smtClean="0">
                <a:latin typeface="Trebuchet MS" panose="020B0603020202020204" pitchFamily="34" charset="0"/>
              </a:rPr>
              <a:t>]</a:t>
            </a:r>
          </a:p>
        </p:txBody>
      </p:sp>
      <p:sp>
        <p:nvSpPr>
          <p:cNvPr id="17" name="CuadroTexto 16"/>
          <p:cNvSpPr txBox="1"/>
          <p:nvPr/>
        </p:nvSpPr>
        <p:spPr>
          <a:xfrm>
            <a:off x="301397" y="4643206"/>
            <a:ext cx="1527899" cy="369332"/>
          </a:xfrm>
          <a:prstGeom prst="rect">
            <a:avLst/>
          </a:prstGeom>
          <a:noFill/>
        </p:spPr>
        <p:txBody>
          <a:bodyPr wrap="square" rtlCol="0">
            <a:spAutoFit/>
          </a:bodyPr>
          <a:lstStyle/>
          <a:p>
            <a:r>
              <a:rPr lang="en-US" dirty="0" smtClean="0">
                <a:latin typeface="Trebuchet MS" panose="020B0603020202020204" pitchFamily="34" charset="0"/>
              </a:rPr>
              <a:t>[</a:t>
            </a:r>
            <a:r>
              <a:rPr lang="es-MX" b="1" dirty="0" smtClean="0">
                <a:solidFill>
                  <a:srgbClr val="990000"/>
                </a:solidFill>
                <a:latin typeface="Trebuchet MS" panose="020B0603020202020204" pitchFamily="34" charset="0"/>
              </a:rPr>
              <a:t>100 citas</a:t>
            </a:r>
            <a:r>
              <a:rPr lang="en-US" dirty="0" smtClean="0">
                <a:latin typeface="Trebuchet MS" panose="020B0603020202020204" pitchFamily="34" charset="0"/>
              </a:rPr>
              <a:t>]</a:t>
            </a:r>
          </a:p>
        </p:txBody>
      </p:sp>
      <p:sp>
        <p:nvSpPr>
          <p:cNvPr id="14" name="Title 1"/>
          <p:cNvSpPr txBox="1">
            <a:spLocks/>
          </p:cNvSpPr>
          <p:nvPr/>
        </p:nvSpPr>
        <p:spPr>
          <a:xfrm>
            <a:off x="911424" y="1003473"/>
            <a:ext cx="9289032" cy="40930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solidFill>
                  <a:srgbClr val="08489E"/>
                </a:solidFill>
                <a:latin typeface="Trebuchet MS" panose="020B0603020202020204" pitchFamily="34" charset="0"/>
              </a:rPr>
              <a:t>Revisión de alcance </a:t>
            </a:r>
            <a:r>
              <a:rPr lang="en-US" sz="2400" b="1" dirty="0">
                <a:solidFill>
                  <a:srgbClr val="08489E"/>
                </a:solidFill>
                <a:latin typeface="Trebuchet MS" panose="020B0603020202020204" pitchFamily="34" charset="0"/>
              </a:rPr>
              <a:t>4</a:t>
            </a:r>
            <a:r>
              <a:rPr lang="en-US" sz="2400" b="1" dirty="0" smtClean="0">
                <a:solidFill>
                  <a:srgbClr val="08489E"/>
                </a:solidFill>
                <a:latin typeface="Trebuchet MS" panose="020B0603020202020204" pitchFamily="34" charset="0"/>
              </a:rPr>
              <a:t>/5</a:t>
            </a:r>
            <a:endParaRPr lang="en-US" sz="2400" b="1" dirty="0">
              <a:solidFill>
                <a:srgbClr val="08489E"/>
              </a:solidFill>
              <a:latin typeface="Trebuchet MS" panose="020B0603020202020204" pitchFamily="34" charset="0"/>
            </a:endParaRPr>
          </a:p>
        </p:txBody>
      </p:sp>
      <p:sp>
        <p:nvSpPr>
          <p:cNvPr id="15" name="CuadroTexto 14"/>
          <p:cNvSpPr txBox="1"/>
          <p:nvPr/>
        </p:nvSpPr>
        <p:spPr>
          <a:xfrm>
            <a:off x="302646" y="2014073"/>
            <a:ext cx="1527899" cy="369332"/>
          </a:xfrm>
          <a:prstGeom prst="rect">
            <a:avLst/>
          </a:prstGeom>
          <a:noFill/>
        </p:spPr>
        <p:txBody>
          <a:bodyPr wrap="square" rtlCol="0">
            <a:spAutoFit/>
          </a:bodyPr>
          <a:lstStyle/>
          <a:p>
            <a:r>
              <a:rPr lang="en-US" dirty="0" smtClean="0">
                <a:latin typeface="Trebuchet MS" panose="020B0603020202020204" pitchFamily="34" charset="0"/>
              </a:rPr>
              <a:t>[</a:t>
            </a:r>
            <a:r>
              <a:rPr lang="es-MX" b="1" dirty="0" smtClean="0">
                <a:solidFill>
                  <a:srgbClr val="990000"/>
                </a:solidFill>
                <a:latin typeface="Trebuchet MS" panose="020B0603020202020204" pitchFamily="34" charset="0"/>
              </a:rPr>
              <a:t>980 citas</a:t>
            </a:r>
            <a:r>
              <a:rPr lang="en-US" dirty="0" smtClean="0">
                <a:latin typeface="Trebuchet MS" panose="020B0603020202020204" pitchFamily="34" charset="0"/>
              </a:rPr>
              <a:t>]</a:t>
            </a:r>
          </a:p>
        </p:txBody>
      </p:sp>
    </p:spTree>
    <p:extLst>
      <p:ext uri="{BB962C8B-B14F-4D97-AF65-F5344CB8AC3E}">
        <p14:creationId xmlns:p14="http://schemas.microsoft.com/office/powerpoint/2010/main" val="48306782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pic>
        <p:nvPicPr>
          <p:cNvPr id="6" name="Imagen 5"/>
          <p:cNvPicPr/>
          <p:nvPr/>
        </p:nvPicPr>
        <p:blipFill rotWithShape="1">
          <a:blip r:embed="rId3">
            <a:extLst>
              <a:ext uri="{28A0092B-C50C-407E-A947-70E740481C1C}">
                <a14:useLocalDpi xmlns:a14="http://schemas.microsoft.com/office/drawing/2010/main" val="0"/>
              </a:ext>
            </a:extLst>
          </a:blip>
          <a:srcRect t="1" r="32064" b="-10136"/>
          <a:stretch/>
        </p:blipFill>
        <p:spPr bwMode="auto">
          <a:xfrm>
            <a:off x="110789" y="112160"/>
            <a:ext cx="3410075" cy="757457"/>
          </a:xfrm>
          <a:prstGeom prst="rect">
            <a:avLst/>
          </a:prstGeom>
          <a:noFill/>
          <a:ln>
            <a:noFill/>
          </a:ln>
          <a:extLst>
            <a:ext uri="{53640926-AAD7-44D8-BBD7-CCE9431645EC}">
              <a14:shadowObscured xmlns:a14="http://schemas.microsoft.com/office/drawing/2010/main"/>
            </a:ext>
          </a:extLst>
        </p:spPr>
      </p:pic>
      <p:pic>
        <p:nvPicPr>
          <p:cNvPr id="7" name="Imagen 6" descr="Resultado de imagen para instituto tecnologico de orizaba logo"/>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251537" y="77977"/>
            <a:ext cx="779082" cy="805180"/>
          </a:xfrm>
          <a:prstGeom prst="rect">
            <a:avLst/>
          </a:prstGeom>
          <a:noFill/>
          <a:ln>
            <a:noFill/>
          </a:ln>
        </p:spPr>
      </p:pic>
      <p:pic>
        <p:nvPicPr>
          <p:cNvPr id="8" name="Imagen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74675" y="125347"/>
            <a:ext cx="1619264" cy="740391"/>
          </a:xfrm>
          <a:prstGeom prst="rect">
            <a:avLst/>
          </a:prstGeom>
        </p:spPr>
      </p:pic>
      <p:sp>
        <p:nvSpPr>
          <p:cNvPr id="9" name="Rectángulo 8"/>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11" name="3 Rectángulo"/>
          <p:cNvSpPr/>
          <p:nvPr/>
        </p:nvSpPr>
        <p:spPr>
          <a:xfrm>
            <a:off x="1775520" y="1585235"/>
            <a:ext cx="9865096" cy="4021614"/>
          </a:xfrm>
          <a:prstGeom prst="rect">
            <a:avLst/>
          </a:prstGeom>
        </p:spPr>
        <p:txBody>
          <a:bodyPr wrap="square">
            <a:spAutoFit/>
          </a:bodyPr>
          <a:lstStyle/>
          <a:p>
            <a:pPr>
              <a:lnSpc>
                <a:spcPct val="115000"/>
              </a:lnSpc>
              <a:spcAft>
                <a:spcPts val="1000"/>
              </a:spcAft>
            </a:pPr>
            <a:r>
              <a:rPr lang="es-ES" sz="2000" b="1" dirty="0" smtClean="0">
                <a:solidFill>
                  <a:srgbClr val="3399FF"/>
                </a:solidFill>
                <a:latin typeface="Trebuchet MS" panose="020B0603020202020204" pitchFamily="34" charset="0"/>
                <a:ea typeface="Times New Roman"/>
                <a:cs typeface="Calibri"/>
              </a:rPr>
              <a:t>Ejemplos de otras áreas</a:t>
            </a:r>
            <a:endParaRPr lang="es-ES" sz="2000" b="1" dirty="0" smtClean="0">
              <a:latin typeface="Trebuchet MS" panose="020B0603020202020204" pitchFamily="34" charset="0"/>
              <a:ea typeface="Times New Roman"/>
              <a:cs typeface="Calibri"/>
            </a:endParaRPr>
          </a:p>
          <a:p>
            <a:pPr marL="285750" indent="-285750" algn="just">
              <a:buClr>
                <a:srgbClr val="3399FF"/>
              </a:buClr>
              <a:buSzPct val="140000"/>
              <a:buFont typeface="Arial" panose="020B0604020202020204" pitchFamily="34" charset="0"/>
              <a:buChar char="•"/>
            </a:pPr>
            <a:r>
              <a:rPr lang="en-US" sz="1600" dirty="0" smtClean="0">
                <a:latin typeface="Trebuchet MS" panose="020B0603020202020204" pitchFamily="34" charset="0"/>
              </a:rPr>
              <a:t>O’Flaherty, J., Phillips, C., Karanicolas, S., Snelling, C., &amp; Winning, T. (2015). The use of flipped classrooms in higher education: A </a:t>
            </a:r>
            <a:r>
              <a:rPr lang="en-US" sz="1600" b="1" dirty="0" smtClean="0">
                <a:solidFill>
                  <a:srgbClr val="A50021"/>
                </a:solidFill>
                <a:latin typeface="Trebuchet MS" panose="020B0603020202020204" pitchFamily="34" charset="0"/>
              </a:rPr>
              <a:t>scoping review </a:t>
            </a:r>
            <a:r>
              <a:rPr lang="en-US" sz="1600" dirty="0" smtClean="0">
                <a:latin typeface="Trebuchet MS" panose="020B0603020202020204" pitchFamily="34" charset="0"/>
              </a:rPr>
              <a:t>(The Internet and Higher Education (2015) 25 (85-95)). Internet and Higher Education, 27, 90.    </a:t>
            </a:r>
            <a:r>
              <a:rPr lang="en-US" sz="1600" u="sng" dirty="0" smtClean="0">
                <a:latin typeface="Trebuchet MS" panose="020B0603020202020204" pitchFamily="34" charset="0"/>
                <a:hlinkClick r:id="rId6"/>
              </a:rPr>
              <a:t>https://doi.org/10.1016/j.iheduc.2015.05.001</a:t>
            </a:r>
            <a:r>
              <a:rPr lang="en-US" sz="1600" dirty="0" smtClean="0">
                <a:latin typeface="Trebuchet MS" panose="020B0603020202020204" pitchFamily="34" charset="0"/>
              </a:rPr>
              <a:t>      </a:t>
            </a:r>
            <a:endParaRPr lang="es-MX" sz="1600" dirty="0" smtClean="0">
              <a:latin typeface="Trebuchet MS" panose="020B0603020202020204" pitchFamily="34" charset="0"/>
            </a:endParaRPr>
          </a:p>
          <a:p>
            <a:pPr marL="285750" indent="-285750" algn="just">
              <a:buClr>
                <a:srgbClr val="3399FF"/>
              </a:buClr>
              <a:buSzPct val="140000"/>
              <a:buFont typeface="Arial" panose="020B0604020202020204" pitchFamily="34" charset="0"/>
              <a:buChar char="•"/>
            </a:pPr>
            <a:r>
              <a:rPr lang="en-US" sz="1600" dirty="0" smtClean="0">
                <a:latin typeface="Trebuchet MS" panose="020B0603020202020204" pitchFamily="34" charset="0"/>
              </a:rPr>
              <a:t>Pham</a:t>
            </a:r>
            <a:r>
              <a:rPr lang="en-US" sz="1600" dirty="0">
                <a:latin typeface="Trebuchet MS" panose="020B0603020202020204" pitchFamily="34" charset="0"/>
              </a:rPr>
              <a:t>, M. T., Greig, J. D., Sargeant, J. M., &amp; Mcewen, S. A. (2015). A scoping review of </a:t>
            </a:r>
            <a:r>
              <a:rPr lang="en-US" sz="1600" b="1" dirty="0">
                <a:solidFill>
                  <a:srgbClr val="A50021"/>
                </a:solidFill>
                <a:latin typeface="Trebuchet MS" panose="020B0603020202020204" pitchFamily="34" charset="0"/>
              </a:rPr>
              <a:t>scoping reviews </a:t>
            </a:r>
            <a:r>
              <a:rPr lang="en-US" sz="1600" dirty="0">
                <a:latin typeface="Trebuchet MS" panose="020B0603020202020204" pitchFamily="34" charset="0"/>
              </a:rPr>
              <a:t>: advancing the approach and enhancing the consistency. </a:t>
            </a:r>
            <a:r>
              <a:rPr lang="es-MX" sz="1600" dirty="0">
                <a:latin typeface="Trebuchet MS" panose="020B0603020202020204" pitchFamily="34" charset="0"/>
              </a:rPr>
              <a:t>July 2014. </a:t>
            </a:r>
            <a:r>
              <a:rPr lang="es-MX" sz="1600" u="sng" dirty="0">
                <a:latin typeface="Trebuchet MS" panose="020B0603020202020204" pitchFamily="34" charset="0"/>
                <a:hlinkClick r:id="rId7"/>
              </a:rPr>
              <a:t>https://doi.org/10.1002/jrsm.1123</a:t>
            </a:r>
            <a:r>
              <a:rPr lang="es-MX" sz="1600" dirty="0">
                <a:latin typeface="Trebuchet MS" panose="020B0603020202020204" pitchFamily="34" charset="0"/>
              </a:rPr>
              <a:t>      </a:t>
            </a:r>
            <a:endParaRPr lang="es-MX" sz="1600" dirty="0" smtClean="0">
              <a:latin typeface="Trebuchet MS" panose="020B0603020202020204" pitchFamily="34" charset="0"/>
            </a:endParaRPr>
          </a:p>
          <a:p>
            <a:pPr marL="285750" indent="-285750" algn="just">
              <a:buClr>
                <a:srgbClr val="3399FF"/>
              </a:buClr>
              <a:buSzPct val="140000"/>
              <a:buFont typeface="Arial" panose="020B0604020202020204" pitchFamily="34" charset="0"/>
              <a:buChar char="•"/>
            </a:pPr>
            <a:r>
              <a:rPr lang="en-US" sz="1600" dirty="0">
                <a:latin typeface="Trebuchet MS" panose="020B0603020202020204" pitchFamily="34" charset="0"/>
              </a:rPr>
              <a:t>Archer, N., Lokker, C., Mckibbon, K. A., &amp; Straus, S. E. (n.d.). Personal health records : a </a:t>
            </a:r>
            <a:r>
              <a:rPr lang="en-US" sz="1600" b="1" dirty="0">
                <a:solidFill>
                  <a:srgbClr val="A50021"/>
                </a:solidFill>
                <a:latin typeface="Trebuchet MS" panose="020B0603020202020204" pitchFamily="34" charset="0"/>
              </a:rPr>
              <a:t>scoping review</a:t>
            </a:r>
            <a:r>
              <a:rPr lang="en-US" sz="1600" dirty="0">
                <a:latin typeface="Trebuchet MS" panose="020B0603020202020204" pitchFamily="34" charset="0"/>
              </a:rPr>
              <a:t>. 515–522. </a:t>
            </a:r>
            <a:r>
              <a:rPr lang="en-US" sz="1600" u="sng" dirty="0">
                <a:latin typeface="Trebuchet MS" panose="020B0603020202020204" pitchFamily="34" charset="0"/>
                <a:hlinkClick r:id="rId8"/>
              </a:rPr>
              <a:t>https://doi.org/10.1136/amiajnl-2011-000105</a:t>
            </a:r>
            <a:r>
              <a:rPr lang="en-US" sz="1600" dirty="0">
                <a:latin typeface="Trebuchet MS" panose="020B0603020202020204" pitchFamily="34" charset="0"/>
              </a:rPr>
              <a:t>   </a:t>
            </a:r>
            <a:endParaRPr lang="es-MX" sz="1600" dirty="0">
              <a:latin typeface="Trebuchet MS" panose="020B0603020202020204" pitchFamily="34" charset="0"/>
            </a:endParaRPr>
          </a:p>
          <a:p>
            <a:pPr marL="285750" indent="-285750" algn="just">
              <a:buClr>
                <a:srgbClr val="3399FF"/>
              </a:buClr>
              <a:buSzPct val="140000"/>
              <a:buFont typeface="Arial" panose="020B0604020202020204" pitchFamily="34" charset="0"/>
              <a:buChar char="•"/>
            </a:pPr>
            <a:r>
              <a:rPr lang="en-US" sz="1600" dirty="0" smtClean="0">
                <a:latin typeface="Trebuchet MS" panose="020B0603020202020204" pitchFamily="34" charset="0"/>
              </a:rPr>
              <a:t>Johnston</a:t>
            </a:r>
            <a:r>
              <a:rPr lang="en-US" sz="1600" dirty="0">
                <a:latin typeface="Trebuchet MS" panose="020B0603020202020204" pitchFamily="34" charset="0"/>
              </a:rPr>
              <a:t>, R., Crooks, V. A., Snyder, J., &amp; Kingsbury, P. (2010). What is known about the effects of medical tourism in destination and departure countries? A </a:t>
            </a:r>
            <a:r>
              <a:rPr lang="en-US" sz="1600" b="1" dirty="0">
                <a:solidFill>
                  <a:srgbClr val="A50021"/>
                </a:solidFill>
                <a:latin typeface="Trebuchet MS" panose="020B0603020202020204" pitchFamily="34" charset="0"/>
              </a:rPr>
              <a:t>scoping review</a:t>
            </a:r>
            <a:r>
              <a:rPr lang="en-US" sz="1600" dirty="0">
                <a:latin typeface="Trebuchet MS" panose="020B0603020202020204" pitchFamily="34" charset="0"/>
              </a:rPr>
              <a:t>. International Journal for Equity in Health, 9. </a:t>
            </a:r>
            <a:r>
              <a:rPr lang="en-US" sz="1600" u="sng" dirty="0">
                <a:latin typeface="Trebuchet MS" panose="020B0603020202020204" pitchFamily="34" charset="0"/>
                <a:hlinkClick r:id="rId9"/>
              </a:rPr>
              <a:t>https://doi.org/10.1186/1475-9276-9-24</a:t>
            </a:r>
            <a:r>
              <a:rPr lang="en-US" sz="1600" dirty="0">
                <a:latin typeface="Trebuchet MS" panose="020B0603020202020204" pitchFamily="34" charset="0"/>
              </a:rPr>
              <a:t>   </a:t>
            </a:r>
            <a:endParaRPr lang="en-US" sz="1600" dirty="0" smtClean="0">
              <a:latin typeface="Trebuchet MS" panose="020B0603020202020204" pitchFamily="34" charset="0"/>
            </a:endParaRPr>
          </a:p>
          <a:p>
            <a:pPr marL="285750" indent="-285750" algn="just">
              <a:buClr>
                <a:srgbClr val="3399FF"/>
              </a:buClr>
              <a:buSzPct val="140000"/>
              <a:buFont typeface="Arial" panose="020B0604020202020204" pitchFamily="34" charset="0"/>
              <a:buChar char="•"/>
            </a:pPr>
            <a:r>
              <a:rPr lang="en-US" sz="1600" dirty="0">
                <a:latin typeface="Trebuchet MS" panose="020B0603020202020204" pitchFamily="34" charset="0"/>
              </a:rPr>
              <a:t>Mitton, C., Smith, N., Peacock, S., Evoy, B., &amp; Abelson, J. (2009). Public participation in health care priority setting: A </a:t>
            </a:r>
            <a:r>
              <a:rPr lang="en-US" sz="1600" b="1" dirty="0">
                <a:solidFill>
                  <a:srgbClr val="A50021"/>
                </a:solidFill>
                <a:latin typeface="Trebuchet MS" panose="020B0603020202020204" pitchFamily="34" charset="0"/>
              </a:rPr>
              <a:t>scoping review</a:t>
            </a:r>
            <a:r>
              <a:rPr lang="en-US" sz="1600" dirty="0">
                <a:latin typeface="Trebuchet MS" panose="020B0603020202020204" pitchFamily="34" charset="0"/>
              </a:rPr>
              <a:t>. </a:t>
            </a:r>
            <a:r>
              <a:rPr lang="es-MX" sz="1600" dirty="0">
                <a:latin typeface="Trebuchet MS" panose="020B0603020202020204" pitchFamily="34" charset="0"/>
              </a:rPr>
              <a:t>Health Policy, 91(3), 219–228. </a:t>
            </a:r>
            <a:r>
              <a:rPr lang="en-US" sz="1600" u="sng" dirty="0">
                <a:latin typeface="Trebuchet MS" panose="020B0603020202020204" pitchFamily="34" charset="0"/>
                <a:hlinkClick r:id="rId10"/>
              </a:rPr>
              <a:t>https://doi.org/10.1016/j.healthpol.2009.01.005</a:t>
            </a:r>
            <a:r>
              <a:rPr lang="en-US" sz="1600" dirty="0">
                <a:latin typeface="Trebuchet MS" panose="020B0603020202020204" pitchFamily="34" charset="0"/>
              </a:rPr>
              <a:t>  </a:t>
            </a:r>
            <a:r>
              <a:rPr lang="en-US" sz="1600" dirty="0" smtClean="0">
                <a:latin typeface="Trebuchet MS" panose="020B0603020202020204" pitchFamily="34" charset="0"/>
              </a:rPr>
              <a:t> </a:t>
            </a:r>
            <a:endParaRPr lang="es-ES" sz="1600" dirty="0" smtClean="0">
              <a:solidFill>
                <a:srgbClr val="3399FF"/>
              </a:solidFill>
              <a:latin typeface="Trebuchet MS" panose="020B0603020202020204" pitchFamily="34" charset="0"/>
              <a:ea typeface="Times New Roman"/>
              <a:cs typeface="Calibri"/>
            </a:endParaRPr>
          </a:p>
        </p:txBody>
      </p:sp>
      <p:sp>
        <p:nvSpPr>
          <p:cNvPr id="10" name="CuadroTexto 9"/>
          <p:cNvSpPr txBox="1"/>
          <p:nvPr/>
        </p:nvSpPr>
        <p:spPr>
          <a:xfrm>
            <a:off x="302646" y="2708920"/>
            <a:ext cx="1488605" cy="369332"/>
          </a:xfrm>
          <a:prstGeom prst="rect">
            <a:avLst/>
          </a:prstGeom>
          <a:noFill/>
        </p:spPr>
        <p:txBody>
          <a:bodyPr wrap="square" rtlCol="0">
            <a:spAutoFit/>
          </a:bodyPr>
          <a:lstStyle/>
          <a:p>
            <a:r>
              <a:rPr lang="en-US" dirty="0" smtClean="0">
                <a:latin typeface="Trebuchet MS" panose="020B0603020202020204" pitchFamily="34" charset="0"/>
              </a:rPr>
              <a:t>[</a:t>
            </a:r>
            <a:r>
              <a:rPr lang="es-MX" b="1" dirty="0" smtClean="0">
                <a:solidFill>
                  <a:srgbClr val="990000"/>
                </a:solidFill>
                <a:latin typeface="Trebuchet MS" panose="020B0603020202020204" pitchFamily="34" charset="0"/>
              </a:rPr>
              <a:t>672 citas</a:t>
            </a:r>
            <a:r>
              <a:rPr lang="en-US" dirty="0" smtClean="0">
                <a:latin typeface="Trebuchet MS" panose="020B0603020202020204" pitchFamily="34" charset="0"/>
              </a:rPr>
              <a:t>]</a:t>
            </a:r>
          </a:p>
        </p:txBody>
      </p:sp>
      <p:sp>
        <p:nvSpPr>
          <p:cNvPr id="13" name="CuadroTexto 12"/>
          <p:cNvSpPr txBox="1"/>
          <p:nvPr/>
        </p:nvSpPr>
        <p:spPr>
          <a:xfrm>
            <a:off x="302747" y="3428417"/>
            <a:ext cx="1527899" cy="369332"/>
          </a:xfrm>
          <a:prstGeom prst="rect">
            <a:avLst/>
          </a:prstGeom>
          <a:noFill/>
        </p:spPr>
        <p:txBody>
          <a:bodyPr wrap="square" rtlCol="0">
            <a:spAutoFit/>
          </a:bodyPr>
          <a:lstStyle/>
          <a:p>
            <a:r>
              <a:rPr lang="en-US" dirty="0" smtClean="0">
                <a:latin typeface="Trebuchet MS" panose="020B0603020202020204" pitchFamily="34" charset="0"/>
              </a:rPr>
              <a:t>[</a:t>
            </a:r>
            <a:r>
              <a:rPr lang="es-MX" b="1" dirty="0" smtClean="0">
                <a:solidFill>
                  <a:srgbClr val="990000"/>
                </a:solidFill>
                <a:latin typeface="Trebuchet MS" panose="020B0603020202020204" pitchFamily="34" charset="0"/>
              </a:rPr>
              <a:t>550 citas</a:t>
            </a:r>
            <a:r>
              <a:rPr lang="en-US" dirty="0" smtClean="0">
                <a:latin typeface="Trebuchet MS" panose="020B0603020202020204" pitchFamily="34" charset="0"/>
              </a:rPr>
              <a:t>]</a:t>
            </a:r>
          </a:p>
        </p:txBody>
      </p:sp>
      <p:sp>
        <p:nvSpPr>
          <p:cNvPr id="16" name="CuadroTexto 15"/>
          <p:cNvSpPr txBox="1"/>
          <p:nvPr/>
        </p:nvSpPr>
        <p:spPr>
          <a:xfrm>
            <a:off x="301397" y="3923445"/>
            <a:ext cx="1527899" cy="369332"/>
          </a:xfrm>
          <a:prstGeom prst="rect">
            <a:avLst/>
          </a:prstGeom>
          <a:noFill/>
        </p:spPr>
        <p:txBody>
          <a:bodyPr wrap="square" rtlCol="0">
            <a:spAutoFit/>
          </a:bodyPr>
          <a:lstStyle/>
          <a:p>
            <a:r>
              <a:rPr lang="en-US" dirty="0" smtClean="0">
                <a:latin typeface="Trebuchet MS" panose="020B0603020202020204" pitchFamily="34" charset="0"/>
              </a:rPr>
              <a:t>[</a:t>
            </a:r>
            <a:r>
              <a:rPr lang="es-MX" b="1" dirty="0" smtClean="0">
                <a:solidFill>
                  <a:srgbClr val="990000"/>
                </a:solidFill>
                <a:latin typeface="Trebuchet MS" panose="020B0603020202020204" pitchFamily="34" charset="0"/>
              </a:rPr>
              <a:t>360 citas</a:t>
            </a:r>
            <a:r>
              <a:rPr lang="en-US" dirty="0" smtClean="0">
                <a:latin typeface="Trebuchet MS" panose="020B0603020202020204" pitchFamily="34" charset="0"/>
              </a:rPr>
              <a:t>]</a:t>
            </a:r>
          </a:p>
        </p:txBody>
      </p:sp>
      <p:sp>
        <p:nvSpPr>
          <p:cNvPr id="17" name="CuadroTexto 16"/>
          <p:cNvSpPr txBox="1"/>
          <p:nvPr/>
        </p:nvSpPr>
        <p:spPr>
          <a:xfrm>
            <a:off x="301397" y="4643206"/>
            <a:ext cx="1527899" cy="369332"/>
          </a:xfrm>
          <a:prstGeom prst="rect">
            <a:avLst/>
          </a:prstGeom>
          <a:noFill/>
        </p:spPr>
        <p:txBody>
          <a:bodyPr wrap="square" rtlCol="0">
            <a:spAutoFit/>
          </a:bodyPr>
          <a:lstStyle/>
          <a:p>
            <a:r>
              <a:rPr lang="en-US" dirty="0" smtClean="0">
                <a:latin typeface="Trebuchet MS" panose="020B0603020202020204" pitchFamily="34" charset="0"/>
              </a:rPr>
              <a:t>[</a:t>
            </a:r>
            <a:r>
              <a:rPr lang="es-MX" b="1" dirty="0" smtClean="0">
                <a:solidFill>
                  <a:srgbClr val="990000"/>
                </a:solidFill>
                <a:latin typeface="Trebuchet MS" panose="020B0603020202020204" pitchFamily="34" charset="0"/>
              </a:rPr>
              <a:t>339 citas</a:t>
            </a:r>
            <a:r>
              <a:rPr lang="en-US" dirty="0" smtClean="0">
                <a:latin typeface="Trebuchet MS" panose="020B0603020202020204" pitchFamily="34" charset="0"/>
              </a:rPr>
              <a:t>]</a:t>
            </a:r>
          </a:p>
        </p:txBody>
      </p:sp>
      <p:sp>
        <p:nvSpPr>
          <p:cNvPr id="14" name="Title 1"/>
          <p:cNvSpPr txBox="1">
            <a:spLocks/>
          </p:cNvSpPr>
          <p:nvPr/>
        </p:nvSpPr>
        <p:spPr>
          <a:xfrm>
            <a:off x="911424" y="1003473"/>
            <a:ext cx="9289032" cy="40930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solidFill>
                  <a:srgbClr val="08489E"/>
                </a:solidFill>
                <a:latin typeface="Trebuchet MS" panose="020B0603020202020204" pitchFamily="34" charset="0"/>
              </a:rPr>
              <a:t>Revisión de alcance 5/5</a:t>
            </a:r>
            <a:endParaRPr lang="en-US" sz="2400" b="1" dirty="0">
              <a:solidFill>
                <a:srgbClr val="08489E"/>
              </a:solidFill>
              <a:latin typeface="Trebuchet MS" panose="020B0603020202020204" pitchFamily="34" charset="0"/>
            </a:endParaRPr>
          </a:p>
        </p:txBody>
      </p:sp>
      <p:sp>
        <p:nvSpPr>
          <p:cNvPr id="15" name="CuadroTexto 14"/>
          <p:cNvSpPr txBox="1"/>
          <p:nvPr/>
        </p:nvSpPr>
        <p:spPr>
          <a:xfrm>
            <a:off x="302646" y="2014073"/>
            <a:ext cx="1527899" cy="369332"/>
          </a:xfrm>
          <a:prstGeom prst="rect">
            <a:avLst/>
          </a:prstGeom>
          <a:noFill/>
        </p:spPr>
        <p:txBody>
          <a:bodyPr wrap="square" rtlCol="0">
            <a:spAutoFit/>
          </a:bodyPr>
          <a:lstStyle/>
          <a:p>
            <a:r>
              <a:rPr lang="en-US" dirty="0" smtClean="0">
                <a:latin typeface="Trebuchet MS" panose="020B0603020202020204" pitchFamily="34" charset="0"/>
              </a:rPr>
              <a:t>[</a:t>
            </a:r>
            <a:r>
              <a:rPr lang="es-MX" b="1" dirty="0" smtClean="0">
                <a:solidFill>
                  <a:srgbClr val="990000"/>
                </a:solidFill>
                <a:latin typeface="Trebuchet MS" panose="020B0603020202020204" pitchFamily="34" charset="0"/>
              </a:rPr>
              <a:t>1258 citas</a:t>
            </a:r>
            <a:r>
              <a:rPr lang="en-US" dirty="0" smtClean="0">
                <a:latin typeface="Trebuchet MS" panose="020B0603020202020204" pitchFamily="34" charset="0"/>
              </a:rPr>
              <a:t>]</a:t>
            </a:r>
          </a:p>
        </p:txBody>
      </p:sp>
    </p:spTree>
    <p:extLst>
      <p:ext uri="{BB962C8B-B14F-4D97-AF65-F5344CB8AC3E}">
        <p14:creationId xmlns:p14="http://schemas.microsoft.com/office/powerpoint/2010/main" val="64518316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pic>
        <p:nvPicPr>
          <p:cNvPr id="6" name="Imagen 5"/>
          <p:cNvPicPr/>
          <p:nvPr/>
        </p:nvPicPr>
        <p:blipFill rotWithShape="1">
          <a:blip r:embed="rId2">
            <a:extLst>
              <a:ext uri="{28A0092B-C50C-407E-A947-70E740481C1C}">
                <a14:useLocalDpi xmlns:a14="http://schemas.microsoft.com/office/drawing/2010/main" val="0"/>
              </a:ext>
            </a:extLst>
          </a:blip>
          <a:srcRect t="1" r="32064" b="-10136"/>
          <a:stretch/>
        </p:blipFill>
        <p:spPr bwMode="auto">
          <a:xfrm>
            <a:off x="110789" y="112160"/>
            <a:ext cx="3410075" cy="757457"/>
          </a:xfrm>
          <a:prstGeom prst="rect">
            <a:avLst/>
          </a:prstGeom>
          <a:noFill/>
          <a:ln>
            <a:noFill/>
          </a:ln>
          <a:extLst>
            <a:ext uri="{53640926-AAD7-44D8-BBD7-CCE9431645EC}">
              <a14:shadowObscured xmlns:a14="http://schemas.microsoft.com/office/drawing/2010/main"/>
            </a:ext>
          </a:extLst>
        </p:spPr>
      </p:pic>
      <p:pic>
        <p:nvPicPr>
          <p:cNvPr id="7" name="Imagen 6" descr="Resultado de imagen para instituto tecnologico de orizaba logo"/>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51537" y="77977"/>
            <a:ext cx="779082" cy="805180"/>
          </a:xfrm>
          <a:prstGeom prst="rect">
            <a:avLst/>
          </a:prstGeom>
          <a:noFill/>
          <a:ln>
            <a:noFill/>
          </a:ln>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74675" y="125347"/>
            <a:ext cx="1619264" cy="740391"/>
          </a:xfrm>
          <a:prstGeom prst="rect">
            <a:avLst/>
          </a:prstGeom>
        </p:spPr>
      </p:pic>
      <p:sp>
        <p:nvSpPr>
          <p:cNvPr id="9" name="Rectángulo 8"/>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12" name="Title 1"/>
          <p:cNvSpPr txBox="1">
            <a:spLocks/>
          </p:cNvSpPr>
          <p:nvPr/>
        </p:nvSpPr>
        <p:spPr>
          <a:xfrm>
            <a:off x="911424" y="1003473"/>
            <a:ext cx="9289032" cy="40930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solidFill>
                  <a:srgbClr val="08489E"/>
                </a:solidFill>
                <a:latin typeface="Trebuchet MS" panose="020B0603020202020204" pitchFamily="34" charset="0"/>
              </a:rPr>
              <a:t>Estudio de Mapeo Sistemático 1/5</a:t>
            </a:r>
            <a:endParaRPr lang="en-US" sz="2400" b="1" dirty="0">
              <a:solidFill>
                <a:srgbClr val="08489E"/>
              </a:solidFill>
              <a:latin typeface="Trebuchet MS" panose="020B0603020202020204" pitchFamily="34" charset="0"/>
            </a:endParaRPr>
          </a:p>
        </p:txBody>
      </p:sp>
      <p:sp>
        <p:nvSpPr>
          <p:cNvPr id="13" name="3 Rectángulo"/>
          <p:cNvSpPr/>
          <p:nvPr/>
        </p:nvSpPr>
        <p:spPr>
          <a:xfrm>
            <a:off x="911423" y="1585235"/>
            <a:ext cx="6840761" cy="3662541"/>
          </a:xfrm>
          <a:prstGeom prst="rect">
            <a:avLst/>
          </a:prstGeom>
        </p:spPr>
        <p:txBody>
          <a:bodyPr wrap="square">
            <a:spAutoFit/>
          </a:bodyPr>
          <a:lstStyle/>
          <a:p>
            <a:pPr>
              <a:lnSpc>
                <a:spcPct val="115000"/>
              </a:lnSpc>
              <a:spcAft>
                <a:spcPts val="1000"/>
              </a:spcAft>
            </a:pPr>
            <a:r>
              <a:rPr lang="es-ES" sz="2000" b="1" dirty="0">
                <a:solidFill>
                  <a:srgbClr val="3399FF"/>
                </a:solidFill>
                <a:latin typeface="Trebuchet MS" panose="020B0603020202020204" pitchFamily="34" charset="0"/>
                <a:ea typeface="Times New Roman"/>
                <a:cs typeface="Calibri"/>
              </a:rPr>
              <a:t>Definición</a:t>
            </a:r>
          </a:p>
          <a:p>
            <a:pPr marL="342900" indent="-342900" algn="just">
              <a:lnSpc>
                <a:spcPct val="115000"/>
              </a:lnSpc>
              <a:spcAft>
                <a:spcPts val="1000"/>
              </a:spcAft>
              <a:buClr>
                <a:srgbClr val="990000"/>
              </a:buClr>
              <a:buSzPct val="140000"/>
              <a:buFont typeface="Arial" panose="020B0604020202020204" pitchFamily="34" charset="0"/>
              <a:buChar char="•"/>
            </a:pPr>
            <a:r>
              <a:rPr lang="es-MX" sz="1600" dirty="0" smtClean="0">
                <a:latin typeface="Trebuchet MS" panose="020B0603020202020204" pitchFamily="34" charset="0"/>
                <a:ea typeface="Calibri"/>
                <a:cs typeface="Times New Roman"/>
              </a:rPr>
              <a:t>El </a:t>
            </a:r>
            <a:r>
              <a:rPr lang="es-MX" sz="1600" b="1" dirty="0" smtClean="0">
                <a:latin typeface="Trebuchet MS" panose="020B0603020202020204" pitchFamily="34" charset="0"/>
                <a:ea typeface="Calibri"/>
                <a:cs typeface="Times New Roman"/>
              </a:rPr>
              <a:t>Estudio </a:t>
            </a:r>
            <a:r>
              <a:rPr lang="es-MX" sz="1600" b="1" dirty="0">
                <a:latin typeface="Trebuchet MS" panose="020B0603020202020204" pitchFamily="34" charset="0"/>
                <a:ea typeface="Calibri"/>
                <a:cs typeface="Times New Roman"/>
              </a:rPr>
              <a:t>de Mapeo Sistemático </a:t>
            </a:r>
            <a:r>
              <a:rPr lang="es-MX" sz="1600" dirty="0">
                <a:latin typeface="Trebuchet MS" panose="020B0603020202020204" pitchFamily="34" charset="0"/>
                <a:ea typeface="Calibri"/>
                <a:cs typeface="Times New Roman"/>
              </a:rPr>
              <a:t>proporciona una estructura del tipo de informes de investigación y resultados que han sido publicados categorizándolos. </a:t>
            </a:r>
            <a:r>
              <a:rPr lang="es-MX" sz="1600" dirty="0" smtClean="0">
                <a:latin typeface="Trebuchet MS" panose="020B0603020202020204" pitchFamily="34" charset="0"/>
                <a:ea typeface="Calibri"/>
                <a:cs typeface="Times New Roman"/>
              </a:rPr>
              <a:t>Esta revisión requiere </a:t>
            </a:r>
            <a:r>
              <a:rPr lang="es-MX" sz="1600" dirty="0">
                <a:latin typeface="Trebuchet MS" panose="020B0603020202020204" pitchFamily="34" charset="0"/>
                <a:ea typeface="Calibri"/>
                <a:cs typeface="Times New Roman"/>
              </a:rPr>
              <a:t>menos esfuerzo al tiempo que proporciona una visión general más detallada. </a:t>
            </a:r>
          </a:p>
          <a:p>
            <a:pPr marL="342900" indent="-342900" algn="just">
              <a:lnSpc>
                <a:spcPct val="115000"/>
              </a:lnSpc>
              <a:spcAft>
                <a:spcPts val="1000"/>
              </a:spcAft>
              <a:buClr>
                <a:srgbClr val="990000"/>
              </a:buClr>
              <a:buSzPct val="140000"/>
              <a:buFont typeface="Arial" panose="020B0604020202020204" pitchFamily="34" charset="0"/>
              <a:buChar char="•"/>
            </a:pPr>
            <a:r>
              <a:rPr lang="es-MX" sz="1600" dirty="0" smtClean="0">
                <a:latin typeface="Trebuchet MS" panose="020B0603020202020204" pitchFamily="34" charset="0"/>
                <a:ea typeface="Calibri"/>
                <a:cs typeface="Times New Roman"/>
              </a:rPr>
              <a:t>Es una </a:t>
            </a:r>
            <a:r>
              <a:rPr lang="es-MX" sz="1600" dirty="0">
                <a:latin typeface="Trebuchet MS" panose="020B0603020202020204" pitchFamily="34" charset="0"/>
                <a:ea typeface="Calibri"/>
                <a:cs typeface="Times New Roman"/>
              </a:rPr>
              <a:t>metodología que se usa con frecuencia en la investigación médica. </a:t>
            </a:r>
            <a:endParaRPr lang="es-MX" sz="1600" dirty="0" smtClean="0">
              <a:latin typeface="Trebuchet MS" panose="020B0603020202020204" pitchFamily="34" charset="0"/>
              <a:ea typeface="Calibri"/>
              <a:cs typeface="Times New Roman"/>
            </a:endParaRPr>
          </a:p>
          <a:p>
            <a:pPr marL="342900" indent="-342900" algn="just">
              <a:lnSpc>
                <a:spcPct val="115000"/>
              </a:lnSpc>
              <a:spcAft>
                <a:spcPts val="1000"/>
              </a:spcAft>
              <a:buClr>
                <a:srgbClr val="990000"/>
              </a:buClr>
              <a:buSzPct val="140000"/>
              <a:buFont typeface="Arial" panose="020B0604020202020204" pitchFamily="34" charset="0"/>
              <a:buChar char="•"/>
            </a:pPr>
            <a:r>
              <a:rPr lang="es-MX" sz="1600" dirty="0" smtClean="0">
                <a:latin typeface="Trebuchet MS" panose="020B0603020202020204" pitchFamily="34" charset="0"/>
                <a:ea typeface="Calibri"/>
                <a:cs typeface="Times New Roman"/>
              </a:rPr>
              <a:t>Los Estudios </a:t>
            </a:r>
            <a:r>
              <a:rPr lang="es-MX" sz="1600" dirty="0">
                <a:latin typeface="Trebuchet MS" panose="020B0603020202020204" pitchFamily="34" charset="0"/>
                <a:ea typeface="Calibri"/>
                <a:cs typeface="Times New Roman"/>
              </a:rPr>
              <a:t>de </a:t>
            </a:r>
            <a:r>
              <a:rPr lang="es-MX" sz="1600" dirty="0" smtClean="0">
                <a:latin typeface="Trebuchet MS" panose="020B0603020202020204" pitchFamily="34" charset="0"/>
                <a:ea typeface="Calibri"/>
                <a:cs typeface="Times New Roman"/>
              </a:rPr>
              <a:t>Mapeo </a:t>
            </a:r>
            <a:r>
              <a:rPr lang="es-MX" sz="1600" dirty="0">
                <a:latin typeface="Trebuchet MS" panose="020B0603020202020204" pitchFamily="34" charset="0"/>
                <a:ea typeface="Calibri"/>
                <a:cs typeface="Times New Roman"/>
              </a:rPr>
              <a:t>en </a:t>
            </a:r>
            <a:r>
              <a:rPr lang="es-MX" sz="1600" dirty="0" smtClean="0">
                <a:latin typeface="Trebuchet MS" panose="020B0603020202020204" pitchFamily="34" charset="0"/>
                <a:ea typeface="Calibri"/>
                <a:cs typeface="Times New Roman"/>
              </a:rPr>
              <a:t>Ingeniería </a:t>
            </a:r>
            <a:r>
              <a:rPr lang="es-MX" sz="1600" dirty="0">
                <a:latin typeface="Trebuchet MS" panose="020B0603020202020204" pitchFamily="34" charset="0"/>
                <a:ea typeface="Calibri"/>
                <a:cs typeface="Times New Roman"/>
              </a:rPr>
              <a:t>de software se recomiendan principalmente para áreas de </a:t>
            </a:r>
            <a:r>
              <a:rPr lang="es-MX" sz="1600" dirty="0" smtClean="0">
                <a:latin typeface="Trebuchet MS" panose="020B0603020202020204" pitchFamily="34" charset="0"/>
                <a:ea typeface="Calibri"/>
                <a:cs typeface="Times New Roman"/>
              </a:rPr>
              <a:t>investigación </a:t>
            </a:r>
            <a:r>
              <a:rPr lang="es-MX" sz="1600" dirty="0">
                <a:latin typeface="Trebuchet MS" panose="020B0603020202020204" pitchFamily="34" charset="0"/>
                <a:ea typeface="Calibri"/>
                <a:cs typeface="Times New Roman"/>
              </a:rPr>
              <a:t>donde hacen  falta estudios primarios </a:t>
            </a:r>
            <a:r>
              <a:rPr lang="es-MX" sz="1600" dirty="0" smtClean="0">
                <a:latin typeface="Trebuchet MS" panose="020B0603020202020204" pitchFamily="34" charset="0"/>
                <a:ea typeface="Calibri"/>
                <a:cs typeface="Times New Roman"/>
              </a:rPr>
              <a:t>relevantes. </a:t>
            </a:r>
            <a:r>
              <a:rPr lang="es-MX" sz="1600" b="1" dirty="0" smtClean="0">
                <a:latin typeface="Trebuchet MS" panose="020B0603020202020204" pitchFamily="34" charset="0"/>
                <a:ea typeface="Calibri"/>
                <a:cs typeface="Times New Roman"/>
              </a:rPr>
              <a:t>Petersen, </a:t>
            </a:r>
            <a:r>
              <a:rPr lang="es-MX" sz="1600" b="1" dirty="0" err="1" smtClean="0">
                <a:latin typeface="Trebuchet MS" panose="020B0603020202020204" pitchFamily="34" charset="0"/>
                <a:ea typeface="Calibri"/>
                <a:cs typeface="Times New Roman"/>
              </a:rPr>
              <a:t>Feldt</a:t>
            </a:r>
            <a:r>
              <a:rPr lang="es-MX" sz="1600" b="1" dirty="0" smtClean="0">
                <a:latin typeface="Trebuchet MS" panose="020B0603020202020204" pitchFamily="34" charset="0"/>
                <a:ea typeface="Calibri"/>
                <a:cs typeface="Times New Roman"/>
              </a:rPr>
              <a:t>, </a:t>
            </a:r>
            <a:r>
              <a:rPr lang="es-MX" sz="1600" b="1" dirty="0" err="1" smtClean="0">
                <a:latin typeface="Trebuchet MS" panose="020B0603020202020204" pitchFamily="34" charset="0"/>
                <a:ea typeface="Calibri"/>
                <a:cs typeface="Times New Roman"/>
              </a:rPr>
              <a:t>Mujtaba</a:t>
            </a:r>
            <a:r>
              <a:rPr lang="es-MX" sz="1600" b="1" dirty="0" smtClean="0">
                <a:latin typeface="Trebuchet MS" panose="020B0603020202020204" pitchFamily="34" charset="0"/>
                <a:ea typeface="Calibri"/>
                <a:cs typeface="Times New Roman"/>
              </a:rPr>
              <a:t> &amp; </a:t>
            </a:r>
            <a:r>
              <a:rPr lang="es-MX" sz="1600" b="1" dirty="0" err="1" smtClean="0">
                <a:latin typeface="Trebuchet MS" panose="020B0603020202020204" pitchFamily="34" charset="0"/>
                <a:ea typeface="Calibri"/>
                <a:cs typeface="Times New Roman"/>
              </a:rPr>
              <a:t>Mattsso</a:t>
            </a:r>
            <a:r>
              <a:rPr lang="es-MX" sz="1600" b="1" dirty="0" smtClean="0">
                <a:latin typeface="Trebuchet MS" panose="020B0603020202020204" pitchFamily="34" charset="0"/>
                <a:ea typeface="Calibri"/>
                <a:cs typeface="Times New Roman"/>
              </a:rPr>
              <a:t>. (2007)</a:t>
            </a:r>
            <a:r>
              <a:rPr lang="es-MX" sz="1600" b="1" baseline="30000" dirty="0" smtClean="0">
                <a:latin typeface="Trebuchet MS" panose="020B0603020202020204" pitchFamily="34" charset="0"/>
                <a:ea typeface="Calibri"/>
                <a:cs typeface="Times New Roman"/>
              </a:rPr>
              <a:t>5</a:t>
            </a:r>
            <a:endParaRPr lang="es-MX" sz="1600" b="1" baseline="30000" dirty="0">
              <a:latin typeface="Trebuchet MS" panose="020B0603020202020204" pitchFamily="34" charset="0"/>
            </a:endParaRPr>
          </a:p>
        </p:txBody>
      </p:sp>
      <p:sp>
        <p:nvSpPr>
          <p:cNvPr id="10" name="Marcador de pie de página 1"/>
          <p:cNvSpPr txBox="1">
            <a:spLocks/>
          </p:cNvSpPr>
          <p:nvPr/>
        </p:nvSpPr>
        <p:spPr>
          <a:xfrm>
            <a:off x="911423" y="5733256"/>
            <a:ext cx="10282516" cy="576064"/>
          </a:xfrm>
          <a:prstGeom prst="rect">
            <a:avLst/>
          </a:prstGeom>
        </p:spPr>
        <p:txBody>
          <a:bodyPr vert="horz" lIns="91440" tIns="45720" rIns="91440" bIns="45720" rtlCol="0" anchor="ctr"/>
          <a:lstStyle>
            <a:defPPr>
              <a:defRPr lang="es-MX"/>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endParaRPr lang="en-US" b="1" dirty="0" smtClean="0">
              <a:solidFill>
                <a:schemeClr val="tx1"/>
              </a:solidFill>
            </a:endParaRPr>
          </a:p>
          <a:p>
            <a:pPr algn="just"/>
            <a:endParaRPr lang="en-US" b="1" dirty="0" smtClean="0">
              <a:solidFill>
                <a:schemeClr val="tx1"/>
              </a:solidFill>
            </a:endParaRPr>
          </a:p>
          <a:p>
            <a:pPr algn="just"/>
            <a:endParaRPr lang="en-US" b="1" dirty="0" smtClean="0">
              <a:solidFill>
                <a:schemeClr val="tx1"/>
              </a:solidFill>
            </a:endParaRPr>
          </a:p>
          <a:p>
            <a:pPr algn="just"/>
            <a:endParaRPr lang="en-US" sz="1100" b="1" dirty="0">
              <a:solidFill>
                <a:schemeClr val="tx1"/>
              </a:solidFill>
              <a:latin typeface="Arial" panose="020B0604020202020204" pitchFamily="34" charset="0"/>
              <a:cs typeface="Arial" panose="020B0604020202020204" pitchFamily="34" charset="0"/>
            </a:endParaRPr>
          </a:p>
          <a:p>
            <a:pPr algn="just"/>
            <a:endParaRPr lang="en-US" sz="1100" b="1" dirty="0" smtClean="0">
              <a:solidFill>
                <a:schemeClr val="tx1"/>
              </a:solidFill>
              <a:latin typeface="Arial" panose="020B0604020202020204" pitchFamily="34" charset="0"/>
              <a:cs typeface="Arial" panose="020B0604020202020204" pitchFamily="34" charset="0"/>
            </a:endParaRPr>
          </a:p>
          <a:p>
            <a:pPr algn="just"/>
            <a:r>
              <a:rPr lang="en-US" sz="1100" b="1" dirty="0" smtClean="0">
                <a:solidFill>
                  <a:schemeClr val="tx1"/>
                </a:solidFill>
                <a:latin typeface="Arial" panose="020B0604020202020204" pitchFamily="34" charset="0"/>
                <a:cs typeface="Arial" panose="020B0604020202020204" pitchFamily="34" charset="0"/>
              </a:rPr>
              <a:t>5</a:t>
            </a:r>
            <a:r>
              <a:rPr lang="en-US" sz="1100" b="1" dirty="0">
                <a:solidFill>
                  <a:schemeClr val="tx1"/>
                </a:solidFill>
                <a:latin typeface="Arial" panose="020B0604020202020204" pitchFamily="34" charset="0"/>
                <a:cs typeface="Arial" panose="020B0604020202020204" pitchFamily="34" charset="0"/>
              </a:rPr>
              <a:t>. </a:t>
            </a:r>
            <a:r>
              <a:rPr lang="es-MX" sz="1100" b="1" dirty="0" err="1">
                <a:solidFill>
                  <a:schemeClr val="tx1"/>
                </a:solidFill>
                <a:latin typeface="Arial" panose="020B0604020202020204" pitchFamily="34" charset="0"/>
                <a:cs typeface="Arial" panose="020B0604020202020204" pitchFamily="34" charset="0"/>
              </a:rPr>
              <a:t>Kai</a:t>
            </a:r>
            <a:r>
              <a:rPr lang="es-MX" sz="1100" b="1" dirty="0">
                <a:solidFill>
                  <a:schemeClr val="tx1"/>
                </a:solidFill>
                <a:latin typeface="Arial" panose="020B0604020202020204" pitchFamily="34" charset="0"/>
                <a:cs typeface="Arial" panose="020B0604020202020204" pitchFamily="34" charset="0"/>
              </a:rPr>
              <a:t> Petersen, Robert </a:t>
            </a:r>
            <a:r>
              <a:rPr lang="es-MX" sz="1100" b="1" dirty="0" err="1">
                <a:solidFill>
                  <a:schemeClr val="tx1"/>
                </a:solidFill>
                <a:latin typeface="Arial" panose="020B0604020202020204" pitchFamily="34" charset="0"/>
                <a:cs typeface="Arial" panose="020B0604020202020204" pitchFamily="34" charset="0"/>
              </a:rPr>
              <a:t>Feldt</a:t>
            </a:r>
            <a:r>
              <a:rPr lang="es-MX" sz="1100" b="1" dirty="0">
                <a:solidFill>
                  <a:schemeClr val="tx1"/>
                </a:solidFill>
                <a:latin typeface="Arial" panose="020B0604020202020204" pitchFamily="34" charset="0"/>
                <a:cs typeface="Arial" panose="020B0604020202020204" pitchFamily="34" charset="0"/>
              </a:rPr>
              <a:t>, </a:t>
            </a:r>
            <a:r>
              <a:rPr lang="es-MX" sz="1100" b="1" dirty="0" err="1">
                <a:solidFill>
                  <a:schemeClr val="tx1"/>
                </a:solidFill>
                <a:latin typeface="Arial" panose="020B0604020202020204" pitchFamily="34" charset="0"/>
                <a:cs typeface="Arial" panose="020B0604020202020204" pitchFamily="34" charset="0"/>
              </a:rPr>
              <a:t>Shahid</a:t>
            </a:r>
            <a:r>
              <a:rPr lang="es-MX" sz="1100" b="1" dirty="0">
                <a:solidFill>
                  <a:schemeClr val="tx1"/>
                </a:solidFill>
                <a:latin typeface="Arial" panose="020B0604020202020204" pitchFamily="34" charset="0"/>
                <a:cs typeface="Arial" panose="020B0604020202020204" pitchFamily="34" charset="0"/>
              </a:rPr>
              <a:t> </a:t>
            </a:r>
            <a:r>
              <a:rPr lang="es-MX" sz="1100" b="1" dirty="0" err="1">
                <a:solidFill>
                  <a:schemeClr val="tx1"/>
                </a:solidFill>
                <a:latin typeface="Arial" panose="020B0604020202020204" pitchFamily="34" charset="0"/>
                <a:cs typeface="Arial" panose="020B0604020202020204" pitchFamily="34" charset="0"/>
              </a:rPr>
              <a:t>Mujtaba</a:t>
            </a:r>
            <a:r>
              <a:rPr lang="es-MX" sz="1100" b="1" dirty="0">
                <a:solidFill>
                  <a:schemeClr val="tx1"/>
                </a:solidFill>
                <a:latin typeface="Arial" panose="020B0604020202020204" pitchFamily="34" charset="0"/>
                <a:cs typeface="Arial" panose="020B0604020202020204" pitchFamily="34" charset="0"/>
              </a:rPr>
              <a:t>, &amp; Michael </a:t>
            </a:r>
            <a:r>
              <a:rPr lang="es-MX" sz="1100" b="1" dirty="0" err="1" smtClean="0">
                <a:solidFill>
                  <a:schemeClr val="tx1"/>
                </a:solidFill>
                <a:latin typeface="Arial" panose="020B0604020202020204" pitchFamily="34" charset="0"/>
                <a:cs typeface="Arial" panose="020B0604020202020204" pitchFamily="34" charset="0"/>
              </a:rPr>
              <a:t>Mattsso</a:t>
            </a:r>
            <a:r>
              <a:rPr lang="es-MX" sz="1100" b="1" dirty="0" smtClean="0">
                <a:solidFill>
                  <a:schemeClr val="tx1"/>
                </a:solidFill>
                <a:latin typeface="Arial" panose="020B0604020202020204" pitchFamily="34" charset="0"/>
                <a:cs typeface="Arial" panose="020B0604020202020204" pitchFamily="34" charset="0"/>
              </a:rPr>
              <a:t>. (2007</a:t>
            </a:r>
            <a:r>
              <a:rPr lang="es-MX" sz="1100" b="1" dirty="0">
                <a:solidFill>
                  <a:schemeClr val="tx1"/>
                </a:solidFill>
                <a:latin typeface="Arial" panose="020B0604020202020204" pitchFamily="34" charset="0"/>
                <a:cs typeface="Arial" panose="020B0604020202020204" pitchFamily="34" charset="0"/>
              </a:rPr>
              <a:t>). Systematic Mapping Studies in Software. </a:t>
            </a:r>
            <a:r>
              <a:rPr lang="en-US" sz="1100" b="1" dirty="0">
                <a:solidFill>
                  <a:schemeClr val="tx1"/>
                </a:solidFill>
                <a:latin typeface="Arial" panose="020B0604020202020204" pitchFamily="34" charset="0"/>
                <a:cs typeface="Arial" panose="020B0604020202020204" pitchFamily="34" charset="0"/>
              </a:rPr>
              <a:t>12th International Conference on Evaluation and Assessment in Software Engineering, Pages 1-10</a:t>
            </a:r>
            <a:r>
              <a:rPr lang="en-US" sz="1100" b="1" dirty="0" smtClean="0">
                <a:solidFill>
                  <a:schemeClr val="tx1"/>
                </a:solidFill>
                <a:latin typeface="Arial" panose="020B0604020202020204" pitchFamily="34" charset="0"/>
                <a:cs typeface="Arial" panose="020B0604020202020204" pitchFamily="34" charset="0"/>
              </a:rPr>
              <a:t>. </a:t>
            </a:r>
          </a:p>
          <a:p>
            <a:pPr algn="just"/>
            <a:r>
              <a:rPr lang="en-US" sz="1100" b="1" dirty="0" smtClean="0">
                <a:solidFill>
                  <a:schemeClr val="tx1"/>
                </a:solidFill>
                <a:latin typeface="Arial" panose="020B0604020202020204" pitchFamily="34" charset="0"/>
                <a:cs typeface="Arial" panose="020B0604020202020204" pitchFamily="34" charset="0"/>
              </a:rPr>
              <a:t>Available</a:t>
            </a:r>
            <a:r>
              <a:rPr lang="en-US" sz="1100" b="1" dirty="0">
                <a:solidFill>
                  <a:schemeClr val="tx1"/>
                </a:solidFill>
                <a:latin typeface="Arial" panose="020B0604020202020204" pitchFamily="34" charset="0"/>
                <a:cs typeface="Arial" panose="020B0604020202020204" pitchFamily="34" charset="0"/>
              </a:rPr>
              <a:t>: </a:t>
            </a:r>
            <a:r>
              <a:rPr lang="en-US" sz="1100" b="1" dirty="0">
                <a:solidFill>
                  <a:schemeClr val="tx1"/>
                </a:solidFill>
                <a:latin typeface="Arial" panose="020B0604020202020204" pitchFamily="34" charset="0"/>
                <a:cs typeface="Arial" panose="020B0604020202020204" pitchFamily="34" charset="0"/>
                <a:hlinkClick r:id="rId5"/>
              </a:rPr>
              <a:t>https://</a:t>
            </a:r>
            <a:r>
              <a:rPr lang="en-US" sz="1100" b="1" dirty="0" smtClean="0">
                <a:solidFill>
                  <a:schemeClr val="tx1"/>
                </a:solidFill>
                <a:latin typeface="Arial" panose="020B0604020202020204" pitchFamily="34" charset="0"/>
                <a:cs typeface="Arial" panose="020B0604020202020204" pitchFamily="34" charset="0"/>
                <a:hlinkClick r:id="rId5"/>
              </a:rPr>
              <a:t>www.scienceopen.com/hosted-document?doi=10.14236/ewic/EASE2008.8</a:t>
            </a:r>
            <a:endParaRPr lang="en-US" sz="1100" b="1" dirty="0" smtClean="0">
              <a:solidFill>
                <a:schemeClr val="tx1"/>
              </a:solidFill>
              <a:latin typeface="Arial" panose="020B0604020202020204" pitchFamily="34" charset="0"/>
              <a:cs typeface="Arial" panose="020B0604020202020204" pitchFamily="34" charset="0"/>
            </a:endParaRPr>
          </a:p>
          <a:p>
            <a:pPr algn="just"/>
            <a:endParaRPr lang="en-US" sz="1100" b="1" dirty="0">
              <a:solidFill>
                <a:schemeClr val="tx1"/>
              </a:solidFill>
              <a:latin typeface="Arial" panose="020B0604020202020204" pitchFamily="34" charset="0"/>
              <a:cs typeface="Arial" panose="020B0604020202020204" pitchFamily="34" charset="0"/>
            </a:endParaRPr>
          </a:p>
          <a:p>
            <a:pPr algn="l"/>
            <a:endParaRPr lang="en-US" sz="1100" b="1" dirty="0" smtClean="0">
              <a:solidFill>
                <a:schemeClr val="tx1"/>
              </a:solidFill>
              <a:latin typeface="Arial" panose="020B0604020202020204" pitchFamily="34" charset="0"/>
              <a:cs typeface="Arial" panose="020B0604020202020204" pitchFamily="34" charset="0"/>
            </a:endParaRPr>
          </a:p>
          <a:p>
            <a:pPr algn="just"/>
            <a:endParaRPr lang="en-US" sz="1100" b="1" dirty="0" smtClean="0">
              <a:solidFill>
                <a:schemeClr val="tx1"/>
              </a:solidFill>
              <a:latin typeface="Arial" panose="020B0604020202020204" pitchFamily="34" charset="0"/>
              <a:cs typeface="Arial" panose="020B0604020202020204" pitchFamily="34" charset="0"/>
            </a:endParaRPr>
          </a:p>
          <a:p>
            <a:pPr algn="just"/>
            <a:endParaRPr lang="en-US" b="1" dirty="0" smtClean="0">
              <a:solidFill>
                <a:schemeClr val="tx1"/>
              </a:solidFill>
            </a:endParaRPr>
          </a:p>
          <a:p>
            <a:pPr algn="just"/>
            <a:endParaRPr lang="es-MX" dirty="0">
              <a:solidFill>
                <a:schemeClr val="tx1"/>
              </a:solidFill>
            </a:endParaRPr>
          </a:p>
        </p:txBody>
      </p:sp>
      <p:pic>
        <p:nvPicPr>
          <p:cNvPr id="14" name="Imagen 13"/>
          <p:cNvPicPr>
            <a:picLocks noChangeAspect="1"/>
          </p:cNvPicPr>
          <p:nvPr/>
        </p:nvPicPr>
        <p:blipFill>
          <a:blip r:embed="rId6"/>
          <a:stretch>
            <a:fillRect/>
          </a:stretch>
        </p:blipFill>
        <p:spPr>
          <a:xfrm>
            <a:off x="8040216" y="2271808"/>
            <a:ext cx="3304137" cy="254964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4294790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pic>
        <p:nvPicPr>
          <p:cNvPr id="6" name="Imagen 5"/>
          <p:cNvPicPr/>
          <p:nvPr/>
        </p:nvPicPr>
        <p:blipFill rotWithShape="1">
          <a:blip r:embed="rId2">
            <a:extLst>
              <a:ext uri="{28A0092B-C50C-407E-A947-70E740481C1C}">
                <a14:useLocalDpi xmlns:a14="http://schemas.microsoft.com/office/drawing/2010/main" val="0"/>
              </a:ext>
            </a:extLst>
          </a:blip>
          <a:srcRect t="1" r="32064" b="-10136"/>
          <a:stretch/>
        </p:blipFill>
        <p:spPr bwMode="auto">
          <a:xfrm>
            <a:off x="110789" y="112160"/>
            <a:ext cx="3410075" cy="757457"/>
          </a:xfrm>
          <a:prstGeom prst="rect">
            <a:avLst/>
          </a:prstGeom>
          <a:noFill/>
          <a:ln>
            <a:noFill/>
          </a:ln>
          <a:extLst>
            <a:ext uri="{53640926-AAD7-44D8-BBD7-CCE9431645EC}">
              <a14:shadowObscured xmlns:a14="http://schemas.microsoft.com/office/drawing/2010/main"/>
            </a:ext>
          </a:extLst>
        </p:spPr>
      </p:pic>
      <p:pic>
        <p:nvPicPr>
          <p:cNvPr id="7" name="Imagen 6" descr="Resultado de imagen para instituto tecnologico de orizaba logo"/>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51537" y="77977"/>
            <a:ext cx="779082" cy="805180"/>
          </a:xfrm>
          <a:prstGeom prst="rect">
            <a:avLst/>
          </a:prstGeom>
          <a:noFill/>
          <a:ln>
            <a:noFill/>
          </a:ln>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74675" y="125347"/>
            <a:ext cx="1619264" cy="740391"/>
          </a:xfrm>
          <a:prstGeom prst="rect">
            <a:avLst/>
          </a:prstGeom>
        </p:spPr>
      </p:pic>
      <p:sp>
        <p:nvSpPr>
          <p:cNvPr id="9" name="Rectángulo 8"/>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10" name="Title 1"/>
          <p:cNvSpPr txBox="1">
            <a:spLocks/>
          </p:cNvSpPr>
          <p:nvPr/>
        </p:nvSpPr>
        <p:spPr>
          <a:xfrm>
            <a:off x="911424" y="1003473"/>
            <a:ext cx="9289032" cy="40930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solidFill>
                  <a:srgbClr val="08489E"/>
                </a:solidFill>
                <a:latin typeface="Trebuchet MS" panose="020B0603020202020204" pitchFamily="34" charset="0"/>
              </a:rPr>
              <a:t>Estudio de Mapeo Sistemático 2/5</a:t>
            </a:r>
            <a:endParaRPr lang="en-US" sz="2400" b="1" dirty="0">
              <a:solidFill>
                <a:srgbClr val="08489E"/>
              </a:solidFill>
              <a:latin typeface="Trebuchet MS" panose="020B0603020202020204" pitchFamily="34" charset="0"/>
            </a:endParaRPr>
          </a:p>
        </p:txBody>
      </p:sp>
      <p:sp>
        <p:nvSpPr>
          <p:cNvPr id="11" name="3 Rectángulo"/>
          <p:cNvSpPr/>
          <p:nvPr/>
        </p:nvSpPr>
        <p:spPr>
          <a:xfrm>
            <a:off x="911423" y="1585235"/>
            <a:ext cx="10340113" cy="3573799"/>
          </a:xfrm>
          <a:prstGeom prst="rect">
            <a:avLst/>
          </a:prstGeom>
        </p:spPr>
        <p:txBody>
          <a:bodyPr wrap="square">
            <a:spAutoFit/>
          </a:bodyPr>
          <a:lstStyle/>
          <a:p>
            <a:pPr>
              <a:lnSpc>
                <a:spcPct val="115000"/>
              </a:lnSpc>
              <a:spcAft>
                <a:spcPts val="1000"/>
              </a:spcAft>
            </a:pPr>
            <a:r>
              <a:rPr lang="es-ES" sz="2000" b="1" dirty="0">
                <a:solidFill>
                  <a:srgbClr val="3399FF"/>
                </a:solidFill>
                <a:latin typeface="Trebuchet MS" panose="020B0603020202020204" pitchFamily="34" charset="0"/>
                <a:ea typeface="Times New Roman"/>
                <a:cs typeface="Calibri"/>
              </a:rPr>
              <a:t>Marco metodológico propuesto por Petersen</a:t>
            </a:r>
            <a:r>
              <a:rPr lang="es-MX" sz="2000" b="1" dirty="0">
                <a:solidFill>
                  <a:srgbClr val="3399FF"/>
                </a:solidFill>
                <a:latin typeface="Trebuchet MS" panose="020B0603020202020204" pitchFamily="34" charset="0"/>
                <a:ea typeface="Times New Roman"/>
                <a:cs typeface="Calibri"/>
              </a:rPr>
              <a:t>, </a:t>
            </a:r>
            <a:r>
              <a:rPr lang="es-MX" sz="2000" b="1" dirty="0" err="1">
                <a:solidFill>
                  <a:srgbClr val="3399FF"/>
                </a:solidFill>
                <a:latin typeface="Trebuchet MS" panose="020B0603020202020204" pitchFamily="34" charset="0"/>
                <a:ea typeface="Times New Roman"/>
                <a:cs typeface="Calibri"/>
              </a:rPr>
              <a:t>Feldt</a:t>
            </a:r>
            <a:r>
              <a:rPr lang="es-MX" sz="2000" b="1" dirty="0">
                <a:solidFill>
                  <a:srgbClr val="3399FF"/>
                </a:solidFill>
                <a:latin typeface="Trebuchet MS" panose="020B0603020202020204" pitchFamily="34" charset="0"/>
                <a:ea typeface="Times New Roman"/>
                <a:cs typeface="Calibri"/>
              </a:rPr>
              <a:t>, </a:t>
            </a:r>
            <a:r>
              <a:rPr lang="es-MX" sz="2000" b="1" dirty="0" err="1">
                <a:solidFill>
                  <a:srgbClr val="3399FF"/>
                </a:solidFill>
                <a:latin typeface="Trebuchet MS" panose="020B0603020202020204" pitchFamily="34" charset="0"/>
                <a:ea typeface="Times New Roman"/>
                <a:cs typeface="Calibri"/>
              </a:rPr>
              <a:t>Mujtaba</a:t>
            </a:r>
            <a:r>
              <a:rPr lang="es-MX" sz="2000" b="1" dirty="0">
                <a:solidFill>
                  <a:srgbClr val="3399FF"/>
                </a:solidFill>
                <a:latin typeface="Trebuchet MS" panose="020B0603020202020204" pitchFamily="34" charset="0"/>
                <a:ea typeface="Times New Roman"/>
                <a:cs typeface="Calibri"/>
              </a:rPr>
              <a:t> &amp; </a:t>
            </a:r>
            <a:r>
              <a:rPr lang="es-MX" sz="2000" b="1" dirty="0" err="1" smtClean="0">
                <a:solidFill>
                  <a:srgbClr val="3399FF"/>
                </a:solidFill>
                <a:latin typeface="Trebuchet MS" panose="020B0603020202020204" pitchFamily="34" charset="0"/>
                <a:ea typeface="Times New Roman"/>
                <a:cs typeface="Calibri"/>
              </a:rPr>
              <a:t>Mattsso</a:t>
            </a:r>
            <a:r>
              <a:rPr lang="es-MX" sz="2000" b="1" dirty="0" smtClean="0">
                <a:solidFill>
                  <a:srgbClr val="3399FF"/>
                </a:solidFill>
                <a:latin typeface="Trebuchet MS" panose="020B0603020202020204" pitchFamily="34" charset="0"/>
                <a:ea typeface="Times New Roman"/>
                <a:cs typeface="Calibri"/>
              </a:rPr>
              <a:t> </a:t>
            </a:r>
            <a:r>
              <a:rPr lang="es-ES" sz="2000" b="1" dirty="0" smtClean="0">
                <a:solidFill>
                  <a:srgbClr val="3399FF"/>
                </a:solidFill>
                <a:latin typeface="Trebuchet MS" panose="020B0603020202020204" pitchFamily="34" charset="0"/>
                <a:ea typeface="Times New Roman"/>
                <a:cs typeface="Calibri"/>
              </a:rPr>
              <a:t>(2007)</a:t>
            </a:r>
            <a:r>
              <a:rPr lang="es-ES" b="1" baseline="30000" dirty="0">
                <a:latin typeface="Trebuchet MS" panose="020B0603020202020204" pitchFamily="34" charset="0"/>
                <a:ea typeface="Times New Roman"/>
                <a:cs typeface="Calibri"/>
              </a:rPr>
              <a:t>5</a:t>
            </a:r>
            <a:r>
              <a:rPr lang="es-ES" sz="2000" b="1" dirty="0" smtClean="0">
                <a:solidFill>
                  <a:srgbClr val="3399FF"/>
                </a:solidFill>
                <a:latin typeface="Trebuchet MS" panose="020B0603020202020204" pitchFamily="34" charset="0"/>
                <a:ea typeface="Times New Roman"/>
                <a:cs typeface="Calibri"/>
              </a:rPr>
              <a:t> </a:t>
            </a:r>
          </a:p>
          <a:p>
            <a:pPr>
              <a:lnSpc>
                <a:spcPct val="115000"/>
              </a:lnSpc>
              <a:spcAft>
                <a:spcPts val="1000"/>
              </a:spcAft>
            </a:pPr>
            <a:r>
              <a:rPr lang="es-ES" sz="1600" b="1" dirty="0" smtClean="0">
                <a:solidFill>
                  <a:srgbClr val="A50021"/>
                </a:solidFill>
                <a:latin typeface="Trebuchet MS" panose="020B0603020202020204" pitchFamily="34" charset="0"/>
                <a:ea typeface="Times New Roman"/>
                <a:cs typeface="Calibri"/>
              </a:rPr>
              <a:t>[2180 </a:t>
            </a:r>
            <a:r>
              <a:rPr lang="es-ES" sz="1600" b="1" dirty="0">
                <a:solidFill>
                  <a:srgbClr val="A50021"/>
                </a:solidFill>
                <a:latin typeface="Trebuchet MS" panose="020B0603020202020204" pitchFamily="34" charset="0"/>
                <a:ea typeface="Times New Roman"/>
                <a:cs typeface="Calibri"/>
              </a:rPr>
              <a:t>citas hasta Junio 2020]</a:t>
            </a:r>
          </a:p>
          <a:p>
            <a:pPr marL="342900" indent="-342900" algn="just">
              <a:lnSpc>
                <a:spcPct val="115000"/>
              </a:lnSpc>
              <a:spcAft>
                <a:spcPts val="1000"/>
              </a:spcAft>
              <a:buClr>
                <a:srgbClr val="3399FF"/>
              </a:buClr>
              <a:buFont typeface="+mj-lt"/>
              <a:buAutoNum type="arabicPeriod"/>
            </a:pPr>
            <a:r>
              <a:rPr lang="es-MX" dirty="0" smtClean="0">
                <a:latin typeface="Trebuchet MS" panose="020B0603020202020204" pitchFamily="34" charset="0"/>
                <a:ea typeface="Calibri"/>
                <a:cs typeface="Times New Roman"/>
              </a:rPr>
              <a:t>Definición </a:t>
            </a:r>
            <a:r>
              <a:rPr lang="es-MX" dirty="0">
                <a:latin typeface="Trebuchet MS" panose="020B0603020202020204" pitchFamily="34" charset="0"/>
                <a:ea typeface="Calibri"/>
                <a:cs typeface="Times New Roman"/>
              </a:rPr>
              <a:t>de </a:t>
            </a:r>
            <a:r>
              <a:rPr lang="es-MX" dirty="0" smtClean="0">
                <a:latin typeface="Trebuchet MS" panose="020B0603020202020204" pitchFamily="34" charset="0"/>
                <a:ea typeface="Calibri"/>
                <a:cs typeface="Times New Roman"/>
              </a:rPr>
              <a:t>la pregunta </a:t>
            </a:r>
            <a:r>
              <a:rPr lang="es-MX" dirty="0">
                <a:latin typeface="Trebuchet MS" panose="020B0603020202020204" pitchFamily="34" charset="0"/>
                <a:ea typeface="Calibri"/>
                <a:cs typeface="Times New Roman"/>
              </a:rPr>
              <a:t>de investigación (alcance de la investigación)</a:t>
            </a:r>
          </a:p>
          <a:p>
            <a:pPr marL="342900" indent="-342900" algn="just">
              <a:lnSpc>
                <a:spcPct val="115000"/>
              </a:lnSpc>
              <a:spcAft>
                <a:spcPts val="1000"/>
              </a:spcAft>
              <a:buClr>
                <a:srgbClr val="3399FF"/>
              </a:buClr>
              <a:buFont typeface="+mj-lt"/>
              <a:buAutoNum type="arabicPeriod"/>
            </a:pPr>
            <a:r>
              <a:rPr lang="es-MX" dirty="0">
                <a:latin typeface="Trebuchet MS" panose="020B0603020202020204" pitchFamily="34" charset="0"/>
                <a:ea typeface="Calibri"/>
                <a:cs typeface="Times New Roman"/>
              </a:rPr>
              <a:t>Realización de </a:t>
            </a:r>
            <a:r>
              <a:rPr lang="es-MX" dirty="0" smtClean="0">
                <a:latin typeface="Trebuchet MS" panose="020B0603020202020204" pitchFamily="34" charset="0"/>
                <a:ea typeface="Calibri"/>
                <a:cs typeface="Times New Roman"/>
              </a:rPr>
              <a:t>la búsqueda </a:t>
            </a:r>
            <a:r>
              <a:rPr lang="es-MX" dirty="0">
                <a:latin typeface="Trebuchet MS" panose="020B0603020202020204" pitchFamily="34" charset="0"/>
                <a:ea typeface="Calibri"/>
                <a:cs typeface="Times New Roman"/>
              </a:rPr>
              <a:t>de estudios primarios en todos los </a:t>
            </a:r>
            <a:r>
              <a:rPr lang="es-MX" dirty="0" smtClean="0">
                <a:latin typeface="Trebuchet MS" panose="020B0603020202020204" pitchFamily="34" charset="0"/>
                <a:ea typeface="Calibri"/>
                <a:cs typeface="Times New Roman"/>
              </a:rPr>
              <a:t>documentos</a:t>
            </a:r>
            <a:endParaRPr lang="es-MX" dirty="0">
              <a:latin typeface="Trebuchet MS" panose="020B0603020202020204" pitchFamily="34" charset="0"/>
              <a:ea typeface="Calibri"/>
              <a:cs typeface="Times New Roman"/>
            </a:endParaRPr>
          </a:p>
          <a:p>
            <a:pPr marL="342900" indent="-342900" algn="just">
              <a:lnSpc>
                <a:spcPct val="115000"/>
              </a:lnSpc>
              <a:spcAft>
                <a:spcPts val="1000"/>
              </a:spcAft>
              <a:buClr>
                <a:srgbClr val="3399FF"/>
              </a:buClr>
              <a:buFont typeface="+mj-lt"/>
              <a:buAutoNum type="arabicPeriod"/>
            </a:pPr>
            <a:r>
              <a:rPr lang="es-MX" dirty="0">
                <a:latin typeface="Trebuchet MS" panose="020B0603020202020204" pitchFamily="34" charset="0"/>
                <a:ea typeface="Calibri"/>
                <a:cs typeface="Times New Roman"/>
              </a:rPr>
              <a:t>Selección de documentos </a:t>
            </a:r>
            <a:r>
              <a:rPr lang="es-MX" dirty="0" smtClean="0">
                <a:latin typeface="Trebuchet MS" panose="020B0603020202020204" pitchFamily="34" charset="0"/>
                <a:ea typeface="Calibri"/>
                <a:cs typeface="Times New Roman"/>
              </a:rPr>
              <a:t>para la </a:t>
            </a:r>
            <a:r>
              <a:rPr lang="es-MX" dirty="0">
                <a:latin typeface="Trebuchet MS" panose="020B0603020202020204" pitchFamily="34" charset="0"/>
                <a:ea typeface="Calibri"/>
                <a:cs typeface="Times New Roman"/>
              </a:rPr>
              <a:t>inclusión y exclusión de documentos </a:t>
            </a:r>
            <a:r>
              <a:rPr lang="es-MX" dirty="0" smtClean="0">
                <a:latin typeface="Trebuchet MS" panose="020B0603020202020204" pitchFamily="34" charset="0"/>
                <a:ea typeface="Calibri"/>
                <a:cs typeface="Times New Roman"/>
              </a:rPr>
              <a:t>relevantes</a:t>
            </a:r>
            <a:endParaRPr lang="es-MX" dirty="0">
              <a:latin typeface="Trebuchet MS" panose="020B0603020202020204" pitchFamily="34" charset="0"/>
              <a:ea typeface="Calibri"/>
              <a:cs typeface="Times New Roman"/>
            </a:endParaRPr>
          </a:p>
          <a:p>
            <a:pPr marL="342900" indent="-342900" algn="just">
              <a:lnSpc>
                <a:spcPct val="115000"/>
              </a:lnSpc>
              <a:spcAft>
                <a:spcPts val="1000"/>
              </a:spcAft>
              <a:buClr>
                <a:srgbClr val="3399FF"/>
              </a:buClr>
              <a:buFont typeface="+mj-lt"/>
              <a:buAutoNum type="arabicPeriod"/>
            </a:pPr>
            <a:r>
              <a:rPr lang="es-MX" dirty="0">
                <a:latin typeface="Trebuchet MS" panose="020B0603020202020204" pitchFamily="34" charset="0"/>
                <a:ea typeface="Calibri"/>
                <a:cs typeface="Times New Roman"/>
              </a:rPr>
              <a:t>Palabras clave utilizando resúmenes (esquema de clasificación</a:t>
            </a:r>
            <a:r>
              <a:rPr lang="es-MX" dirty="0" smtClean="0">
                <a:latin typeface="Trebuchet MS" panose="020B0603020202020204" pitchFamily="34" charset="0"/>
                <a:ea typeface="Calibri"/>
                <a:cs typeface="Times New Roman"/>
              </a:rPr>
              <a:t>)</a:t>
            </a:r>
            <a:endParaRPr lang="es-MX" dirty="0">
              <a:latin typeface="Trebuchet MS" panose="020B0603020202020204" pitchFamily="34" charset="0"/>
              <a:ea typeface="Calibri"/>
              <a:cs typeface="Times New Roman"/>
            </a:endParaRPr>
          </a:p>
          <a:p>
            <a:pPr marL="342900" indent="-342900" algn="just">
              <a:lnSpc>
                <a:spcPct val="115000"/>
              </a:lnSpc>
              <a:spcAft>
                <a:spcPts val="1000"/>
              </a:spcAft>
              <a:buClr>
                <a:srgbClr val="3399FF"/>
              </a:buClr>
              <a:buFont typeface="+mj-lt"/>
              <a:buAutoNum type="arabicPeriod"/>
            </a:pPr>
            <a:r>
              <a:rPr lang="es-MX" dirty="0">
                <a:latin typeface="Trebuchet MS" panose="020B0603020202020204" pitchFamily="34" charset="0"/>
                <a:ea typeface="Calibri"/>
                <a:cs typeface="Times New Roman"/>
              </a:rPr>
              <a:t>Extracción de datos y mapeo de estudios (Mapa sistemático</a:t>
            </a:r>
            <a:r>
              <a:rPr lang="es-MX" dirty="0" smtClean="0">
                <a:latin typeface="Trebuchet MS" panose="020B0603020202020204" pitchFamily="34" charset="0"/>
                <a:ea typeface="Calibri"/>
                <a:cs typeface="Times New Roman"/>
              </a:rPr>
              <a:t>)</a:t>
            </a:r>
            <a:endParaRPr lang="es-MX" dirty="0">
              <a:latin typeface="Trebuchet MS" panose="020B0603020202020204" pitchFamily="34" charset="0"/>
              <a:ea typeface="Calibri"/>
              <a:cs typeface="Times New Roman"/>
            </a:endParaRPr>
          </a:p>
          <a:p>
            <a:pPr>
              <a:lnSpc>
                <a:spcPct val="115000"/>
              </a:lnSpc>
              <a:spcAft>
                <a:spcPts val="1000"/>
              </a:spcAft>
            </a:pPr>
            <a:endParaRPr lang="es-ES" sz="2000" b="1" dirty="0" smtClean="0">
              <a:solidFill>
                <a:srgbClr val="3399FF"/>
              </a:solidFill>
              <a:latin typeface="Trebuchet MS" panose="020B0603020202020204" pitchFamily="34" charset="0"/>
              <a:ea typeface="Times New Roman"/>
              <a:cs typeface="Calibri"/>
            </a:endParaRPr>
          </a:p>
        </p:txBody>
      </p:sp>
      <p:sp>
        <p:nvSpPr>
          <p:cNvPr id="13" name="Marcador de pie de página 1"/>
          <p:cNvSpPr txBox="1">
            <a:spLocks/>
          </p:cNvSpPr>
          <p:nvPr/>
        </p:nvSpPr>
        <p:spPr>
          <a:xfrm>
            <a:off x="911423" y="5733256"/>
            <a:ext cx="10282516" cy="576064"/>
          </a:xfrm>
          <a:prstGeom prst="rect">
            <a:avLst/>
          </a:prstGeom>
        </p:spPr>
        <p:txBody>
          <a:bodyPr vert="horz" lIns="91440" tIns="45720" rIns="91440" bIns="45720" rtlCol="0" anchor="ctr"/>
          <a:lstStyle>
            <a:defPPr>
              <a:defRPr lang="es-MX"/>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endParaRPr lang="en-US" b="1" dirty="0" smtClean="0">
              <a:solidFill>
                <a:schemeClr val="tx1"/>
              </a:solidFill>
            </a:endParaRPr>
          </a:p>
          <a:p>
            <a:pPr algn="just"/>
            <a:endParaRPr lang="en-US" b="1" dirty="0" smtClean="0">
              <a:solidFill>
                <a:schemeClr val="tx1"/>
              </a:solidFill>
            </a:endParaRPr>
          </a:p>
          <a:p>
            <a:pPr algn="just"/>
            <a:endParaRPr lang="en-US" b="1" dirty="0" smtClean="0">
              <a:solidFill>
                <a:schemeClr val="tx1"/>
              </a:solidFill>
            </a:endParaRPr>
          </a:p>
          <a:p>
            <a:pPr algn="just"/>
            <a:endParaRPr lang="en-US" sz="1100" b="1" dirty="0">
              <a:solidFill>
                <a:schemeClr val="tx1"/>
              </a:solidFill>
              <a:latin typeface="Arial" panose="020B0604020202020204" pitchFamily="34" charset="0"/>
              <a:cs typeface="Arial" panose="020B0604020202020204" pitchFamily="34" charset="0"/>
            </a:endParaRPr>
          </a:p>
          <a:p>
            <a:pPr algn="just"/>
            <a:endParaRPr lang="en-US" sz="1100" b="1" dirty="0" smtClean="0">
              <a:solidFill>
                <a:schemeClr val="tx1"/>
              </a:solidFill>
              <a:latin typeface="Arial" panose="020B0604020202020204" pitchFamily="34" charset="0"/>
              <a:cs typeface="Arial" panose="020B0604020202020204" pitchFamily="34" charset="0"/>
            </a:endParaRPr>
          </a:p>
          <a:p>
            <a:pPr algn="just"/>
            <a:r>
              <a:rPr lang="en-US" sz="1100" b="1" dirty="0" smtClean="0">
                <a:solidFill>
                  <a:schemeClr val="tx1"/>
                </a:solidFill>
                <a:latin typeface="Arial" panose="020B0604020202020204" pitchFamily="34" charset="0"/>
                <a:cs typeface="Arial" panose="020B0604020202020204" pitchFamily="34" charset="0"/>
              </a:rPr>
              <a:t>5</a:t>
            </a:r>
            <a:r>
              <a:rPr lang="en-US" sz="1100" b="1" dirty="0">
                <a:solidFill>
                  <a:schemeClr val="tx1"/>
                </a:solidFill>
                <a:latin typeface="Arial" panose="020B0604020202020204" pitchFamily="34" charset="0"/>
                <a:cs typeface="Arial" panose="020B0604020202020204" pitchFamily="34" charset="0"/>
              </a:rPr>
              <a:t>. </a:t>
            </a:r>
            <a:r>
              <a:rPr lang="es-MX" sz="1100" b="1" dirty="0" err="1">
                <a:solidFill>
                  <a:schemeClr val="tx1"/>
                </a:solidFill>
                <a:latin typeface="Arial" panose="020B0604020202020204" pitchFamily="34" charset="0"/>
                <a:cs typeface="Arial" panose="020B0604020202020204" pitchFamily="34" charset="0"/>
              </a:rPr>
              <a:t>Kai</a:t>
            </a:r>
            <a:r>
              <a:rPr lang="es-MX" sz="1100" b="1" dirty="0">
                <a:solidFill>
                  <a:schemeClr val="tx1"/>
                </a:solidFill>
                <a:latin typeface="Arial" panose="020B0604020202020204" pitchFamily="34" charset="0"/>
                <a:cs typeface="Arial" panose="020B0604020202020204" pitchFamily="34" charset="0"/>
              </a:rPr>
              <a:t> Petersen, Robert </a:t>
            </a:r>
            <a:r>
              <a:rPr lang="es-MX" sz="1100" b="1" dirty="0" err="1">
                <a:solidFill>
                  <a:schemeClr val="tx1"/>
                </a:solidFill>
                <a:latin typeface="Arial" panose="020B0604020202020204" pitchFamily="34" charset="0"/>
                <a:cs typeface="Arial" panose="020B0604020202020204" pitchFamily="34" charset="0"/>
              </a:rPr>
              <a:t>Feldt</a:t>
            </a:r>
            <a:r>
              <a:rPr lang="es-MX" sz="1100" b="1" dirty="0">
                <a:solidFill>
                  <a:schemeClr val="tx1"/>
                </a:solidFill>
                <a:latin typeface="Arial" panose="020B0604020202020204" pitchFamily="34" charset="0"/>
                <a:cs typeface="Arial" panose="020B0604020202020204" pitchFamily="34" charset="0"/>
              </a:rPr>
              <a:t>, </a:t>
            </a:r>
            <a:r>
              <a:rPr lang="es-MX" sz="1100" b="1" dirty="0" err="1">
                <a:solidFill>
                  <a:schemeClr val="tx1"/>
                </a:solidFill>
                <a:latin typeface="Arial" panose="020B0604020202020204" pitchFamily="34" charset="0"/>
                <a:cs typeface="Arial" panose="020B0604020202020204" pitchFamily="34" charset="0"/>
              </a:rPr>
              <a:t>Shahid</a:t>
            </a:r>
            <a:r>
              <a:rPr lang="es-MX" sz="1100" b="1" dirty="0">
                <a:solidFill>
                  <a:schemeClr val="tx1"/>
                </a:solidFill>
                <a:latin typeface="Arial" panose="020B0604020202020204" pitchFamily="34" charset="0"/>
                <a:cs typeface="Arial" panose="020B0604020202020204" pitchFamily="34" charset="0"/>
              </a:rPr>
              <a:t> </a:t>
            </a:r>
            <a:r>
              <a:rPr lang="es-MX" sz="1100" b="1" dirty="0" err="1">
                <a:solidFill>
                  <a:schemeClr val="tx1"/>
                </a:solidFill>
                <a:latin typeface="Arial" panose="020B0604020202020204" pitchFamily="34" charset="0"/>
                <a:cs typeface="Arial" panose="020B0604020202020204" pitchFamily="34" charset="0"/>
              </a:rPr>
              <a:t>Mujtaba</a:t>
            </a:r>
            <a:r>
              <a:rPr lang="es-MX" sz="1100" b="1" dirty="0">
                <a:solidFill>
                  <a:schemeClr val="tx1"/>
                </a:solidFill>
                <a:latin typeface="Arial" panose="020B0604020202020204" pitchFamily="34" charset="0"/>
                <a:cs typeface="Arial" panose="020B0604020202020204" pitchFamily="34" charset="0"/>
              </a:rPr>
              <a:t>, &amp; Michael </a:t>
            </a:r>
            <a:r>
              <a:rPr lang="es-MX" sz="1100" b="1" dirty="0" err="1" smtClean="0">
                <a:solidFill>
                  <a:schemeClr val="tx1"/>
                </a:solidFill>
                <a:latin typeface="Arial" panose="020B0604020202020204" pitchFamily="34" charset="0"/>
                <a:cs typeface="Arial" panose="020B0604020202020204" pitchFamily="34" charset="0"/>
              </a:rPr>
              <a:t>Mattsso</a:t>
            </a:r>
            <a:r>
              <a:rPr lang="es-MX" sz="1100" b="1" dirty="0" smtClean="0">
                <a:solidFill>
                  <a:schemeClr val="tx1"/>
                </a:solidFill>
                <a:latin typeface="Arial" panose="020B0604020202020204" pitchFamily="34" charset="0"/>
                <a:cs typeface="Arial" panose="020B0604020202020204" pitchFamily="34" charset="0"/>
              </a:rPr>
              <a:t>. (2007</a:t>
            </a:r>
            <a:r>
              <a:rPr lang="es-MX" sz="1100" b="1" dirty="0">
                <a:solidFill>
                  <a:schemeClr val="tx1"/>
                </a:solidFill>
                <a:latin typeface="Arial" panose="020B0604020202020204" pitchFamily="34" charset="0"/>
                <a:cs typeface="Arial" panose="020B0604020202020204" pitchFamily="34" charset="0"/>
              </a:rPr>
              <a:t>). Systematic Mapping Studies in Software. </a:t>
            </a:r>
            <a:r>
              <a:rPr lang="en-US" sz="1100" b="1" dirty="0">
                <a:solidFill>
                  <a:schemeClr val="tx1"/>
                </a:solidFill>
                <a:latin typeface="Arial" panose="020B0604020202020204" pitchFamily="34" charset="0"/>
                <a:cs typeface="Arial" panose="020B0604020202020204" pitchFamily="34" charset="0"/>
              </a:rPr>
              <a:t>12th International Conference on Evaluation and Assessment in Software Engineering, Pages 1-10</a:t>
            </a:r>
            <a:r>
              <a:rPr lang="en-US" sz="1100" b="1" dirty="0" smtClean="0">
                <a:solidFill>
                  <a:schemeClr val="tx1"/>
                </a:solidFill>
                <a:latin typeface="Arial" panose="020B0604020202020204" pitchFamily="34" charset="0"/>
                <a:cs typeface="Arial" panose="020B0604020202020204" pitchFamily="34" charset="0"/>
              </a:rPr>
              <a:t>. </a:t>
            </a:r>
          </a:p>
          <a:p>
            <a:pPr algn="just"/>
            <a:r>
              <a:rPr lang="en-US" sz="1100" b="1" dirty="0" smtClean="0">
                <a:solidFill>
                  <a:schemeClr val="tx1"/>
                </a:solidFill>
                <a:latin typeface="Arial" panose="020B0604020202020204" pitchFamily="34" charset="0"/>
                <a:cs typeface="Arial" panose="020B0604020202020204" pitchFamily="34" charset="0"/>
              </a:rPr>
              <a:t>Available</a:t>
            </a:r>
            <a:r>
              <a:rPr lang="en-US" sz="1100" b="1" dirty="0">
                <a:solidFill>
                  <a:schemeClr val="tx1"/>
                </a:solidFill>
                <a:latin typeface="Arial" panose="020B0604020202020204" pitchFamily="34" charset="0"/>
                <a:cs typeface="Arial" panose="020B0604020202020204" pitchFamily="34" charset="0"/>
              </a:rPr>
              <a:t>: </a:t>
            </a:r>
            <a:r>
              <a:rPr lang="en-US" sz="1100" b="1" dirty="0">
                <a:solidFill>
                  <a:schemeClr val="tx1"/>
                </a:solidFill>
                <a:latin typeface="Arial" panose="020B0604020202020204" pitchFamily="34" charset="0"/>
                <a:cs typeface="Arial" panose="020B0604020202020204" pitchFamily="34" charset="0"/>
                <a:hlinkClick r:id="rId5"/>
              </a:rPr>
              <a:t>https://</a:t>
            </a:r>
            <a:r>
              <a:rPr lang="en-US" sz="1100" b="1" dirty="0" smtClean="0">
                <a:solidFill>
                  <a:schemeClr val="tx1"/>
                </a:solidFill>
                <a:latin typeface="Arial" panose="020B0604020202020204" pitchFamily="34" charset="0"/>
                <a:cs typeface="Arial" panose="020B0604020202020204" pitchFamily="34" charset="0"/>
                <a:hlinkClick r:id="rId5"/>
              </a:rPr>
              <a:t>www.scienceopen.com/hosted-document?doi=10.14236/ewic/EASE2008.8</a:t>
            </a:r>
            <a:endParaRPr lang="en-US" sz="1100" b="1" dirty="0" smtClean="0">
              <a:solidFill>
                <a:schemeClr val="tx1"/>
              </a:solidFill>
              <a:latin typeface="Arial" panose="020B0604020202020204" pitchFamily="34" charset="0"/>
              <a:cs typeface="Arial" panose="020B0604020202020204" pitchFamily="34" charset="0"/>
            </a:endParaRPr>
          </a:p>
          <a:p>
            <a:pPr algn="just"/>
            <a:endParaRPr lang="en-US" sz="1100" b="1" dirty="0">
              <a:solidFill>
                <a:schemeClr val="tx1"/>
              </a:solidFill>
              <a:latin typeface="Arial" panose="020B0604020202020204" pitchFamily="34" charset="0"/>
              <a:cs typeface="Arial" panose="020B0604020202020204" pitchFamily="34" charset="0"/>
            </a:endParaRPr>
          </a:p>
          <a:p>
            <a:pPr algn="l"/>
            <a:endParaRPr lang="en-US" sz="1100" b="1" dirty="0" smtClean="0">
              <a:solidFill>
                <a:schemeClr val="tx1"/>
              </a:solidFill>
              <a:latin typeface="Arial" panose="020B0604020202020204" pitchFamily="34" charset="0"/>
              <a:cs typeface="Arial" panose="020B0604020202020204" pitchFamily="34" charset="0"/>
            </a:endParaRPr>
          </a:p>
          <a:p>
            <a:pPr algn="just"/>
            <a:endParaRPr lang="en-US" sz="1100" b="1" dirty="0" smtClean="0">
              <a:solidFill>
                <a:schemeClr val="tx1"/>
              </a:solidFill>
              <a:latin typeface="Arial" panose="020B0604020202020204" pitchFamily="34" charset="0"/>
              <a:cs typeface="Arial" panose="020B0604020202020204" pitchFamily="34" charset="0"/>
            </a:endParaRPr>
          </a:p>
          <a:p>
            <a:pPr algn="just"/>
            <a:endParaRPr lang="en-US" b="1" dirty="0" smtClean="0">
              <a:solidFill>
                <a:schemeClr val="tx1"/>
              </a:solidFill>
            </a:endParaRPr>
          </a:p>
          <a:p>
            <a:pPr algn="just"/>
            <a:endParaRPr lang="es-MX" dirty="0">
              <a:solidFill>
                <a:schemeClr val="tx1"/>
              </a:solidFill>
            </a:endParaRPr>
          </a:p>
        </p:txBody>
      </p:sp>
    </p:spTree>
    <p:extLst>
      <p:ext uri="{BB962C8B-B14F-4D97-AF65-F5344CB8AC3E}">
        <p14:creationId xmlns:p14="http://schemas.microsoft.com/office/powerpoint/2010/main" val="218748428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pic>
        <p:nvPicPr>
          <p:cNvPr id="6" name="Imagen 5"/>
          <p:cNvPicPr/>
          <p:nvPr/>
        </p:nvPicPr>
        <p:blipFill rotWithShape="1">
          <a:blip r:embed="rId2">
            <a:extLst>
              <a:ext uri="{28A0092B-C50C-407E-A947-70E740481C1C}">
                <a14:useLocalDpi xmlns:a14="http://schemas.microsoft.com/office/drawing/2010/main" val="0"/>
              </a:ext>
            </a:extLst>
          </a:blip>
          <a:srcRect t="1" r="32064" b="-10136"/>
          <a:stretch/>
        </p:blipFill>
        <p:spPr bwMode="auto">
          <a:xfrm>
            <a:off x="110789" y="112160"/>
            <a:ext cx="3410075" cy="757457"/>
          </a:xfrm>
          <a:prstGeom prst="rect">
            <a:avLst/>
          </a:prstGeom>
          <a:noFill/>
          <a:ln>
            <a:noFill/>
          </a:ln>
          <a:extLst>
            <a:ext uri="{53640926-AAD7-44D8-BBD7-CCE9431645EC}">
              <a14:shadowObscured xmlns:a14="http://schemas.microsoft.com/office/drawing/2010/main"/>
            </a:ext>
          </a:extLst>
        </p:spPr>
      </p:pic>
      <p:pic>
        <p:nvPicPr>
          <p:cNvPr id="7" name="Imagen 6" descr="Resultado de imagen para instituto tecnologico de orizaba logo"/>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51537" y="77977"/>
            <a:ext cx="779082" cy="805180"/>
          </a:xfrm>
          <a:prstGeom prst="rect">
            <a:avLst/>
          </a:prstGeom>
          <a:noFill/>
          <a:ln>
            <a:noFill/>
          </a:ln>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74675" y="125347"/>
            <a:ext cx="1619264" cy="740391"/>
          </a:xfrm>
          <a:prstGeom prst="rect">
            <a:avLst/>
          </a:prstGeom>
        </p:spPr>
      </p:pic>
      <p:sp>
        <p:nvSpPr>
          <p:cNvPr id="9" name="Rectángulo 8"/>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10" name="Title 1"/>
          <p:cNvSpPr txBox="1">
            <a:spLocks/>
          </p:cNvSpPr>
          <p:nvPr/>
        </p:nvSpPr>
        <p:spPr>
          <a:xfrm>
            <a:off x="911424" y="1003473"/>
            <a:ext cx="9289032" cy="40930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solidFill>
                  <a:srgbClr val="08489E"/>
                </a:solidFill>
                <a:latin typeface="Trebuchet MS" panose="020B0603020202020204" pitchFamily="34" charset="0"/>
              </a:rPr>
              <a:t>Estudio de Mapeo Sistemático 3/5</a:t>
            </a:r>
            <a:endParaRPr lang="en-US" sz="2400" b="1" dirty="0">
              <a:solidFill>
                <a:srgbClr val="08489E"/>
              </a:solidFill>
              <a:latin typeface="Trebuchet MS" panose="020B0603020202020204" pitchFamily="34" charset="0"/>
            </a:endParaRPr>
          </a:p>
        </p:txBody>
      </p:sp>
      <p:sp>
        <p:nvSpPr>
          <p:cNvPr id="11" name="3 Rectángulo"/>
          <p:cNvSpPr/>
          <p:nvPr/>
        </p:nvSpPr>
        <p:spPr>
          <a:xfrm>
            <a:off x="911423" y="1585235"/>
            <a:ext cx="10340113" cy="3771289"/>
          </a:xfrm>
          <a:prstGeom prst="rect">
            <a:avLst/>
          </a:prstGeom>
        </p:spPr>
        <p:txBody>
          <a:bodyPr wrap="square">
            <a:spAutoFit/>
          </a:bodyPr>
          <a:lstStyle/>
          <a:p>
            <a:pPr>
              <a:lnSpc>
                <a:spcPct val="115000"/>
              </a:lnSpc>
              <a:spcAft>
                <a:spcPts val="1000"/>
              </a:spcAft>
            </a:pPr>
            <a:r>
              <a:rPr lang="es-ES" sz="2000" b="1" dirty="0">
                <a:solidFill>
                  <a:srgbClr val="3399FF"/>
                </a:solidFill>
                <a:latin typeface="Trebuchet MS" panose="020B0603020202020204" pitchFamily="34" charset="0"/>
                <a:ea typeface="Times New Roman"/>
                <a:cs typeface="Calibri"/>
              </a:rPr>
              <a:t>Marco metodológico propuesto por </a:t>
            </a:r>
            <a:r>
              <a:rPr lang="es-ES" sz="2000" b="1" dirty="0" smtClean="0">
                <a:solidFill>
                  <a:srgbClr val="3399FF"/>
                </a:solidFill>
                <a:latin typeface="Trebuchet MS" panose="020B0603020202020204" pitchFamily="34" charset="0"/>
                <a:ea typeface="Times New Roman"/>
                <a:cs typeface="Calibri"/>
              </a:rPr>
              <a:t>Petersen</a:t>
            </a:r>
            <a:r>
              <a:rPr lang="es-ES" sz="2000" b="1" dirty="0">
                <a:solidFill>
                  <a:srgbClr val="3399FF"/>
                </a:solidFill>
                <a:latin typeface="Trebuchet MS" panose="020B0603020202020204" pitchFamily="34" charset="0"/>
                <a:ea typeface="Times New Roman"/>
                <a:cs typeface="Calibri"/>
              </a:rPr>
              <a:t>, </a:t>
            </a:r>
            <a:r>
              <a:rPr lang="es-MX" sz="2000" b="1" dirty="0" err="1">
                <a:solidFill>
                  <a:srgbClr val="3399FF"/>
                </a:solidFill>
                <a:latin typeface="Trebuchet MS" panose="020B0603020202020204" pitchFamily="34" charset="0"/>
                <a:ea typeface="Times New Roman"/>
                <a:cs typeface="Calibri"/>
              </a:rPr>
              <a:t>Vakkalanka</a:t>
            </a:r>
            <a:r>
              <a:rPr lang="es-MX" sz="2000" b="1" dirty="0">
                <a:solidFill>
                  <a:srgbClr val="3399FF"/>
                </a:solidFill>
                <a:latin typeface="Trebuchet MS" panose="020B0603020202020204" pitchFamily="34" charset="0"/>
                <a:ea typeface="Times New Roman"/>
                <a:cs typeface="Calibri"/>
              </a:rPr>
              <a:t> &amp; </a:t>
            </a:r>
            <a:r>
              <a:rPr lang="es-MX" sz="2000" b="1" dirty="0" err="1">
                <a:solidFill>
                  <a:srgbClr val="3399FF"/>
                </a:solidFill>
                <a:latin typeface="Trebuchet MS" panose="020B0603020202020204" pitchFamily="34" charset="0"/>
                <a:ea typeface="Times New Roman"/>
                <a:cs typeface="Calibri"/>
              </a:rPr>
              <a:t>Kuzniarz</a:t>
            </a:r>
            <a:r>
              <a:rPr lang="es-MX" sz="2000" b="1" dirty="0">
                <a:solidFill>
                  <a:srgbClr val="3399FF"/>
                </a:solidFill>
                <a:latin typeface="Trebuchet MS" panose="020B0603020202020204" pitchFamily="34" charset="0"/>
                <a:ea typeface="Times New Roman"/>
                <a:cs typeface="Calibri"/>
              </a:rPr>
              <a:t> </a:t>
            </a:r>
            <a:r>
              <a:rPr lang="es-ES" sz="2000" b="1" dirty="0">
                <a:solidFill>
                  <a:srgbClr val="3399FF"/>
                </a:solidFill>
                <a:latin typeface="Trebuchet MS" panose="020B0603020202020204" pitchFamily="34" charset="0"/>
                <a:ea typeface="Times New Roman"/>
                <a:cs typeface="Calibri"/>
              </a:rPr>
              <a:t>(</a:t>
            </a:r>
            <a:r>
              <a:rPr lang="es-ES" sz="2000" b="1" dirty="0" smtClean="0">
                <a:solidFill>
                  <a:srgbClr val="3399FF"/>
                </a:solidFill>
                <a:latin typeface="Trebuchet MS" panose="020B0603020202020204" pitchFamily="34" charset="0"/>
                <a:ea typeface="Times New Roman"/>
                <a:cs typeface="Calibri"/>
              </a:rPr>
              <a:t>2015)</a:t>
            </a:r>
            <a:r>
              <a:rPr lang="es-ES" b="1" baseline="30000" dirty="0">
                <a:latin typeface="Trebuchet MS" panose="020B0603020202020204" pitchFamily="34" charset="0"/>
                <a:ea typeface="Times New Roman"/>
                <a:cs typeface="Calibri"/>
              </a:rPr>
              <a:t>6</a:t>
            </a:r>
            <a:r>
              <a:rPr lang="es-ES" sz="2000" b="1" dirty="0" smtClean="0">
                <a:solidFill>
                  <a:srgbClr val="3399FF"/>
                </a:solidFill>
                <a:latin typeface="Trebuchet MS" panose="020B0603020202020204" pitchFamily="34" charset="0"/>
                <a:ea typeface="Times New Roman"/>
                <a:cs typeface="Calibri"/>
              </a:rPr>
              <a:t> </a:t>
            </a:r>
            <a:endParaRPr lang="es-ES" sz="2000" b="1" dirty="0">
              <a:solidFill>
                <a:srgbClr val="3399FF"/>
              </a:solidFill>
              <a:latin typeface="Trebuchet MS" panose="020B0603020202020204" pitchFamily="34" charset="0"/>
              <a:ea typeface="Times New Roman"/>
              <a:cs typeface="Calibri"/>
            </a:endParaRPr>
          </a:p>
          <a:p>
            <a:pPr>
              <a:lnSpc>
                <a:spcPct val="115000"/>
              </a:lnSpc>
              <a:spcAft>
                <a:spcPts val="1000"/>
              </a:spcAft>
            </a:pPr>
            <a:r>
              <a:rPr lang="es-ES" sz="1600" b="1" dirty="0" smtClean="0">
                <a:solidFill>
                  <a:srgbClr val="A50021"/>
                </a:solidFill>
                <a:latin typeface="Trebuchet MS" panose="020B0603020202020204" pitchFamily="34" charset="0"/>
                <a:ea typeface="Times New Roman"/>
                <a:cs typeface="Calibri"/>
              </a:rPr>
              <a:t>[829 </a:t>
            </a:r>
            <a:r>
              <a:rPr lang="es-ES" sz="1600" b="1" dirty="0">
                <a:solidFill>
                  <a:srgbClr val="A50021"/>
                </a:solidFill>
                <a:latin typeface="Trebuchet MS" panose="020B0603020202020204" pitchFamily="34" charset="0"/>
                <a:ea typeface="Times New Roman"/>
                <a:cs typeface="Calibri"/>
              </a:rPr>
              <a:t>citas hasta Junio 2020]</a:t>
            </a:r>
          </a:p>
          <a:p>
            <a:pPr marL="342900" indent="-342900" algn="just">
              <a:spcAft>
                <a:spcPts val="1000"/>
              </a:spcAft>
              <a:buClr>
                <a:srgbClr val="3399FF"/>
              </a:buClr>
              <a:buFont typeface="+mj-lt"/>
              <a:buAutoNum type="arabicPeriod"/>
            </a:pPr>
            <a:r>
              <a:rPr lang="es-MX" dirty="0" smtClean="0">
                <a:latin typeface="Trebuchet MS" panose="020B0603020202020204" pitchFamily="34" charset="0"/>
                <a:ea typeface="Calibri"/>
                <a:cs typeface="Times New Roman"/>
              </a:rPr>
              <a:t>Definición </a:t>
            </a:r>
            <a:r>
              <a:rPr lang="es-MX" dirty="0">
                <a:latin typeface="Trebuchet MS" panose="020B0603020202020204" pitchFamily="34" charset="0"/>
                <a:ea typeface="Calibri"/>
                <a:cs typeface="Times New Roman"/>
              </a:rPr>
              <a:t>de </a:t>
            </a:r>
            <a:r>
              <a:rPr lang="es-MX" dirty="0" smtClean="0">
                <a:latin typeface="Trebuchet MS" panose="020B0603020202020204" pitchFamily="34" charset="0"/>
                <a:ea typeface="Calibri"/>
                <a:cs typeface="Times New Roman"/>
              </a:rPr>
              <a:t>la pregunta </a:t>
            </a:r>
            <a:r>
              <a:rPr lang="es-MX" dirty="0">
                <a:latin typeface="Trebuchet MS" panose="020B0603020202020204" pitchFamily="34" charset="0"/>
                <a:ea typeface="Calibri"/>
                <a:cs typeface="Times New Roman"/>
              </a:rPr>
              <a:t>de investigación </a:t>
            </a:r>
            <a:endParaRPr lang="es-MX" dirty="0" smtClean="0">
              <a:latin typeface="Trebuchet MS" panose="020B0603020202020204" pitchFamily="34" charset="0"/>
              <a:ea typeface="Calibri"/>
              <a:cs typeface="Times New Roman"/>
            </a:endParaRPr>
          </a:p>
          <a:p>
            <a:pPr marL="342900" indent="-342900" algn="just">
              <a:spcAft>
                <a:spcPts val="1000"/>
              </a:spcAft>
              <a:buClr>
                <a:srgbClr val="3399FF"/>
              </a:buClr>
              <a:buFont typeface="+mj-lt"/>
              <a:buAutoNum type="arabicPeriod"/>
            </a:pPr>
            <a:r>
              <a:rPr lang="es-MX" dirty="0" smtClean="0">
                <a:latin typeface="Trebuchet MS" panose="020B0603020202020204" pitchFamily="34" charset="0"/>
                <a:ea typeface="Calibri"/>
                <a:cs typeface="Times New Roman"/>
              </a:rPr>
              <a:t>Realización </a:t>
            </a:r>
            <a:r>
              <a:rPr lang="es-MX" dirty="0">
                <a:latin typeface="Trebuchet MS" panose="020B0603020202020204" pitchFamily="34" charset="0"/>
                <a:ea typeface="Calibri"/>
                <a:cs typeface="Times New Roman"/>
              </a:rPr>
              <a:t>de </a:t>
            </a:r>
            <a:r>
              <a:rPr lang="es-MX" dirty="0" smtClean="0">
                <a:latin typeface="Trebuchet MS" panose="020B0603020202020204" pitchFamily="34" charset="0"/>
                <a:ea typeface="Calibri"/>
                <a:cs typeface="Times New Roman"/>
              </a:rPr>
              <a:t>la búsqueda </a:t>
            </a:r>
            <a:r>
              <a:rPr lang="es-MX" dirty="0">
                <a:latin typeface="Trebuchet MS" panose="020B0603020202020204" pitchFamily="34" charset="0"/>
                <a:ea typeface="Calibri"/>
                <a:cs typeface="Times New Roman"/>
              </a:rPr>
              <a:t>de estudios primarios </a:t>
            </a:r>
            <a:endParaRPr lang="es-MX" dirty="0" smtClean="0">
              <a:latin typeface="Trebuchet MS" panose="020B0603020202020204" pitchFamily="34" charset="0"/>
              <a:ea typeface="Calibri"/>
              <a:cs typeface="Times New Roman"/>
            </a:endParaRPr>
          </a:p>
          <a:p>
            <a:pPr marL="342900" indent="-342900" algn="just">
              <a:spcAft>
                <a:spcPts val="1000"/>
              </a:spcAft>
              <a:buClr>
                <a:srgbClr val="3399FF"/>
              </a:buClr>
              <a:buFont typeface="+mj-lt"/>
              <a:buAutoNum type="arabicPeriod"/>
            </a:pPr>
            <a:r>
              <a:rPr lang="es-ES" dirty="0">
                <a:latin typeface="Trebuchet MS" panose="020B0603020202020204" pitchFamily="34" charset="0"/>
                <a:ea typeface="Calibri"/>
                <a:cs typeface="Times New Roman"/>
              </a:rPr>
              <a:t>Selección de estudios y evaluación de calidad</a:t>
            </a:r>
            <a:endParaRPr lang="es-MX" dirty="0">
              <a:latin typeface="Trebuchet MS" panose="020B0603020202020204" pitchFamily="34" charset="0"/>
              <a:ea typeface="Calibri"/>
              <a:cs typeface="Times New Roman"/>
            </a:endParaRPr>
          </a:p>
          <a:p>
            <a:pPr marL="342900" indent="-342900" algn="just">
              <a:spcAft>
                <a:spcPts val="1000"/>
              </a:spcAft>
              <a:buClr>
                <a:srgbClr val="3399FF"/>
              </a:buClr>
              <a:buFont typeface="+mj-lt"/>
              <a:buAutoNum type="arabicPeriod"/>
            </a:pPr>
            <a:r>
              <a:rPr lang="es-MX" dirty="0" smtClean="0">
                <a:latin typeface="Trebuchet MS" panose="020B0603020202020204" pitchFamily="34" charset="0"/>
                <a:ea typeface="Calibri"/>
                <a:cs typeface="Times New Roman"/>
              </a:rPr>
              <a:t>Extracción de datos</a:t>
            </a:r>
            <a:endParaRPr lang="es-MX" dirty="0">
              <a:latin typeface="Trebuchet MS" panose="020B0603020202020204" pitchFamily="34" charset="0"/>
              <a:ea typeface="Calibri"/>
              <a:cs typeface="Times New Roman"/>
            </a:endParaRPr>
          </a:p>
          <a:p>
            <a:pPr marL="342900" indent="-342900" algn="just">
              <a:spcAft>
                <a:spcPts val="1000"/>
              </a:spcAft>
              <a:buClr>
                <a:srgbClr val="3399FF"/>
              </a:buClr>
              <a:buFont typeface="+mj-lt"/>
              <a:buAutoNum type="arabicPeriod"/>
            </a:pPr>
            <a:r>
              <a:rPr lang="es-MX" dirty="0" smtClean="0">
                <a:latin typeface="Trebuchet MS" panose="020B0603020202020204" pitchFamily="34" charset="0"/>
                <a:ea typeface="Calibri"/>
                <a:cs typeface="Times New Roman"/>
              </a:rPr>
              <a:t>Análisis y clasificación de estudios</a:t>
            </a:r>
            <a:endParaRPr lang="es-MX" dirty="0">
              <a:latin typeface="Trebuchet MS" panose="020B0603020202020204" pitchFamily="34" charset="0"/>
              <a:ea typeface="Calibri"/>
              <a:cs typeface="Times New Roman"/>
            </a:endParaRPr>
          </a:p>
          <a:p>
            <a:pPr marL="342900" indent="-342900" algn="just">
              <a:spcAft>
                <a:spcPts val="1000"/>
              </a:spcAft>
              <a:buClr>
                <a:srgbClr val="3399FF"/>
              </a:buClr>
              <a:buFont typeface="+mj-lt"/>
              <a:buAutoNum type="arabicPeriod"/>
            </a:pPr>
            <a:r>
              <a:rPr lang="es-MX" dirty="0" smtClean="0">
                <a:latin typeface="Trebuchet MS" panose="020B0603020202020204" pitchFamily="34" charset="0"/>
                <a:ea typeface="Calibri"/>
                <a:cs typeface="Times New Roman"/>
              </a:rPr>
              <a:t>Evaluación de la validez</a:t>
            </a:r>
            <a:endParaRPr lang="es-MX" dirty="0">
              <a:latin typeface="Trebuchet MS" panose="020B0603020202020204" pitchFamily="34" charset="0"/>
              <a:ea typeface="Calibri"/>
              <a:cs typeface="Times New Roman"/>
            </a:endParaRPr>
          </a:p>
          <a:p>
            <a:pPr>
              <a:lnSpc>
                <a:spcPct val="115000"/>
              </a:lnSpc>
              <a:spcAft>
                <a:spcPts val="1000"/>
              </a:spcAft>
            </a:pPr>
            <a:endParaRPr lang="es-ES" sz="2000" b="1" dirty="0" smtClean="0">
              <a:solidFill>
                <a:srgbClr val="3399FF"/>
              </a:solidFill>
              <a:latin typeface="Trebuchet MS" panose="020B0603020202020204" pitchFamily="34" charset="0"/>
              <a:ea typeface="Times New Roman"/>
              <a:cs typeface="Calibri"/>
            </a:endParaRPr>
          </a:p>
        </p:txBody>
      </p:sp>
      <p:sp>
        <p:nvSpPr>
          <p:cNvPr id="13" name="Marcador de pie de página 1"/>
          <p:cNvSpPr txBox="1">
            <a:spLocks/>
          </p:cNvSpPr>
          <p:nvPr/>
        </p:nvSpPr>
        <p:spPr>
          <a:xfrm>
            <a:off x="911423" y="5733256"/>
            <a:ext cx="10282516" cy="576064"/>
          </a:xfrm>
          <a:prstGeom prst="rect">
            <a:avLst/>
          </a:prstGeom>
        </p:spPr>
        <p:txBody>
          <a:bodyPr vert="horz" lIns="91440" tIns="45720" rIns="91440" bIns="45720" rtlCol="0" anchor="ctr"/>
          <a:lstStyle>
            <a:defPPr>
              <a:defRPr lang="es-MX"/>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endParaRPr lang="en-US" b="1" dirty="0" smtClean="0">
              <a:solidFill>
                <a:schemeClr val="tx1"/>
              </a:solidFill>
            </a:endParaRPr>
          </a:p>
          <a:p>
            <a:pPr algn="just"/>
            <a:endParaRPr lang="en-US" b="1" dirty="0" smtClean="0">
              <a:solidFill>
                <a:schemeClr val="tx1"/>
              </a:solidFill>
            </a:endParaRPr>
          </a:p>
          <a:p>
            <a:pPr algn="just"/>
            <a:endParaRPr lang="en-US" b="1" dirty="0" smtClean="0">
              <a:solidFill>
                <a:schemeClr val="tx1"/>
              </a:solidFill>
            </a:endParaRPr>
          </a:p>
          <a:p>
            <a:pPr algn="just"/>
            <a:endParaRPr lang="en-US" sz="1100" b="1" dirty="0">
              <a:solidFill>
                <a:schemeClr val="tx1"/>
              </a:solidFill>
              <a:latin typeface="Arial" panose="020B0604020202020204" pitchFamily="34" charset="0"/>
              <a:cs typeface="Arial" panose="020B0604020202020204" pitchFamily="34" charset="0"/>
            </a:endParaRPr>
          </a:p>
          <a:p>
            <a:pPr algn="just"/>
            <a:endParaRPr lang="en-US" sz="1100" b="1" dirty="0" smtClean="0">
              <a:solidFill>
                <a:schemeClr val="tx1"/>
              </a:solidFill>
              <a:latin typeface="Arial" panose="020B0604020202020204" pitchFamily="34" charset="0"/>
              <a:cs typeface="Arial" panose="020B0604020202020204" pitchFamily="34" charset="0"/>
            </a:endParaRPr>
          </a:p>
          <a:p>
            <a:pPr algn="just"/>
            <a:r>
              <a:rPr lang="en-US" sz="1100" b="1" dirty="0">
                <a:solidFill>
                  <a:schemeClr val="tx1"/>
                </a:solidFill>
                <a:latin typeface="Arial" panose="020B0604020202020204" pitchFamily="34" charset="0"/>
                <a:cs typeface="Arial" panose="020B0604020202020204" pitchFamily="34" charset="0"/>
              </a:rPr>
              <a:t>6</a:t>
            </a:r>
            <a:r>
              <a:rPr lang="en-US" sz="1100" b="1" dirty="0" smtClean="0">
                <a:solidFill>
                  <a:schemeClr val="tx1"/>
                </a:solidFill>
                <a:latin typeface="Arial" panose="020B0604020202020204" pitchFamily="34" charset="0"/>
                <a:cs typeface="Arial" panose="020B0604020202020204" pitchFamily="34" charset="0"/>
              </a:rPr>
              <a:t>. Kai </a:t>
            </a:r>
            <a:r>
              <a:rPr lang="es-MX" sz="1100" b="1" dirty="0" smtClean="0">
                <a:solidFill>
                  <a:schemeClr val="tx1"/>
                </a:solidFill>
                <a:latin typeface="Arial" panose="020B0604020202020204" pitchFamily="34" charset="0"/>
                <a:cs typeface="Arial" panose="020B0604020202020204" pitchFamily="34" charset="0"/>
              </a:rPr>
              <a:t>Petersen, </a:t>
            </a:r>
            <a:r>
              <a:rPr lang="es-MX" sz="1100" b="1" dirty="0" err="1">
                <a:solidFill>
                  <a:schemeClr val="tx1"/>
                </a:solidFill>
                <a:latin typeface="Arial" panose="020B0604020202020204" pitchFamily="34" charset="0"/>
                <a:cs typeface="Arial" panose="020B0604020202020204" pitchFamily="34" charset="0"/>
              </a:rPr>
              <a:t>Sairam</a:t>
            </a:r>
            <a:r>
              <a:rPr lang="es-MX" sz="1100" b="1" dirty="0">
                <a:solidFill>
                  <a:schemeClr val="tx1"/>
                </a:solidFill>
                <a:latin typeface="Arial" panose="020B0604020202020204" pitchFamily="34" charset="0"/>
                <a:cs typeface="Arial" panose="020B0604020202020204" pitchFamily="34" charset="0"/>
              </a:rPr>
              <a:t> </a:t>
            </a:r>
            <a:r>
              <a:rPr lang="es-MX" sz="1100" b="1" dirty="0" err="1" smtClean="0">
                <a:solidFill>
                  <a:schemeClr val="tx1"/>
                </a:solidFill>
                <a:latin typeface="Arial" panose="020B0604020202020204" pitchFamily="34" charset="0"/>
                <a:cs typeface="Arial" panose="020B0604020202020204" pitchFamily="34" charset="0"/>
              </a:rPr>
              <a:t>Vakkalanka</a:t>
            </a:r>
            <a:r>
              <a:rPr lang="es-MX" sz="1100" b="1" dirty="0" smtClean="0">
                <a:solidFill>
                  <a:schemeClr val="tx1"/>
                </a:solidFill>
                <a:latin typeface="Arial" panose="020B0604020202020204" pitchFamily="34" charset="0"/>
                <a:cs typeface="Arial" panose="020B0604020202020204" pitchFamily="34" charset="0"/>
              </a:rPr>
              <a:t> </a:t>
            </a:r>
            <a:r>
              <a:rPr lang="es-MX" sz="1100" b="1" dirty="0">
                <a:solidFill>
                  <a:schemeClr val="tx1"/>
                </a:solidFill>
                <a:latin typeface="Arial" panose="020B0604020202020204" pitchFamily="34" charset="0"/>
                <a:cs typeface="Arial" panose="020B0604020202020204" pitchFamily="34" charset="0"/>
              </a:rPr>
              <a:t>and </a:t>
            </a:r>
            <a:r>
              <a:rPr lang="es-MX" sz="1100" b="1" dirty="0" err="1">
                <a:solidFill>
                  <a:schemeClr val="tx1"/>
                </a:solidFill>
                <a:latin typeface="Arial" panose="020B0604020202020204" pitchFamily="34" charset="0"/>
                <a:cs typeface="Arial" panose="020B0604020202020204" pitchFamily="34" charset="0"/>
              </a:rPr>
              <a:t>Ludwik</a:t>
            </a:r>
            <a:r>
              <a:rPr lang="es-MX" sz="1100" b="1" dirty="0">
                <a:solidFill>
                  <a:schemeClr val="tx1"/>
                </a:solidFill>
                <a:latin typeface="Arial" panose="020B0604020202020204" pitchFamily="34" charset="0"/>
                <a:cs typeface="Arial" panose="020B0604020202020204" pitchFamily="34" charset="0"/>
              </a:rPr>
              <a:t> </a:t>
            </a:r>
            <a:r>
              <a:rPr lang="es-MX" sz="1100" b="1" dirty="0" err="1">
                <a:solidFill>
                  <a:schemeClr val="tx1"/>
                </a:solidFill>
                <a:latin typeface="Arial" panose="020B0604020202020204" pitchFamily="34" charset="0"/>
                <a:cs typeface="Arial" panose="020B0604020202020204" pitchFamily="34" charset="0"/>
              </a:rPr>
              <a:t>Kuzniarz</a:t>
            </a:r>
            <a:r>
              <a:rPr lang="es-MX" sz="1100" b="1" dirty="0">
                <a:solidFill>
                  <a:schemeClr val="tx1"/>
                </a:solidFill>
                <a:latin typeface="Arial" panose="020B0604020202020204" pitchFamily="34" charset="0"/>
                <a:cs typeface="Arial" panose="020B0604020202020204" pitchFamily="34" charset="0"/>
              </a:rPr>
              <a:t>. (2015). </a:t>
            </a:r>
            <a:r>
              <a:rPr lang="es-MX" sz="1100" b="1" dirty="0" err="1">
                <a:solidFill>
                  <a:schemeClr val="tx1"/>
                </a:solidFill>
                <a:latin typeface="Arial" panose="020B0604020202020204" pitchFamily="34" charset="0"/>
                <a:cs typeface="Arial" panose="020B0604020202020204" pitchFamily="34" charset="0"/>
              </a:rPr>
              <a:t>Guidelines</a:t>
            </a:r>
            <a:r>
              <a:rPr lang="es-MX" sz="1100" b="1" dirty="0">
                <a:solidFill>
                  <a:schemeClr val="tx1"/>
                </a:solidFill>
                <a:latin typeface="Arial" panose="020B0604020202020204" pitchFamily="34" charset="0"/>
                <a:cs typeface="Arial" panose="020B0604020202020204" pitchFamily="34" charset="0"/>
              </a:rPr>
              <a:t> for </a:t>
            </a:r>
            <a:r>
              <a:rPr lang="es-MX" sz="1100" b="1" dirty="0" err="1">
                <a:solidFill>
                  <a:schemeClr val="tx1"/>
                </a:solidFill>
                <a:latin typeface="Arial" panose="020B0604020202020204" pitchFamily="34" charset="0"/>
                <a:cs typeface="Arial" panose="020B0604020202020204" pitchFamily="34" charset="0"/>
              </a:rPr>
              <a:t>Conducting</a:t>
            </a:r>
            <a:r>
              <a:rPr lang="es-MX" sz="1100" b="1" dirty="0">
                <a:solidFill>
                  <a:schemeClr val="tx1"/>
                </a:solidFill>
                <a:latin typeface="Arial" panose="020B0604020202020204" pitchFamily="34" charset="0"/>
                <a:cs typeface="Arial" panose="020B0604020202020204" pitchFamily="34" charset="0"/>
              </a:rPr>
              <a:t> Systematic Mapping Studies in Software Engineering: An </a:t>
            </a:r>
            <a:r>
              <a:rPr lang="es-MX" sz="1100" b="1" dirty="0" smtClean="0">
                <a:solidFill>
                  <a:schemeClr val="tx1"/>
                </a:solidFill>
                <a:latin typeface="Arial" panose="020B0604020202020204" pitchFamily="34" charset="0"/>
                <a:cs typeface="Arial" panose="020B0604020202020204" pitchFamily="34" charset="0"/>
              </a:rPr>
              <a:t>Update, In </a:t>
            </a:r>
            <a:r>
              <a:rPr lang="es-MX" sz="1100" b="1" dirty="0">
                <a:solidFill>
                  <a:schemeClr val="tx1"/>
                </a:solidFill>
                <a:latin typeface="Arial" panose="020B0604020202020204" pitchFamily="34" charset="0"/>
                <a:cs typeface="Arial" panose="020B0604020202020204" pitchFamily="34" charset="0"/>
              </a:rPr>
              <a:t>Information and Software </a:t>
            </a:r>
            <a:r>
              <a:rPr lang="es-MX" sz="1100" b="1" dirty="0" smtClean="0">
                <a:solidFill>
                  <a:schemeClr val="tx1"/>
                </a:solidFill>
                <a:latin typeface="Arial" panose="020B0604020202020204" pitchFamily="34" charset="0"/>
                <a:cs typeface="Arial" panose="020B0604020202020204" pitchFamily="34" charset="0"/>
              </a:rPr>
              <a:t>Technology</a:t>
            </a:r>
            <a:r>
              <a:rPr lang="en-US" sz="1100" b="1" dirty="0" smtClean="0">
                <a:solidFill>
                  <a:schemeClr val="tx1"/>
                </a:solidFill>
                <a:latin typeface="Arial" panose="020B0604020202020204" pitchFamily="34" charset="0"/>
                <a:cs typeface="Arial" panose="020B0604020202020204" pitchFamily="34" charset="0"/>
              </a:rPr>
              <a:t>, Volume 64, Pages 1-18, ISSN 0950-5849,  </a:t>
            </a:r>
            <a:r>
              <a:rPr lang="es-MX" sz="1100" b="1" dirty="0">
                <a:solidFill>
                  <a:schemeClr val="tx1"/>
                </a:solidFill>
                <a:latin typeface="Arial" panose="020B0604020202020204" pitchFamily="34" charset="0"/>
                <a:cs typeface="Arial" panose="020B0604020202020204" pitchFamily="34" charset="0"/>
                <a:hlinkClick r:id="rId5"/>
              </a:rPr>
              <a:t>https://doi.org/10.1016/j.infsof.2015.03.007</a:t>
            </a:r>
            <a:endParaRPr lang="es-MX" sz="1100" b="1" dirty="0">
              <a:solidFill>
                <a:schemeClr val="tx1"/>
              </a:solidFill>
              <a:latin typeface="Arial" panose="020B0604020202020204" pitchFamily="34" charset="0"/>
              <a:cs typeface="Arial" panose="020B0604020202020204" pitchFamily="34" charset="0"/>
            </a:endParaRPr>
          </a:p>
          <a:p>
            <a:pPr algn="just"/>
            <a:endParaRPr lang="en-US" sz="1100" b="1" dirty="0" smtClean="0">
              <a:solidFill>
                <a:schemeClr val="tx1"/>
              </a:solidFill>
              <a:latin typeface="Arial" panose="020B0604020202020204" pitchFamily="34" charset="0"/>
              <a:cs typeface="Arial" panose="020B0604020202020204" pitchFamily="34" charset="0"/>
            </a:endParaRPr>
          </a:p>
          <a:p>
            <a:pPr algn="just"/>
            <a:endParaRPr lang="en-US" sz="1100" b="1" dirty="0">
              <a:solidFill>
                <a:schemeClr val="tx1"/>
              </a:solidFill>
              <a:latin typeface="Arial" panose="020B0604020202020204" pitchFamily="34" charset="0"/>
              <a:cs typeface="Arial" panose="020B0604020202020204" pitchFamily="34" charset="0"/>
            </a:endParaRPr>
          </a:p>
          <a:p>
            <a:pPr algn="l"/>
            <a:endParaRPr lang="en-US" sz="1100" b="1" dirty="0" smtClean="0">
              <a:solidFill>
                <a:schemeClr val="tx1"/>
              </a:solidFill>
              <a:latin typeface="Arial" panose="020B0604020202020204" pitchFamily="34" charset="0"/>
              <a:cs typeface="Arial" panose="020B0604020202020204" pitchFamily="34" charset="0"/>
            </a:endParaRPr>
          </a:p>
          <a:p>
            <a:pPr algn="just"/>
            <a:endParaRPr lang="en-US" sz="1100" b="1" dirty="0" smtClean="0">
              <a:solidFill>
                <a:schemeClr val="tx1"/>
              </a:solidFill>
              <a:latin typeface="Arial" panose="020B0604020202020204" pitchFamily="34" charset="0"/>
              <a:cs typeface="Arial" panose="020B0604020202020204" pitchFamily="34" charset="0"/>
            </a:endParaRPr>
          </a:p>
          <a:p>
            <a:pPr algn="just"/>
            <a:endParaRPr lang="en-US" b="1" dirty="0" smtClean="0">
              <a:solidFill>
                <a:schemeClr val="tx1"/>
              </a:solidFill>
            </a:endParaRPr>
          </a:p>
          <a:p>
            <a:pPr algn="just"/>
            <a:endParaRPr lang="es-MX" dirty="0">
              <a:solidFill>
                <a:schemeClr val="tx1"/>
              </a:solidFill>
            </a:endParaRPr>
          </a:p>
        </p:txBody>
      </p:sp>
    </p:spTree>
    <p:extLst>
      <p:ext uri="{BB962C8B-B14F-4D97-AF65-F5344CB8AC3E}">
        <p14:creationId xmlns:p14="http://schemas.microsoft.com/office/powerpoint/2010/main" val="176223670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pic>
        <p:nvPicPr>
          <p:cNvPr id="6" name="Imagen 5"/>
          <p:cNvPicPr/>
          <p:nvPr/>
        </p:nvPicPr>
        <p:blipFill rotWithShape="1">
          <a:blip r:embed="rId2">
            <a:extLst>
              <a:ext uri="{28A0092B-C50C-407E-A947-70E740481C1C}">
                <a14:useLocalDpi xmlns:a14="http://schemas.microsoft.com/office/drawing/2010/main" val="0"/>
              </a:ext>
            </a:extLst>
          </a:blip>
          <a:srcRect t="1" r="32064" b="-10136"/>
          <a:stretch/>
        </p:blipFill>
        <p:spPr bwMode="auto">
          <a:xfrm>
            <a:off x="110789" y="112160"/>
            <a:ext cx="3410075" cy="757457"/>
          </a:xfrm>
          <a:prstGeom prst="rect">
            <a:avLst/>
          </a:prstGeom>
          <a:noFill/>
          <a:ln>
            <a:noFill/>
          </a:ln>
          <a:extLst>
            <a:ext uri="{53640926-AAD7-44D8-BBD7-CCE9431645EC}">
              <a14:shadowObscured xmlns:a14="http://schemas.microsoft.com/office/drawing/2010/main"/>
            </a:ext>
          </a:extLst>
        </p:spPr>
      </p:pic>
      <p:pic>
        <p:nvPicPr>
          <p:cNvPr id="7" name="Imagen 6" descr="Resultado de imagen para instituto tecnologico de orizaba logo"/>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51537" y="77977"/>
            <a:ext cx="779082" cy="805180"/>
          </a:xfrm>
          <a:prstGeom prst="rect">
            <a:avLst/>
          </a:prstGeom>
          <a:noFill/>
          <a:ln>
            <a:noFill/>
          </a:ln>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74675" y="125347"/>
            <a:ext cx="1619264" cy="740391"/>
          </a:xfrm>
          <a:prstGeom prst="rect">
            <a:avLst/>
          </a:prstGeom>
        </p:spPr>
      </p:pic>
      <p:sp>
        <p:nvSpPr>
          <p:cNvPr id="9" name="Rectángulo 8"/>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11" name="3 Rectángulo"/>
          <p:cNvSpPr/>
          <p:nvPr/>
        </p:nvSpPr>
        <p:spPr>
          <a:xfrm>
            <a:off x="1775520" y="1585235"/>
            <a:ext cx="9865096" cy="4267835"/>
          </a:xfrm>
          <a:prstGeom prst="rect">
            <a:avLst/>
          </a:prstGeom>
        </p:spPr>
        <p:txBody>
          <a:bodyPr wrap="square">
            <a:spAutoFit/>
          </a:bodyPr>
          <a:lstStyle/>
          <a:p>
            <a:pPr>
              <a:lnSpc>
                <a:spcPct val="115000"/>
              </a:lnSpc>
              <a:spcAft>
                <a:spcPts val="1000"/>
              </a:spcAft>
            </a:pPr>
            <a:r>
              <a:rPr lang="es-ES" sz="2000" b="1" dirty="0" smtClean="0">
                <a:solidFill>
                  <a:srgbClr val="3399FF"/>
                </a:solidFill>
                <a:latin typeface="Trebuchet MS" panose="020B0603020202020204" pitchFamily="34" charset="0"/>
                <a:ea typeface="Times New Roman"/>
                <a:cs typeface="Calibri"/>
              </a:rPr>
              <a:t>Ejemplos del área de TI</a:t>
            </a:r>
            <a:endParaRPr lang="es-ES" sz="2000" b="1" dirty="0" smtClean="0">
              <a:latin typeface="Trebuchet MS" panose="020B0603020202020204" pitchFamily="34" charset="0"/>
              <a:ea typeface="Times New Roman"/>
              <a:cs typeface="Calibri"/>
            </a:endParaRPr>
          </a:p>
          <a:p>
            <a:pPr marL="285750" indent="-285750" algn="just">
              <a:buClr>
                <a:srgbClr val="3399FF"/>
              </a:buClr>
              <a:buSzPct val="140000"/>
              <a:buFont typeface="Arial" panose="020B0604020202020204" pitchFamily="34" charset="0"/>
              <a:buChar char="•"/>
            </a:pPr>
            <a:r>
              <a:rPr lang="es-MX" sz="1600" dirty="0" smtClean="0">
                <a:latin typeface="Trebuchet MS" panose="020B0603020202020204" pitchFamily="34" charset="0"/>
              </a:rPr>
              <a:t>Fernandez</a:t>
            </a:r>
            <a:r>
              <a:rPr lang="es-MX" sz="1600" dirty="0">
                <a:latin typeface="Trebuchet MS" panose="020B0603020202020204" pitchFamily="34" charset="0"/>
              </a:rPr>
              <a:t>, A., Insfran, E., &amp; Abrahão, S. (2011). </a:t>
            </a:r>
            <a:r>
              <a:rPr lang="en-US" sz="1600" dirty="0">
                <a:latin typeface="Trebuchet MS" panose="020B0603020202020204" pitchFamily="34" charset="0"/>
              </a:rPr>
              <a:t>Usability evaluation methods for the web: A </a:t>
            </a:r>
            <a:r>
              <a:rPr lang="en-US" sz="1600" b="1" dirty="0">
                <a:solidFill>
                  <a:srgbClr val="A50021"/>
                </a:solidFill>
                <a:latin typeface="Trebuchet MS" panose="020B0603020202020204" pitchFamily="34" charset="0"/>
              </a:rPr>
              <a:t>systematic mapping study</a:t>
            </a:r>
            <a:r>
              <a:rPr lang="en-US" sz="1600" dirty="0">
                <a:latin typeface="Trebuchet MS" panose="020B0603020202020204" pitchFamily="34" charset="0"/>
              </a:rPr>
              <a:t>. </a:t>
            </a:r>
            <a:r>
              <a:rPr lang="en-US" sz="1600" i="1" dirty="0">
                <a:latin typeface="Trebuchet MS" panose="020B0603020202020204" pitchFamily="34" charset="0"/>
              </a:rPr>
              <a:t>Information and Software Technology</a:t>
            </a:r>
            <a:r>
              <a:rPr lang="en-US" sz="1600" dirty="0">
                <a:latin typeface="Trebuchet MS" panose="020B0603020202020204" pitchFamily="34" charset="0"/>
              </a:rPr>
              <a:t>, </a:t>
            </a:r>
            <a:r>
              <a:rPr lang="en-US" sz="1600" i="1" dirty="0">
                <a:latin typeface="Trebuchet MS" panose="020B0603020202020204" pitchFamily="34" charset="0"/>
              </a:rPr>
              <a:t>53</a:t>
            </a:r>
            <a:r>
              <a:rPr lang="en-US" sz="1600" dirty="0">
                <a:latin typeface="Trebuchet MS" panose="020B0603020202020204" pitchFamily="34" charset="0"/>
              </a:rPr>
              <a:t>(8), 789–817. </a:t>
            </a:r>
            <a:r>
              <a:rPr lang="en-US" sz="1600" u="sng" dirty="0">
                <a:latin typeface="Trebuchet MS" panose="020B0603020202020204" pitchFamily="34" charset="0"/>
                <a:hlinkClick r:id="rId5"/>
              </a:rPr>
              <a:t>https://</a:t>
            </a:r>
            <a:r>
              <a:rPr lang="en-US" sz="1600" u="sng" dirty="0" smtClean="0">
                <a:latin typeface="Trebuchet MS" panose="020B0603020202020204" pitchFamily="34" charset="0"/>
                <a:hlinkClick r:id="rId5"/>
              </a:rPr>
              <a:t>doi.org/10.1016/j.infsof.2011.02.007</a:t>
            </a:r>
            <a:endParaRPr lang="en-US" sz="1600" u="sng" dirty="0" smtClean="0">
              <a:latin typeface="Trebuchet MS" panose="020B0603020202020204" pitchFamily="34" charset="0"/>
            </a:endParaRPr>
          </a:p>
          <a:p>
            <a:pPr marL="285750" indent="-285750" algn="just">
              <a:buClr>
                <a:srgbClr val="3399FF"/>
              </a:buClr>
              <a:buSzPct val="140000"/>
              <a:buFont typeface="Arial" panose="020B0604020202020204" pitchFamily="34" charset="0"/>
              <a:buChar char="•"/>
            </a:pPr>
            <a:r>
              <a:rPr lang="en-US" sz="1600" dirty="0">
                <a:latin typeface="Trebuchet MS" panose="020B0603020202020204" pitchFamily="34" charset="0"/>
              </a:rPr>
              <a:t>De Sousa Borges, S., Durelli, V. H. S., Reis, H. M., &amp; Isotani, S. (2014). A </a:t>
            </a:r>
            <a:r>
              <a:rPr lang="en-US" sz="1600" b="1" dirty="0">
                <a:solidFill>
                  <a:srgbClr val="A50021"/>
                </a:solidFill>
                <a:latin typeface="Trebuchet MS" panose="020B0603020202020204" pitchFamily="34" charset="0"/>
              </a:rPr>
              <a:t>systematic mapping </a:t>
            </a:r>
            <a:r>
              <a:rPr lang="en-US" sz="1600" dirty="0">
                <a:latin typeface="Trebuchet MS" panose="020B0603020202020204" pitchFamily="34" charset="0"/>
              </a:rPr>
              <a:t>on gamification applied to education. </a:t>
            </a:r>
            <a:r>
              <a:rPr lang="en-US" sz="1600" i="1" dirty="0">
                <a:latin typeface="Trebuchet MS" panose="020B0603020202020204" pitchFamily="34" charset="0"/>
              </a:rPr>
              <a:t>Proceedings of the ACM Symposium on Applied Computing</a:t>
            </a:r>
            <a:r>
              <a:rPr lang="en-US" sz="1600" dirty="0">
                <a:latin typeface="Trebuchet MS" panose="020B0603020202020204" pitchFamily="34" charset="0"/>
              </a:rPr>
              <a:t>, </a:t>
            </a:r>
            <a:r>
              <a:rPr lang="en-US" sz="1600" i="1" dirty="0">
                <a:latin typeface="Trebuchet MS" panose="020B0603020202020204" pitchFamily="34" charset="0"/>
              </a:rPr>
              <a:t>Icmc</a:t>
            </a:r>
            <a:r>
              <a:rPr lang="en-US" sz="1600" dirty="0">
                <a:latin typeface="Trebuchet MS" panose="020B0603020202020204" pitchFamily="34" charset="0"/>
              </a:rPr>
              <a:t>, 216–222. </a:t>
            </a:r>
            <a:r>
              <a:rPr lang="en-US" sz="1600" dirty="0">
                <a:latin typeface="Trebuchet MS" panose="020B0603020202020204" pitchFamily="34" charset="0"/>
                <a:hlinkClick r:id="rId6"/>
              </a:rPr>
              <a:t>https://</a:t>
            </a:r>
            <a:r>
              <a:rPr lang="en-US" sz="1600" dirty="0" smtClean="0">
                <a:latin typeface="Trebuchet MS" panose="020B0603020202020204" pitchFamily="34" charset="0"/>
                <a:hlinkClick r:id="rId6"/>
              </a:rPr>
              <a:t>doi.org/10.1145/2554850.2554956</a:t>
            </a:r>
            <a:endParaRPr lang="en-US" sz="1600" dirty="0" smtClean="0">
              <a:latin typeface="Trebuchet MS" panose="020B0603020202020204" pitchFamily="34" charset="0"/>
            </a:endParaRPr>
          </a:p>
          <a:p>
            <a:pPr marL="285750" indent="-285750" algn="just">
              <a:buClr>
                <a:srgbClr val="3399FF"/>
              </a:buClr>
              <a:buSzPct val="140000"/>
              <a:buFont typeface="Arial" panose="020B0604020202020204" pitchFamily="34" charset="0"/>
              <a:buChar char="•"/>
            </a:pPr>
            <a:r>
              <a:rPr lang="en-US" sz="1600" dirty="0">
                <a:latin typeface="Trebuchet MS" panose="020B0603020202020204" pitchFamily="34" charset="0"/>
              </a:rPr>
              <a:t>Paternoster, N., Giardino, C., Unterkalmsteiner, M., Gorschek, T., &amp; Abrahamsson, P. (2014). Software development in startup companies: A </a:t>
            </a:r>
            <a:r>
              <a:rPr lang="en-US" sz="1600" b="1" dirty="0">
                <a:solidFill>
                  <a:srgbClr val="A50021"/>
                </a:solidFill>
                <a:latin typeface="Trebuchet MS" panose="020B0603020202020204" pitchFamily="34" charset="0"/>
              </a:rPr>
              <a:t>systematic mapping study</a:t>
            </a:r>
            <a:r>
              <a:rPr lang="en-US" sz="1600" dirty="0">
                <a:latin typeface="Trebuchet MS" panose="020B0603020202020204" pitchFamily="34" charset="0"/>
              </a:rPr>
              <a:t>. </a:t>
            </a:r>
            <a:r>
              <a:rPr lang="es-MX" sz="1600" i="1" dirty="0">
                <a:latin typeface="Trebuchet MS" panose="020B0603020202020204" pitchFamily="34" charset="0"/>
              </a:rPr>
              <a:t>Information and Software Technology</a:t>
            </a:r>
            <a:r>
              <a:rPr lang="es-MX" sz="1600" dirty="0">
                <a:latin typeface="Trebuchet MS" panose="020B0603020202020204" pitchFamily="34" charset="0"/>
              </a:rPr>
              <a:t>, </a:t>
            </a:r>
            <a:r>
              <a:rPr lang="es-MX" sz="1600" i="1" dirty="0">
                <a:latin typeface="Trebuchet MS" panose="020B0603020202020204" pitchFamily="34" charset="0"/>
              </a:rPr>
              <a:t>56</a:t>
            </a:r>
            <a:r>
              <a:rPr lang="es-MX" sz="1600" dirty="0">
                <a:latin typeface="Trebuchet MS" panose="020B0603020202020204" pitchFamily="34" charset="0"/>
              </a:rPr>
              <a:t>(10), 1200–1218. </a:t>
            </a:r>
            <a:r>
              <a:rPr lang="es-MX" sz="1600" u="sng" dirty="0">
                <a:latin typeface="Trebuchet MS" panose="020B0603020202020204" pitchFamily="34" charset="0"/>
                <a:hlinkClick r:id="rId7"/>
              </a:rPr>
              <a:t>https://</a:t>
            </a:r>
            <a:r>
              <a:rPr lang="es-MX" sz="1600" u="sng" dirty="0" smtClean="0">
                <a:latin typeface="Trebuchet MS" panose="020B0603020202020204" pitchFamily="34" charset="0"/>
                <a:hlinkClick r:id="rId7"/>
              </a:rPr>
              <a:t>doi.org/10.1016/j.infsof.2014.04.014</a:t>
            </a:r>
            <a:endParaRPr lang="es-MX" sz="1600" u="sng" dirty="0" smtClean="0">
              <a:latin typeface="Trebuchet MS" panose="020B0603020202020204" pitchFamily="34" charset="0"/>
            </a:endParaRPr>
          </a:p>
          <a:p>
            <a:pPr marL="285750" indent="-285750" algn="just">
              <a:buClr>
                <a:srgbClr val="3399FF"/>
              </a:buClr>
              <a:buSzPct val="140000"/>
              <a:buFont typeface="Arial" panose="020B0604020202020204" pitchFamily="34" charset="0"/>
              <a:buChar char="•"/>
            </a:pPr>
            <a:r>
              <a:rPr lang="es-MX" sz="1600" dirty="0">
                <a:latin typeface="Trebuchet MS" panose="020B0603020202020204" pitchFamily="34" charset="0"/>
              </a:rPr>
              <a:t>Da Mota Silveira Neto, P. A., Carmo MacHado, I. Do, McGregor, J. D., De Almeida, E. S., &amp; De Lemos Meira, S. R. (2011). </a:t>
            </a:r>
            <a:r>
              <a:rPr lang="en-US" sz="1600" dirty="0">
                <a:latin typeface="Trebuchet MS" panose="020B0603020202020204" pitchFamily="34" charset="0"/>
              </a:rPr>
              <a:t>A </a:t>
            </a:r>
            <a:r>
              <a:rPr lang="en-US" sz="1600" b="1" dirty="0">
                <a:solidFill>
                  <a:srgbClr val="A50021"/>
                </a:solidFill>
                <a:latin typeface="Trebuchet MS" panose="020B0603020202020204" pitchFamily="34" charset="0"/>
              </a:rPr>
              <a:t>systematic mapping study </a:t>
            </a:r>
            <a:r>
              <a:rPr lang="en-US" sz="1600" dirty="0">
                <a:latin typeface="Trebuchet MS" panose="020B0603020202020204" pitchFamily="34" charset="0"/>
              </a:rPr>
              <a:t>of software product lines testing. </a:t>
            </a:r>
            <a:r>
              <a:rPr lang="en-US" sz="1600" i="1" dirty="0">
                <a:latin typeface="Trebuchet MS" panose="020B0603020202020204" pitchFamily="34" charset="0"/>
              </a:rPr>
              <a:t>Information and Software Technology</a:t>
            </a:r>
            <a:r>
              <a:rPr lang="en-US" sz="1600" dirty="0">
                <a:latin typeface="Trebuchet MS" panose="020B0603020202020204" pitchFamily="34" charset="0"/>
              </a:rPr>
              <a:t>, </a:t>
            </a:r>
            <a:r>
              <a:rPr lang="en-US" sz="1600" i="1" dirty="0">
                <a:latin typeface="Trebuchet MS" panose="020B0603020202020204" pitchFamily="34" charset="0"/>
              </a:rPr>
              <a:t>53</a:t>
            </a:r>
            <a:r>
              <a:rPr lang="en-US" sz="1600" dirty="0">
                <a:latin typeface="Trebuchet MS" panose="020B0603020202020204" pitchFamily="34" charset="0"/>
              </a:rPr>
              <a:t>(5), 407–423. </a:t>
            </a:r>
            <a:r>
              <a:rPr lang="en-US" sz="1600" u="sng" dirty="0">
                <a:latin typeface="Trebuchet MS" panose="020B0603020202020204" pitchFamily="34" charset="0"/>
                <a:hlinkClick r:id="rId8"/>
              </a:rPr>
              <a:t>https://doi.org/10.1016/j.infsof.2010.12.003</a:t>
            </a:r>
            <a:endParaRPr lang="es-MX" sz="1600" dirty="0">
              <a:latin typeface="Trebuchet MS" panose="020B0603020202020204" pitchFamily="34" charset="0"/>
            </a:endParaRPr>
          </a:p>
          <a:p>
            <a:pPr marL="285750" indent="-285750" algn="just">
              <a:buClr>
                <a:srgbClr val="3399FF"/>
              </a:buClr>
              <a:buSzPct val="140000"/>
              <a:buFont typeface="Arial" panose="020B0604020202020204" pitchFamily="34" charset="0"/>
              <a:buChar char="•"/>
            </a:pPr>
            <a:r>
              <a:rPr lang="en-US" sz="1600" dirty="0">
                <a:latin typeface="Trebuchet MS" panose="020B0603020202020204" pitchFamily="34" charset="0"/>
              </a:rPr>
              <a:t>Alshuqayran, N., Ali, N., &amp; Evans, R. (2016). A </a:t>
            </a:r>
            <a:r>
              <a:rPr lang="en-US" sz="1600" b="1" dirty="0">
                <a:solidFill>
                  <a:srgbClr val="A50021"/>
                </a:solidFill>
                <a:latin typeface="Trebuchet MS" panose="020B0603020202020204" pitchFamily="34" charset="0"/>
              </a:rPr>
              <a:t>systematic mapping study </a:t>
            </a:r>
            <a:r>
              <a:rPr lang="en-US" sz="1600" dirty="0">
                <a:latin typeface="Trebuchet MS" panose="020B0603020202020204" pitchFamily="34" charset="0"/>
              </a:rPr>
              <a:t>in microservice architecture. </a:t>
            </a:r>
            <a:r>
              <a:rPr lang="en-US" sz="1600" i="1" dirty="0">
                <a:latin typeface="Trebuchet MS" panose="020B0603020202020204" pitchFamily="34" charset="0"/>
              </a:rPr>
              <a:t>Proceedings - 2016 IEEE 9th International Conference on Service-Oriented Computing and Applications, SOCA 2016</a:t>
            </a:r>
            <a:r>
              <a:rPr lang="en-US" sz="1600" dirty="0">
                <a:latin typeface="Trebuchet MS" panose="020B0603020202020204" pitchFamily="34" charset="0"/>
              </a:rPr>
              <a:t>, 44–51. </a:t>
            </a:r>
            <a:r>
              <a:rPr lang="en-US" sz="1600" u="sng" dirty="0">
                <a:latin typeface="Trebuchet MS" panose="020B0603020202020204" pitchFamily="34" charset="0"/>
                <a:hlinkClick r:id="rId9"/>
              </a:rPr>
              <a:t>https://doi.org/10.1109/SOCA.2016.15</a:t>
            </a:r>
            <a:r>
              <a:rPr lang="en-US" sz="1600" dirty="0">
                <a:latin typeface="Trebuchet MS" panose="020B0603020202020204" pitchFamily="34" charset="0"/>
              </a:rPr>
              <a:t> </a:t>
            </a:r>
            <a:endParaRPr lang="en-US" sz="1600" dirty="0" smtClean="0">
              <a:latin typeface="Trebuchet MS" panose="020B0603020202020204" pitchFamily="34" charset="0"/>
            </a:endParaRPr>
          </a:p>
        </p:txBody>
      </p:sp>
      <p:sp>
        <p:nvSpPr>
          <p:cNvPr id="10" name="CuadroTexto 9"/>
          <p:cNvSpPr txBox="1"/>
          <p:nvPr/>
        </p:nvSpPr>
        <p:spPr>
          <a:xfrm>
            <a:off x="306715" y="2729699"/>
            <a:ext cx="1488605" cy="369332"/>
          </a:xfrm>
          <a:prstGeom prst="rect">
            <a:avLst/>
          </a:prstGeom>
          <a:noFill/>
        </p:spPr>
        <p:txBody>
          <a:bodyPr wrap="square" rtlCol="0">
            <a:spAutoFit/>
          </a:bodyPr>
          <a:lstStyle/>
          <a:p>
            <a:r>
              <a:rPr lang="en-US" dirty="0" smtClean="0">
                <a:latin typeface="Trebuchet MS" panose="020B0603020202020204" pitchFamily="34" charset="0"/>
              </a:rPr>
              <a:t>[</a:t>
            </a:r>
            <a:r>
              <a:rPr lang="es-MX" b="1" dirty="0" smtClean="0">
                <a:solidFill>
                  <a:srgbClr val="990000"/>
                </a:solidFill>
                <a:latin typeface="Trebuchet MS" panose="020B0603020202020204" pitchFamily="34" charset="0"/>
              </a:rPr>
              <a:t>324 citas</a:t>
            </a:r>
            <a:r>
              <a:rPr lang="en-US" dirty="0" smtClean="0">
                <a:latin typeface="Trebuchet MS" panose="020B0603020202020204" pitchFamily="34" charset="0"/>
              </a:rPr>
              <a:t>]</a:t>
            </a:r>
          </a:p>
        </p:txBody>
      </p:sp>
      <p:sp>
        <p:nvSpPr>
          <p:cNvPr id="13" name="CuadroTexto 12"/>
          <p:cNvSpPr txBox="1"/>
          <p:nvPr/>
        </p:nvSpPr>
        <p:spPr>
          <a:xfrm>
            <a:off x="301397" y="3454543"/>
            <a:ext cx="1527899" cy="369332"/>
          </a:xfrm>
          <a:prstGeom prst="rect">
            <a:avLst/>
          </a:prstGeom>
          <a:noFill/>
        </p:spPr>
        <p:txBody>
          <a:bodyPr wrap="square" rtlCol="0">
            <a:spAutoFit/>
          </a:bodyPr>
          <a:lstStyle/>
          <a:p>
            <a:r>
              <a:rPr lang="en-US" dirty="0" smtClean="0">
                <a:latin typeface="Trebuchet MS" panose="020B0603020202020204" pitchFamily="34" charset="0"/>
              </a:rPr>
              <a:t>[</a:t>
            </a:r>
            <a:r>
              <a:rPr lang="es-MX" b="1" dirty="0" smtClean="0">
                <a:solidFill>
                  <a:srgbClr val="990000"/>
                </a:solidFill>
                <a:latin typeface="Trebuchet MS" panose="020B0603020202020204" pitchFamily="34" charset="0"/>
              </a:rPr>
              <a:t>291 citas</a:t>
            </a:r>
            <a:r>
              <a:rPr lang="en-US" dirty="0" smtClean="0">
                <a:latin typeface="Trebuchet MS" panose="020B0603020202020204" pitchFamily="34" charset="0"/>
              </a:rPr>
              <a:t>]</a:t>
            </a:r>
          </a:p>
        </p:txBody>
      </p:sp>
      <p:sp>
        <p:nvSpPr>
          <p:cNvPr id="16" name="CuadroTexto 15"/>
          <p:cNvSpPr txBox="1"/>
          <p:nvPr/>
        </p:nvSpPr>
        <p:spPr>
          <a:xfrm>
            <a:off x="301397" y="4183623"/>
            <a:ext cx="1527899" cy="369332"/>
          </a:xfrm>
          <a:prstGeom prst="rect">
            <a:avLst/>
          </a:prstGeom>
          <a:noFill/>
        </p:spPr>
        <p:txBody>
          <a:bodyPr wrap="square" rtlCol="0">
            <a:spAutoFit/>
          </a:bodyPr>
          <a:lstStyle/>
          <a:p>
            <a:r>
              <a:rPr lang="en-US" dirty="0" smtClean="0">
                <a:latin typeface="Trebuchet MS" panose="020B0603020202020204" pitchFamily="34" charset="0"/>
              </a:rPr>
              <a:t>[</a:t>
            </a:r>
            <a:r>
              <a:rPr lang="es-MX" b="1" dirty="0" smtClean="0">
                <a:solidFill>
                  <a:srgbClr val="990000"/>
                </a:solidFill>
                <a:latin typeface="Trebuchet MS" panose="020B0603020202020204" pitchFamily="34" charset="0"/>
              </a:rPr>
              <a:t>226 citas</a:t>
            </a:r>
            <a:r>
              <a:rPr lang="en-US" dirty="0" smtClean="0">
                <a:latin typeface="Trebuchet MS" panose="020B0603020202020204" pitchFamily="34" charset="0"/>
              </a:rPr>
              <a:t>]</a:t>
            </a:r>
          </a:p>
        </p:txBody>
      </p:sp>
      <p:sp>
        <p:nvSpPr>
          <p:cNvPr id="17" name="CuadroTexto 16"/>
          <p:cNvSpPr txBox="1"/>
          <p:nvPr/>
        </p:nvSpPr>
        <p:spPr>
          <a:xfrm>
            <a:off x="301397" y="4921351"/>
            <a:ext cx="1527899" cy="369332"/>
          </a:xfrm>
          <a:prstGeom prst="rect">
            <a:avLst/>
          </a:prstGeom>
          <a:noFill/>
        </p:spPr>
        <p:txBody>
          <a:bodyPr wrap="square" rtlCol="0">
            <a:spAutoFit/>
          </a:bodyPr>
          <a:lstStyle/>
          <a:p>
            <a:r>
              <a:rPr lang="en-US" dirty="0" smtClean="0">
                <a:latin typeface="Trebuchet MS" panose="020B0603020202020204" pitchFamily="34" charset="0"/>
              </a:rPr>
              <a:t>[</a:t>
            </a:r>
            <a:r>
              <a:rPr lang="es-MX" b="1" dirty="0" smtClean="0">
                <a:solidFill>
                  <a:srgbClr val="990000"/>
                </a:solidFill>
                <a:latin typeface="Trebuchet MS" panose="020B0603020202020204" pitchFamily="34" charset="0"/>
              </a:rPr>
              <a:t>196 citas</a:t>
            </a:r>
            <a:r>
              <a:rPr lang="en-US" dirty="0" smtClean="0">
                <a:latin typeface="Trebuchet MS" panose="020B0603020202020204" pitchFamily="34" charset="0"/>
              </a:rPr>
              <a:t>]</a:t>
            </a:r>
          </a:p>
        </p:txBody>
      </p:sp>
      <p:sp>
        <p:nvSpPr>
          <p:cNvPr id="18" name="Title 1"/>
          <p:cNvSpPr txBox="1">
            <a:spLocks/>
          </p:cNvSpPr>
          <p:nvPr/>
        </p:nvSpPr>
        <p:spPr>
          <a:xfrm>
            <a:off x="911424" y="1003473"/>
            <a:ext cx="9289032" cy="40930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solidFill>
                  <a:srgbClr val="08489E"/>
                </a:solidFill>
                <a:latin typeface="Trebuchet MS" panose="020B0603020202020204" pitchFamily="34" charset="0"/>
              </a:rPr>
              <a:t>Estudio de Mapeo Sistemático </a:t>
            </a:r>
            <a:r>
              <a:rPr lang="en-US" sz="2400" b="1" dirty="0">
                <a:solidFill>
                  <a:srgbClr val="08489E"/>
                </a:solidFill>
                <a:latin typeface="Trebuchet MS" panose="020B0603020202020204" pitchFamily="34" charset="0"/>
              </a:rPr>
              <a:t>4</a:t>
            </a:r>
            <a:r>
              <a:rPr lang="en-US" sz="2400" b="1" dirty="0" smtClean="0">
                <a:solidFill>
                  <a:srgbClr val="08489E"/>
                </a:solidFill>
                <a:latin typeface="Trebuchet MS" panose="020B0603020202020204" pitchFamily="34" charset="0"/>
              </a:rPr>
              <a:t>/5</a:t>
            </a:r>
            <a:endParaRPr lang="en-US" sz="2400" b="1" dirty="0">
              <a:solidFill>
                <a:srgbClr val="08489E"/>
              </a:solidFill>
              <a:latin typeface="Trebuchet MS" panose="020B0603020202020204" pitchFamily="34" charset="0"/>
            </a:endParaRPr>
          </a:p>
        </p:txBody>
      </p:sp>
      <p:sp>
        <p:nvSpPr>
          <p:cNvPr id="14" name="CuadroTexto 13"/>
          <p:cNvSpPr txBox="1"/>
          <p:nvPr/>
        </p:nvSpPr>
        <p:spPr>
          <a:xfrm>
            <a:off x="301397" y="1972801"/>
            <a:ext cx="1488605" cy="369332"/>
          </a:xfrm>
          <a:prstGeom prst="rect">
            <a:avLst/>
          </a:prstGeom>
          <a:noFill/>
        </p:spPr>
        <p:txBody>
          <a:bodyPr wrap="square" rtlCol="0">
            <a:spAutoFit/>
          </a:bodyPr>
          <a:lstStyle/>
          <a:p>
            <a:r>
              <a:rPr lang="en-US" dirty="0" smtClean="0">
                <a:latin typeface="Trebuchet MS" panose="020B0603020202020204" pitchFamily="34" charset="0"/>
              </a:rPr>
              <a:t>[</a:t>
            </a:r>
            <a:r>
              <a:rPr lang="es-MX" b="1" dirty="0" smtClean="0">
                <a:solidFill>
                  <a:srgbClr val="990000"/>
                </a:solidFill>
                <a:latin typeface="Trebuchet MS" panose="020B0603020202020204" pitchFamily="34" charset="0"/>
              </a:rPr>
              <a:t>418 citas</a:t>
            </a:r>
            <a:r>
              <a:rPr lang="en-US" dirty="0" smtClean="0">
                <a:latin typeface="Trebuchet MS" panose="020B0603020202020204" pitchFamily="34" charset="0"/>
              </a:rPr>
              <a:t>]</a:t>
            </a:r>
          </a:p>
        </p:txBody>
      </p:sp>
    </p:spTree>
    <p:extLst>
      <p:ext uri="{BB962C8B-B14F-4D97-AF65-F5344CB8AC3E}">
        <p14:creationId xmlns:p14="http://schemas.microsoft.com/office/powerpoint/2010/main" val="360541960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pic>
        <p:nvPicPr>
          <p:cNvPr id="6" name="Imagen 5"/>
          <p:cNvPicPr/>
          <p:nvPr/>
        </p:nvPicPr>
        <p:blipFill rotWithShape="1">
          <a:blip r:embed="rId2">
            <a:extLst>
              <a:ext uri="{28A0092B-C50C-407E-A947-70E740481C1C}">
                <a14:useLocalDpi xmlns:a14="http://schemas.microsoft.com/office/drawing/2010/main" val="0"/>
              </a:ext>
            </a:extLst>
          </a:blip>
          <a:srcRect t="1" r="32064" b="-10136"/>
          <a:stretch/>
        </p:blipFill>
        <p:spPr bwMode="auto">
          <a:xfrm>
            <a:off x="110789" y="112160"/>
            <a:ext cx="3410075" cy="757457"/>
          </a:xfrm>
          <a:prstGeom prst="rect">
            <a:avLst/>
          </a:prstGeom>
          <a:noFill/>
          <a:ln>
            <a:noFill/>
          </a:ln>
          <a:extLst>
            <a:ext uri="{53640926-AAD7-44D8-BBD7-CCE9431645EC}">
              <a14:shadowObscured xmlns:a14="http://schemas.microsoft.com/office/drawing/2010/main"/>
            </a:ext>
          </a:extLst>
        </p:spPr>
      </p:pic>
      <p:pic>
        <p:nvPicPr>
          <p:cNvPr id="7" name="Imagen 6" descr="Resultado de imagen para instituto tecnologico de orizaba logo"/>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51537" y="77977"/>
            <a:ext cx="779082" cy="805180"/>
          </a:xfrm>
          <a:prstGeom prst="rect">
            <a:avLst/>
          </a:prstGeom>
          <a:noFill/>
          <a:ln>
            <a:noFill/>
          </a:ln>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74675" y="125347"/>
            <a:ext cx="1619264" cy="740391"/>
          </a:xfrm>
          <a:prstGeom prst="rect">
            <a:avLst/>
          </a:prstGeom>
        </p:spPr>
      </p:pic>
      <p:sp>
        <p:nvSpPr>
          <p:cNvPr id="9" name="Rectángulo 8"/>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11" name="3 Rectángulo"/>
          <p:cNvSpPr/>
          <p:nvPr/>
        </p:nvSpPr>
        <p:spPr>
          <a:xfrm>
            <a:off x="1775520" y="1585235"/>
            <a:ext cx="9865096" cy="4021614"/>
          </a:xfrm>
          <a:prstGeom prst="rect">
            <a:avLst/>
          </a:prstGeom>
        </p:spPr>
        <p:txBody>
          <a:bodyPr wrap="square">
            <a:spAutoFit/>
          </a:bodyPr>
          <a:lstStyle/>
          <a:p>
            <a:pPr>
              <a:lnSpc>
                <a:spcPct val="115000"/>
              </a:lnSpc>
              <a:spcAft>
                <a:spcPts val="1000"/>
              </a:spcAft>
            </a:pPr>
            <a:r>
              <a:rPr lang="es-ES" sz="2000" b="1" dirty="0" smtClean="0">
                <a:solidFill>
                  <a:srgbClr val="3399FF"/>
                </a:solidFill>
                <a:latin typeface="Trebuchet MS" panose="020B0603020202020204" pitchFamily="34" charset="0"/>
                <a:ea typeface="Times New Roman"/>
                <a:cs typeface="Calibri"/>
              </a:rPr>
              <a:t>Ejemplos de otras áreas</a:t>
            </a:r>
            <a:endParaRPr lang="es-ES" sz="2000" b="1" dirty="0" smtClean="0">
              <a:latin typeface="Trebuchet MS" panose="020B0603020202020204" pitchFamily="34" charset="0"/>
              <a:ea typeface="Times New Roman"/>
              <a:cs typeface="Calibri"/>
            </a:endParaRPr>
          </a:p>
          <a:p>
            <a:pPr marL="285750" indent="-285750" algn="just">
              <a:buClr>
                <a:srgbClr val="3399FF"/>
              </a:buClr>
              <a:buSzPct val="140000"/>
              <a:buFont typeface="Arial" panose="020B0604020202020204" pitchFamily="34" charset="0"/>
              <a:buChar char="•"/>
            </a:pPr>
            <a:r>
              <a:rPr lang="es-MX" sz="1600" dirty="0" smtClean="0">
                <a:latin typeface="Trebuchet MS" panose="020B0603020202020204" pitchFamily="34" charset="0"/>
              </a:rPr>
              <a:t>Alharby</a:t>
            </a:r>
            <a:r>
              <a:rPr lang="es-MX" sz="1600" dirty="0">
                <a:latin typeface="Trebuchet MS" panose="020B0603020202020204" pitchFamily="34" charset="0"/>
              </a:rPr>
              <a:t>, M., &amp; Moorsel, A. van. (2017). Blockchain Based Smart Contracts : A </a:t>
            </a:r>
            <a:r>
              <a:rPr lang="es-MX" sz="1600" b="1" dirty="0">
                <a:solidFill>
                  <a:srgbClr val="A50021"/>
                </a:solidFill>
                <a:latin typeface="Trebuchet MS" panose="020B0603020202020204" pitchFamily="34" charset="0"/>
              </a:rPr>
              <a:t>Systematic Mapping Study</a:t>
            </a:r>
            <a:r>
              <a:rPr lang="es-MX" sz="1600" dirty="0">
                <a:latin typeface="Trebuchet MS" panose="020B0603020202020204" pitchFamily="34" charset="0"/>
              </a:rPr>
              <a:t>. 125–140. </a:t>
            </a:r>
            <a:r>
              <a:rPr lang="es-MX" sz="1600" dirty="0">
                <a:latin typeface="Trebuchet MS" panose="020B0603020202020204" pitchFamily="34" charset="0"/>
                <a:hlinkClick r:id="rId5"/>
              </a:rPr>
              <a:t>https://</a:t>
            </a:r>
            <a:r>
              <a:rPr lang="es-MX" sz="1600" dirty="0" smtClean="0">
                <a:latin typeface="Trebuchet MS" panose="020B0603020202020204" pitchFamily="34" charset="0"/>
                <a:hlinkClick r:id="rId5"/>
              </a:rPr>
              <a:t>doi.org/10.5121/csit.2017.7101</a:t>
            </a:r>
            <a:r>
              <a:rPr lang="es-MX" sz="1600" dirty="0" smtClean="0">
                <a:latin typeface="Trebuchet MS" panose="020B0603020202020204" pitchFamily="34" charset="0"/>
              </a:rPr>
              <a:t>     </a:t>
            </a:r>
            <a:endParaRPr lang="es-MX" sz="1600" dirty="0">
              <a:latin typeface="Trebuchet MS" panose="020B0603020202020204" pitchFamily="34" charset="0"/>
            </a:endParaRPr>
          </a:p>
          <a:p>
            <a:pPr marL="285750" indent="-285750" algn="just">
              <a:buClr>
                <a:srgbClr val="3399FF"/>
              </a:buClr>
              <a:buSzPct val="140000"/>
              <a:buFont typeface="Arial" panose="020B0604020202020204" pitchFamily="34" charset="0"/>
              <a:buChar char="•"/>
            </a:pPr>
            <a:r>
              <a:rPr lang="es-MX" sz="1600" dirty="0">
                <a:latin typeface="Trebuchet MS" panose="020B0603020202020204" pitchFamily="34" charset="0"/>
              </a:rPr>
              <a:t>Dicheva, D., Dichev, C., Agre, G., &amp; Angelova, G. (2015). International Forum of Educational Technology &amp; Society Gamification in Education: A </a:t>
            </a:r>
            <a:r>
              <a:rPr lang="es-MX" sz="1600" b="1" dirty="0">
                <a:solidFill>
                  <a:srgbClr val="A50021"/>
                </a:solidFill>
                <a:latin typeface="Trebuchet MS" panose="020B0603020202020204" pitchFamily="34" charset="0"/>
              </a:rPr>
              <a:t>Systematic Mapping Study </a:t>
            </a:r>
            <a:r>
              <a:rPr lang="es-MX" sz="1600" dirty="0">
                <a:latin typeface="Trebuchet MS" panose="020B0603020202020204" pitchFamily="34" charset="0"/>
              </a:rPr>
              <a:t>Gamification in Education: A Systematic Mapping Study. Source: Journal of Educational Technology &amp; Society, 18(3), 75–88. </a:t>
            </a:r>
            <a:r>
              <a:rPr lang="es-MX" sz="1600" dirty="0">
                <a:latin typeface="Trebuchet MS" panose="020B0603020202020204" pitchFamily="34" charset="0"/>
                <a:hlinkClick r:id="rId6"/>
              </a:rPr>
              <a:t>https://</a:t>
            </a:r>
            <a:r>
              <a:rPr lang="es-MX" sz="1600" dirty="0" smtClean="0">
                <a:latin typeface="Trebuchet MS" panose="020B0603020202020204" pitchFamily="34" charset="0"/>
                <a:hlinkClick r:id="rId6"/>
              </a:rPr>
              <a:t>doi.org/10.2307/jeductechsoci.18.3.75</a:t>
            </a:r>
            <a:r>
              <a:rPr lang="es-MX" sz="1600" dirty="0" smtClean="0">
                <a:latin typeface="Trebuchet MS" panose="020B0603020202020204" pitchFamily="34" charset="0"/>
              </a:rPr>
              <a:t>   </a:t>
            </a:r>
          </a:p>
          <a:p>
            <a:pPr marL="285750" indent="-285750" algn="just">
              <a:buClr>
                <a:srgbClr val="3399FF"/>
              </a:buClr>
              <a:buSzPct val="140000"/>
              <a:buFont typeface="Arial" panose="020B0604020202020204" pitchFamily="34" charset="0"/>
              <a:buChar char="•"/>
            </a:pPr>
            <a:r>
              <a:rPr lang="es-MX" sz="1600" dirty="0">
                <a:latin typeface="Trebuchet MS" panose="020B0603020202020204" pitchFamily="34" charset="0"/>
              </a:rPr>
              <a:t>Wendler, R. (2012). The maturity of maturity model research: A </a:t>
            </a:r>
            <a:r>
              <a:rPr lang="es-MX" sz="1600" b="1" dirty="0">
                <a:solidFill>
                  <a:srgbClr val="A50021"/>
                </a:solidFill>
                <a:latin typeface="Trebuchet MS" panose="020B0603020202020204" pitchFamily="34" charset="0"/>
              </a:rPr>
              <a:t>systematic mapping study. </a:t>
            </a:r>
            <a:r>
              <a:rPr lang="es-MX" sz="1600" dirty="0">
                <a:latin typeface="Trebuchet MS" panose="020B0603020202020204" pitchFamily="34" charset="0"/>
              </a:rPr>
              <a:t>Information and Software Technology, 54(12), 1317–1339</a:t>
            </a:r>
            <a:r>
              <a:rPr lang="es-MX" sz="1600" dirty="0" smtClean="0">
                <a:latin typeface="Trebuchet MS" panose="020B0603020202020204" pitchFamily="34" charset="0"/>
              </a:rPr>
              <a:t>.   </a:t>
            </a:r>
            <a:r>
              <a:rPr lang="es-MX" sz="1600" dirty="0">
                <a:latin typeface="Trebuchet MS" panose="020B0603020202020204" pitchFamily="34" charset="0"/>
                <a:hlinkClick r:id="rId7"/>
              </a:rPr>
              <a:t>https://doi.org/10.1016/j.infsof.2012.07.007</a:t>
            </a:r>
            <a:r>
              <a:rPr lang="es-MX" sz="1600" dirty="0">
                <a:latin typeface="Trebuchet MS" panose="020B0603020202020204" pitchFamily="34" charset="0"/>
              </a:rPr>
              <a:t>     </a:t>
            </a:r>
            <a:r>
              <a:rPr lang="es-MX" sz="1600" dirty="0" smtClean="0">
                <a:latin typeface="Trebuchet MS" panose="020B0603020202020204" pitchFamily="34" charset="0"/>
              </a:rPr>
              <a:t> </a:t>
            </a:r>
            <a:endParaRPr lang="es-MX" sz="1600" dirty="0">
              <a:latin typeface="Trebuchet MS" panose="020B0603020202020204" pitchFamily="34" charset="0"/>
            </a:endParaRPr>
          </a:p>
          <a:p>
            <a:pPr marL="285750" indent="-285750" algn="just">
              <a:buClr>
                <a:srgbClr val="3399FF"/>
              </a:buClr>
              <a:buSzPct val="140000"/>
              <a:buFont typeface="Arial" panose="020B0604020202020204" pitchFamily="34" charset="0"/>
              <a:buChar char="•"/>
            </a:pPr>
            <a:r>
              <a:rPr lang="es-MX" sz="1600" dirty="0">
                <a:latin typeface="Trebuchet MS" panose="020B0603020202020204" pitchFamily="34" charset="0"/>
              </a:rPr>
              <a:t>Engström, E., &amp; Runeson, P. (2011). Software product line testing - A </a:t>
            </a:r>
            <a:r>
              <a:rPr lang="es-MX" sz="1600" b="1" dirty="0">
                <a:solidFill>
                  <a:srgbClr val="A50021"/>
                </a:solidFill>
                <a:latin typeface="Trebuchet MS" panose="020B0603020202020204" pitchFamily="34" charset="0"/>
              </a:rPr>
              <a:t>systematic mapping study. </a:t>
            </a:r>
            <a:r>
              <a:rPr lang="es-MX" sz="1600" dirty="0">
                <a:latin typeface="Trebuchet MS" panose="020B0603020202020204" pitchFamily="34" charset="0"/>
              </a:rPr>
              <a:t>Information and Software Technology, 53(1), 2–13. </a:t>
            </a:r>
            <a:r>
              <a:rPr lang="es-MX" sz="1600" dirty="0">
                <a:latin typeface="Trebuchet MS" panose="020B0603020202020204" pitchFamily="34" charset="0"/>
                <a:hlinkClick r:id="rId8"/>
              </a:rPr>
              <a:t>https://</a:t>
            </a:r>
            <a:r>
              <a:rPr lang="es-MX" sz="1600" dirty="0" smtClean="0">
                <a:latin typeface="Trebuchet MS" panose="020B0603020202020204" pitchFamily="34" charset="0"/>
                <a:hlinkClick r:id="rId8"/>
              </a:rPr>
              <a:t>doi.org/10.1016/j.infsof.2010.05.011</a:t>
            </a:r>
            <a:r>
              <a:rPr lang="es-MX" sz="1600" dirty="0" smtClean="0">
                <a:latin typeface="Trebuchet MS" panose="020B0603020202020204" pitchFamily="34" charset="0"/>
              </a:rPr>
              <a:t>    </a:t>
            </a:r>
            <a:endParaRPr lang="es-MX" sz="1600" dirty="0">
              <a:latin typeface="Trebuchet MS" panose="020B0603020202020204" pitchFamily="34" charset="0"/>
            </a:endParaRPr>
          </a:p>
          <a:p>
            <a:pPr marL="285750" indent="-285750" algn="just">
              <a:buClr>
                <a:srgbClr val="3399FF"/>
              </a:buClr>
              <a:buSzPct val="140000"/>
              <a:buFont typeface="Arial" panose="020B0604020202020204" pitchFamily="34" charset="0"/>
              <a:buChar char="•"/>
            </a:pPr>
            <a:r>
              <a:rPr lang="es-MX" sz="1600" dirty="0">
                <a:latin typeface="Trebuchet MS" panose="020B0603020202020204" pitchFamily="34" charset="0"/>
              </a:rPr>
              <a:t>Li, Z., Avgeriou, P., &amp; Liang, P. (2015). A </a:t>
            </a:r>
            <a:r>
              <a:rPr lang="es-MX" sz="1600" b="1" dirty="0">
                <a:solidFill>
                  <a:srgbClr val="A50021"/>
                </a:solidFill>
                <a:latin typeface="Trebuchet MS" panose="020B0603020202020204" pitchFamily="34" charset="0"/>
              </a:rPr>
              <a:t>systematic mapping study </a:t>
            </a:r>
            <a:r>
              <a:rPr lang="es-MX" sz="1600" dirty="0">
                <a:latin typeface="Trebuchet MS" panose="020B0603020202020204" pitchFamily="34" charset="0"/>
              </a:rPr>
              <a:t>on technical debt and its management. Journal of Systems and Software, 101, </a:t>
            </a:r>
            <a:r>
              <a:rPr lang="es-MX" sz="1600" dirty="0" smtClean="0">
                <a:latin typeface="Trebuchet MS" panose="020B0603020202020204" pitchFamily="34" charset="0"/>
              </a:rPr>
              <a:t>193–220. </a:t>
            </a:r>
            <a:r>
              <a:rPr lang="es-MX" sz="1600" dirty="0" smtClean="0">
                <a:latin typeface="Trebuchet MS" panose="020B0603020202020204" pitchFamily="34" charset="0"/>
                <a:hlinkClick r:id="rId9"/>
              </a:rPr>
              <a:t>https</a:t>
            </a:r>
            <a:r>
              <a:rPr lang="es-MX" sz="1600" dirty="0">
                <a:latin typeface="Trebuchet MS" panose="020B0603020202020204" pitchFamily="34" charset="0"/>
                <a:hlinkClick r:id="rId9"/>
              </a:rPr>
              <a:t>://</a:t>
            </a:r>
            <a:r>
              <a:rPr lang="es-MX" sz="1600" dirty="0" smtClean="0">
                <a:latin typeface="Trebuchet MS" panose="020B0603020202020204" pitchFamily="34" charset="0"/>
                <a:hlinkClick r:id="rId9"/>
              </a:rPr>
              <a:t>doi.org/10.1016/j.jss.2014.12.027</a:t>
            </a:r>
            <a:r>
              <a:rPr lang="es-MX" sz="1600" dirty="0" smtClean="0">
                <a:latin typeface="Trebuchet MS" panose="020B0603020202020204" pitchFamily="34" charset="0"/>
              </a:rPr>
              <a:t>     </a:t>
            </a:r>
            <a:endParaRPr lang="es-MX" sz="1600" dirty="0">
              <a:latin typeface="Trebuchet MS" panose="020B0603020202020204" pitchFamily="34" charset="0"/>
            </a:endParaRPr>
          </a:p>
        </p:txBody>
      </p:sp>
      <p:sp>
        <p:nvSpPr>
          <p:cNvPr id="10" name="CuadroTexto 9"/>
          <p:cNvSpPr txBox="1"/>
          <p:nvPr/>
        </p:nvSpPr>
        <p:spPr>
          <a:xfrm>
            <a:off x="307775" y="2474604"/>
            <a:ext cx="1488605" cy="369332"/>
          </a:xfrm>
          <a:prstGeom prst="rect">
            <a:avLst/>
          </a:prstGeom>
          <a:noFill/>
        </p:spPr>
        <p:txBody>
          <a:bodyPr wrap="square" rtlCol="0">
            <a:spAutoFit/>
          </a:bodyPr>
          <a:lstStyle/>
          <a:p>
            <a:r>
              <a:rPr lang="en-US" dirty="0" smtClean="0">
                <a:latin typeface="Trebuchet MS" panose="020B0603020202020204" pitchFamily="34" charset="0"/>
              </a:rPr>
              <a:t>[</a:t>
            </a:r>
            <a:r>
              <a:rPr lang="es-MX" b="1" dirty="0" smtClean="0">
                <a:solidFill>
                  <a:srgbClr val="990000"/>
                </a:solidFill>
                <a:latin typeface="Trebuchet MS" panose="020B0603020202020204" pitchFamily="34" charset="0"/>
              </a:rPr>
              <a:t>985 citas</a:t>
            </a:r>
            <a:r>
              <a:rPr lang="en-US" dirty="0" smtClean="0">
                <a:latin typeface="Trebuchet MS" panose="020B0603020202020204" pitchFamily="34" charset="0"/>
              </a:rPr>
              <a:t>]</a:t>
            </a:r>
          </a:p>
        </p:txBody>
      </p:sp>
      <p:sp>
        <p:nvSpPr>
          <p:cNvPr id="13" name="CuadroTexto 12"/>
          <p:cNvSpPr txBox="1"/>
          <p:nvPr/>
        </p:nvSpPr>
        <p:spPr>
          <a:xfrm>
            <a:off x="307775" y="3445318"/>
            <a:ext cx="1527899" cy="369332"/>
          </a:xfrm>
          <a:prstGeom prst="rect">
            <a:avLst/>
          </a:prstGeom>
          <a:noFill/>
        </p:spPr>
        <p:txBody>
          <a:bodyPr wrap="square" rtlCol="0">
            <a:spAutoFit/>
          </a:bodyPr>
          <a:lstStyle/>
          <a:p>
            <a:r>
              <a:rPr lang="en-US" dirty="0" smtClean="0">
                <a:latin typeface="Trebuchet MS" panose="020B0603020202020204" pitchFamily="34" charset="0"/>
              </a:rPr>
              <a:t>[</a:t>
            </a:r>
            <a:r>
              <a:rPr lang="es-MX" b="1" dirty="0" smtClean="0">
                <a:solidFill>
                  <a:srgbClr val="990000"/>
                </a:solidFill>
                <a:latin typeface="Trebuchet MS" panose="020B0603020202020204" pitchFamily="34" charset="0"/>
              </a:rPr>
              <a:t>405 citas</a:t>
            </a:r>
            <a:r>
              <a:rPr lang="en-US" dirty="0" smtClean="0">
                <a:latin typeface="Trebuchet MS" panose="020B0603020202020204" pitchFamily="34" charset="0"/>
              </a:rPr>
              <a:t>]</a:t>
            </a:r>
          </a:p>
        </p:txBody>
      </p:sp>
      <p:sp>
        <p:nvSpPr>
          <p:cNvPr id="16" name="CuadroTexto 15"/>
          <p:cNvSpPr txBox="1"/>
          <p:nvPr/>
        </p:nvSpPr>
        <p:spPr>
          <a:xfrm>
            <a:off x="301397" y="4183623"/>
            <a:ext cx="1527899" cy="369332"/>
          </a:xfrm>
          <a:prstGeom prst="rect">
            <a:avLst/>
          </a:prstGeom>
          <a:noFill/>
        </p:spPr>
        <p:txBody>
          <a:bodyPr wrap="square" rtlCol="0">
            <a:spAutoFit/>
          </a:bodyPr>
          <a:lstStyle/>
          <a:p>
            <a:r>
              <a:rPr lang="en-US" dirty="0" smtClean="0">
                <a:latin typeface="Trebuchet MS" panose="020B0603020202020204" pitchFamily="34" charset="0"/>
              </a:rPr>
              <a:t>[</a:t>
            </a:r>
            <a:r>
              <a:rPr lang="es-MX" b="1" dirty="0" smtClean="0">
                <a:solidFill>
                  <a:srgbClr val="990000"/>
                </a:solidFill>
                <a:latin typeface="Trebuchet MS" panose="020B0603020202020204" pitchFamily="34" charset="0"/>
              </a:rPr>
              <a:t>325 citas</a:t>
            </a:r>
            <a:r>
              <a:rPr lang="en-US" dirty="0" smtClean="0">
                <a:latin typeface="Trebuchet MS" panose="020B0603020202020204" pitchFamily="34" charset="0"/>
              </a:rPr>
              <a:t>]</a:t>
            </a:r>
          </a:p>
        </p:txBody>
      </p:sp>
      <p:sp>
        <p:nvSpPr>
          <p:cNvPr id="17" name="CuadroTexto 16"/>
          <p:cNvSpPr txBox="1"/>
          <p:nvPr/>
        </p:nvSpPr>
        <p:spPr>
          <a:xfrm>
            <a:off x="301397" y="4672912"/>
            <a:ext cx="1527899" cy="369332"/>
          </a:xfrm>
          <a:prstGeom prst="rect">
            <a:avLst/>
          </a:prstGeom>
          <a:noFill/>
        </p:spPr>
        <p:txBody>
          <a:bodyPr wrap="square" rtlCol="0">
            <a:spAutoFit/>
          </a:bodyPr>
          <a:lstStyle/>
          <a:p>
            <a:r>
              <a:rPr lang="en-US" dirty="0" smtClean="0">
                <a:latin typeface="Trebuchet MS" panose="020B0603020202020204" pitchFamily="34" charset="0"/>
              </a:rPr>
              <a:t>[</a:t>
            </a:r>
            <a:r>
              <a:rPr lang="es-MX" b="1" dirty="0" smtClean="0">
                <a:solidFill>
                  <a:srgbClr val="990000"/>
                </a:solidFill>
                <a:latin typeface="Trebuchet MS" panose="020B0603020202020204" pitchFamily="34" charset="0"/>
              </a:rPr>
              <a:t>317 citas</a:t>
            </a:r>
            <a:r>
              <a:rPr lang="en-US" dirty="0" smtClean="0">
                <a:latin typeface="Trebuchet MS" panose="020B0603020202020204" pitchFamily="34" charset="0"/>
              </a:rPr>
              <a:t>]</a:t>
            </a:r>
          </a:p>
        </p:txBody>
      </p:sp>
      <p:sp>
        <p:nvSpPr>
          <p:cNvPr id="15" name="CuadroTexto 14"/>
          <p:cNvSpPr txBox="1"/>
          <p:nvPr/>
        </p:nvSpPr>
        <p:spPr>
          <a:xfrm>
            <a:off x="302646" y="2014073"/>
            <a:ext cx="1527899" cy="369332"/>
          </a:xfrm>
          <a:prstGeom prst="rect">
            <a:avLst/>
          </a:prstGeom>
          <a:noFill/>
        </p:spPr>
        <p:txBody>
          <a:bodyPr wrap="square" rtlCol="0">
            <a:spAutoFit/>
          </a:bodyPr>
          <a:lstStyle/>
          <a:p>
            <a:r>
              <a:rPr lang="en-US" dirty="0" smtClean="0">
                <a:latin typeface="Trebuchet MS" panose="020B0603020202020204" pitchFamily="34" charset="0"/>
              </a:rPr>
              <a:t>[</a:t>
            </a:r>
            <a:r>
              <a:rPr lang="es-MX" b="1" dirty="0" smtClean="0">
                <a:solidFill>
                  <a:srgbClr val="990000"/>
                </a:solidFill>
                <a:latin typeface="Trebuchet MS" panose="020B0603020202020204" pitchFamily="34" charset="0"/>
              </a:rPr>
              <a:t>1129 citas</a:t>
            </a:r>
            <a:r>
              <a:rPr lang="en-US" dirty="0" smtClean="0">
                <a:latin typeface="Trebuchet MS" panose="020B0603020202020204" pitchFamily="34" charset="0"/>
              </a:rPr>
              <a:t>]</a:t>
            </a:r>
          </a:p>
        </p:txBody>
      </p:sp>
      <p:sp>
        <p:nvSpPr>
          <p:cNvPr id="18" name="Title 1"/>
          <p:cNvSpPr txBox="1">
            <a:spLocks/>
          </p:cNvSpPr>
          <p:nvPr/>
        </p:nvSpPr>
        <p:spPr>
          <a:xfrm>
            <a:off x="911424" y="1003473"/>
            <a:ext cx="9289032" cy="40930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solidFill>
                  <a:srgbClr val="08489E"/>
                </a:solidFill>
                <a:latin typeface="Trebuchet MS" panose="020B0603020202020204" pitchFamily="34" charset="0"/>
              </a:rPr>
              <a:t>Estudio de Mapeo Sistemático 5/5</a:t>
            </a:r>
            <a:endParaRPr lang="en-US" sz="2400" b="1" dirty="0">
              <a:solidFill>
                <a:srgbClr val="08489E"/>
              </a:solidFill>
              <a:latin typeface="Trebuchet MS" panose="020B0603020202020204" pitchFamily="34" charset="0"/>
            </a:endParaRPr>
          </a:p>
        </p:txBody>
      </p:sp>
    </p:spTree>
    <p:extLst>
      <p:ext uri="{BB962C8B-B14F-4D97-AF65-F5344CB8AC3E}">
        <p14:creationId xmlns:p14="http://schemas.microsoft.com/office/powerpoint/2010/main" val="40443212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pic>
        <p:nvPicPr>
          <p:cNvPr id="6" name="Imagen 5"/>
          <p:cNvPicPr/>
          <p:nvPr/>
        </p:nvPicPr>
        <p:blipFill rotWithShape="1">
          <a:blip r:embed="rId2">
            <a:extLst>
              <a:ext uri="{28A0092B-C50C-407E-A947-70E740481C1C}">
                <a14:useLocalDpi xmlns:a14="http://schemas.microsoft.com/office/drawing/2010/main" val="0"/>
              </a:ext>
            </a:extLst>
          </a:blip>
          <a:srcRect t="1" r="32064" b="-10136"/>
          <a:stretch/>
        </p:blipFill>
        <p:spPr bwMode="auto">
          <a:xfrm>
            <a:off x="110789" y="112160"/>
            <a:ext cx="3410075" cy="757457"/>
          </a:xfrm>
          <a:prstGeom prst="rect">
            <a:avLst/>
          </a:prstGeom>
          <a:noFill/>
          <a:ln>
            <a:noFill/>
          </a:ln>
          <a:extLst>
            <a:ext uri="{53640926-AAD7-44D8-BBD7-CCE9431645EC}">
              <a14:shadowObscured xmlns:a14="http://schemas.microsoft.com/office/drawing/2010/main"/>
            </a:ext>
          </a:extLst>
        </p:spPr>
      </p:pic>
      <p:pic>
        <p:nvPicPr>
          <p:cNvPr id="7" name="Imagen 6" descr="Resultado de imagen para instituto tecnologico de orizaba logo"/>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51537" y="77977"/>
            <a:ext cx="779082" cy="805180"/>
          </a:xfrm>
          <a:prstGeom prst="rect">
            <a:avLst/>
          </a:prstGeom>
          <a:noFill/>
          <a:ln>
            <a:noFill/>
          </a:ln>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74675" y="125347"/>
            <a:ext cx="1619264" cy="740391"/>
          </a:xfrm>
          <a:prstGeom prst="rect">
            <a:avLst/>
          </a:prstGeom>
        </p:spPr>
      </p:pic>
      <p:sp>
        <p:nvSpPr>
          <p:cNvPr id="9" name="Rectángulo 8"/>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10" name="Title 1"/>
          <p:cNvSpPr txBox="1">
            <a:spLocks/>
          </p:cNvSpPr>
          <p:nvPr/>
        </p:nvSpPr>
        <p:spPr>
          <a:xfrm>
            <a:off x="911424" y="1003473"/>
            <a:ext cx="9289032" cy="40930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solidFill>
                  <a:srgbClr val="08489E"/>
                </a:solidFill>
                <a:latin typeface="Trebuchet MS" panose="020B0603020202020204" pitchFamily="34" charset="0"/>
              </a:rPr>
              <a:t>Comparación de los tipos de Revisiones 1/3</a:t>
            </a:r>
            <a:endParaRPr lang="en-US" sz="2400" b="1" dirty="0">
              <a:solidFill>
                <a:srgbClr val="08489E"/>
              </a:solidFill>
              <a:latin typeface="Trebuchet MS" panose="020B0603020202020204" pitchFamily="34" charset="0"/>
            </a:endParaRPr>
          </a:p>
        </p:txBody>
      </p:sp>
      <p:graphicFrame>
        <p:nvGraphicFramePr>
          <p:cNvPr id="12" name="Tabla 11"/>
          <p:cNvGraphicFramePr>
            <a:graphicFrameLocks noGrp="1"/>
          </p:cNvGraphicFramePr>
          <p:nvPr>
            <p:extLst>
              <p:ext uri="{D42A27DB-BD31-4B8C-83A1-F6EECF244321}">
                <p14:modId xmlns:p14="http://schemas.microsoft.com/office/powerpoint/2010/main" val="937006392"/>
              </p:ext>
            </p:extLst>
          </p:nvPr>
        </p:nvGraphicFramePr>
        <p:xfrm>
          <a:off x="263352" y="1728378"/>
          <a:ext cx="11665296" cy="3428814"/>
        </p:xfrm>
        <a:graphic>
          <a:graphicData uri="http://schemas.openxmlformats.org/drawingml/2006/table">
            <a:tbl>
              <a:tblPr firstRow="1" bandRow="1">
                <a:tableStyleId>{7DF18680-E054-41AD-8BC1-D1AEF772440D}</a:tableStyleId>
              </a:tblPr>
              <a:tblGrid>
                <a:gridCol w="1492124">
                  <a:extLst>
                    <a:ext uri="{9D8B030D-6E8A-4147-A177-3AD203B41FA5}">
                      <a16:colId xmlns:a16="http://schemas.microsoft.com/office/drawing/2014/main" val="3046338826"/>
                    </a:ext>
                  </a:extLst>
                </a:gridCol>
                <a:gridCol w="3476428">
                  <a:extLst>
                    <a:ext uri="{9D8B030D-6E8A-4147-A177-3AD203B41FA5}">
                      <a16:colId xmlns:a16="http://schemas.microsoft.com/office/drawing/2014/main" val="2716248510"/>
                    </a:ext>
                  </a:extLst>
                </a:gridCol>
                <a:gridCol w="3456384">
                  <a:extLst>
                    <a:ext uri="{9D8B030D-6E8A-4147-A177-3AD203B41FA5}">
                      <a16:colId xmlns:a16="http://schemas.microsoft.com/office/drawing/2014/main" val="271025178"/>
                    </a:ext>
                  </a:extLst>
                </a:gridCol>
                <a:gridCol w="3240360">
                  <a:extLst>
                    <a:ext uri="{9D8B030D-6E8A-4147-A177-3AD203B41FA5}">
                      <a16:colId xmlns:a16="http://schemas.microsoft.com/office/drawing/2014/main" val="1439505379"/>
                    </a:ext>
                  </a:extLst>
                </a:gridCol>
              </a:tblGrid>
              <a:tr h="288030">
                <a:tc>
                  <a:txBody>
                    <a:bodyPr/>
                    <a:lstStyle/>
                    <a:p>
                      <a:pPr algn="ctr"/>
                      <a:r>
                        <a:rPr lang="es-MX" sz="1600" dirty="0" smtClean="0">
                          <a:latin typeface="Trebuchet MS" panose="020B0603020202020204" pitchFamily="34" charset="0"/>
                        </a:rPr>
                        <a:t>Criterio</a:t>
                      </a:r>
                      <a:endParaRPr lang="es-MX" sz="1600" dirty="0">
                        <a:latin typeface="Trebuchet MS" panose="020B0603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MX" sz="1600" dirty="0" smtClean="0">
                          <a:latin typeface="Trebuchet MS" panose="020B0603020202020204" pitchFamily="34" charset="0"/>
                        </a:rPr>
                        <a:t>Revisión Sistemática de Literatura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MX" sz="1600" dirty="0" smtClean="0">
                          <a:latin typeface="Trebuchet MS" panose="020B0603020202020204" pitchFamily="34" charset="0"/>
                        </a:rPr>
                        <a:t>Revisión</a:t>
                      </a:r>
                      <a:r>
                        <a:rPr lang="es-MX" sz="1600" baseline="0" dirty="0" smtClean="0">
                          <a:latin typeface="Trebuchet MS" panose="020B0603020202020204" pitchFamily="34" charset="0"/>
                        </a:rPr>
                        <a:t> de alcance</a:t>
                      </a:r>
                      <a:endParaRPr lang="es-MX" sz="1600" dirty="0">
                        <a:latin typeface="Trebuchet MS" panose="020B0603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MX" sz="1600" dirty="0" smtClean="0">
                          <a:latin typeface="Trebuchet MS" panose="020B0603020202020204" pitchFamily="34" charset="0"/>
                        </a:rPr>
                        <a:t>Estudio de Mapeo Sistemático</a:t>
                      </a:r>
                      <a:endParaRPr lang="es-MX" sz="1600" dirty="0">
                        <a:latin typeface="Trebuchet MS" panose="020B0603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1915776"/>
                  </a:ext>
                </a:extLst>
              </a:tr>
              <a:tr h="624654">
                <a:tc>
                  <a:txBody>
                    <a:bodyPr/>
                    <a:lstStyle/>
                    <a:p>
                      <a:pPr algn="ctr"/>
                      <a:r>
                        <a:rPr lang="es-MX" sz="1600" b="1" dirty="0" smtClean="0">
                          <a:solidFill>
                            <a:srgbClr val="3399FF"/>
                          </a:solidFill>
                          <a:latin typeface="Trebuchet MS" panose="020B0603020202020204" pitchFamily="34" charset="0"/>
                        </a:rPr>
                        <a:t>Pregunta de investigación</a:t>
                      </a:r>
                      <a:endParaRPr lang="es-MX" sz="1600" b="1" dirty="0">
                        <a:solidFill>
                          <a:srgbClr val="3399FF"/>
                        </a:solidFill>
                        <a:latin typeface="Trebuchet MS" panose="020B0603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s-ES" sz="1600" dirty="0" smtClean="0">
                          <a:latin typeface="Trebuchet MS" panose="020B0603020202020204" pitchFamily="34" charset="0"/>
                        </a:rPr>
                        <a:t>Preguntas enfocadas en</a:t>
                      </a:r>
                      <a:r>
                        <a:rPr lang="es-ES" sz="1600" baseline="0" dirty="0" smtClean="0">
                          <a:latin typeface="Trebuchet MS" panose="020B0603020202020204" pitchFamily="34" charset="0"/>
                        </a:rPr>
                        <a:t> parámetros específicos</a:t>
                      </a:r>
                      <a:endParaRPr lang="es-MX" sz="1600" dirty="0">
                        <a:latin typeface="Trebuchet MS" panose="020B0603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s-ES" sz="1600" kern="1200" dirty="0" smtClean="0">
                          <a:solidFill>
                            <a:schemeClr val="dk1"/>
                          </a:solidFill>
                          <a:latin typeface="Trebuchet MS" panose="020B0603020202020204" pitchFamily="34" charset="0"/>
                          <a:ea typeface="+mn-ea"/>
                          <a:cs typeface="+mn-cs"/>
                        </a:rPr>
                        <a:t>Preguntas más amplias y centradas en temas para identificar tendencias</a:t>
                      </a:r>
                      <a:endParaRPr lang="es-MX" sz="1600" kern="1200" dirty="0" smtClean="0">
                        <a:solidFill>
                          <a:schemeClr val="dk1"/>
                        </a:solidFill>
                        <a:latin typeface="Trebuchet MS" panose="020B0603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600" kern="1200" dirty="0" smtClean="0">
                          <a:solidFill>
                            <a:schemeClr val="dk1"/>
                          </a:solidFill>
                          <a:latin typeface="Trebuchet MS" panose="020B0603020202020204" pitchFamily="34" charset="0"/>
                          <a:ea typeface="+mn-ea"/>
                          <a:cs typeface="+mn-cs"/>
                        </a:rPr>
                        <a:t>Preguntas más amplias y centradas en temas para identificar tendencias</a:t>
                      </a:r>
                      <a:endParaRPr lang="es-MX" sz="1600" kern="1200" dirty="0" smtClean="0">
                        <a:solidFill>
                          <a:schemeClr val="dk1"/>
                        </a:solidFill>
                        <a:latin typeface="Trebuchet MS" panose="020B0603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601573"/>
                  </a:ext>
                </a:extLst>
              </a:tr>
              <a:tr h="624654">
                <a:tc>
                  <a:txBody>
                    <a:bodyPr/>
                    <a:lstStyle/>
                    <a:p>
                      <a:pPr algn="ctr"/>
                      <a:r>
                        <a:rPr lang="es-MX" sz="1600" b="1" dirty="0" smtClean="0">
                          <a:solidFill>
                            <a:srgbClr val="3399FF"/>
                          </a:solidFill>
                          <a:latin typeface="Trebuchet MS" panose="020B0603020202020204" pitchFamily="34" charset="0"/>
                        </a:rPr>
                        <a:t>Proceso de </a:t>
                      </a:r>
                    </a:p>
                    <a:p>
                      <a:pPr algn="ctr"/>
                      <a:r>
                        <a:rPr lang="es-MX" sz="1600" b="1" dirty="0" smtClean="0">
                          <a:solidFill>
                            <a:srgbClr val="3399FF"/>
                          </a:solidFill>
                          <a:latin typeface="Trebuchet MS" panose="020B0603020202020204" pitchFamily="34" charset="0"/>
                        </a:rPr>
                        <a:t>búsqueda</a:t>
                      </a:r>
                      <a:endParaRPr lang="es-MX" sz="1600" b="1" dirty="0">
                        <a:solidFill>
                          <a:srgbClr val="3399FF"/>
                        </a:solidFill>
                        <a:latin typeface="Trebuchet MS" panose="020B0603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s-ES" sz="1600" dirty="0" smtClean="0">
                          <a:latin typeface="Trebuchet MS" panose="020B0603020202020204" pitchFamily="34" charset="0"/>
                        </a:rPr>
                        <a:t>Definido por pregunta de investigación</a:t>
                      </a:r>
                      <a:endParaRPr lang="es-MX" sz="1600" dirty="0">
                        <a:latin typeface="Trebuchet MS" panose="020B0603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600" dirty="0" smtClean="0">
                          <a:latin typeface="Trebuchet MS" panose="020B0603020202020204" pitchFamily="34" charset="0"/>
                        </a:rPr>
                        <a:t>Definido por área temática</a:t>
                      </a:r>
                      <a:endParaRPr lang="es-MX" sz="1600" dirty="0" smtClean="0">
                        <a:latin typeface="Trebuchet MS" panose="020B0603020202020204" pitchFamily="34" charset="0"/>
                      </a:endParaRPr>
                    </a:p>
                    <a:p>
                      <a:pPr algn="l"/>
                      <a:endParaRPr lang="es-MX" sz="1600" kern="1200" dirty="0">
                        <a:solidFill>
                          <a:schemeClr val="dk1"/>
                        </a:solidFill>
                        <a:latin typeface="Trebuchet MS" panose="020B0603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s-ES" sz="1600" dirty="0" smtClean="0">
                          <a:latin typeface="Trebuchet MS" panose="020B0603020202020204" pitchFamily="34" charset="0"/>
                        </a:rPr>
                        <a:t>Definido por área temática</a:t>
                      </a:r>
                      <a:endParaRPr lang="es-MX" sz="1600" dirty="0">
                        <a:latin typeface="Trebuchet MS" panose="020B0603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7565097"/>
                  </a:ext>
                </a:extLst>
              </a:tr>
              <a:tr h="624654">
                <a:tc>
                  <a:txBody>
                    <a:bodyPr/>
                    <a:lstStyle/>
                    <a:p>
                      <a:pPr algn="ctr"/>
                      <a:r>
                        <a:rPr lang="es-MX" sz="1600" b="1" dirty="0" smtClean="0">
                          <a:solidFill>
                            <a:srgbClr val="3399FF"/>
                          </a:solidFill>
                          <a:latin typeface="Trebuchet MS" panose="020B0603020202020204" pitchFamily="34" charset="0"/>
                        </a:rPr>
                        <a:t>Estrategia de búsqueda</a:t>
                      </a:r>
                      <a:endParaRPr lang="es-MX" sz="1600" b="1" dirty="0">
                        <a:solidFill>
                          <a:srgbClr val="3399FF"/>
                        </a:solidFill>
                        <a:latin typeface="Trebuchet MS" panose="020B0603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s-ES" sz="1600" dirty="0" smtClean="0">
                          <a:latin typeface="Trebuchet MS" panose="020B0603020202020204" pitchFamily="34" charset="0"/>
                        </a:rPr>
                        <a:t>Extremadamente estricta: se deben encontrar todos los estudios relevantes</a:t>
                      </a:r>
                      <a:endParaRPr lang="es-MX" sz="1600" dirty="0">
                        <a:latin typeface="Trebuchet MS" panose="020B0603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s-ES" sz="1600" dirty="0" smtClean="0">
                          <a:latin typeface="Trebuchet MS" panose="020B0603020202020204" pitchFamily="34" charset="0"/>
                        </a:rPr>
                        <a:t>Menos estricta solo interesan las tendencias de investigación</a:t>
                      </a:r>
                      <a:endParaRPr lang="es-MX" sz="1600" dirty="0" smtClean="0">
                        <a:latin typeface="Trebuchet MS" panose="020B0603020202020204" pitchFamily="34" charset="0"/>
                      </a:endParaRPr>
                    </a:p>
                    <a:p>
                      <a:pPr algn="l"/>
                      <a:endParaRPr lang="es-MX" sz="1600" dirty="0">
                        <a:latin typeface="Trebuchet MS" panose="020B0603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s-ES" sz="1600" dirty="0" smtClean="0">
                          <a:latin typeface="Trebuchet MS" panose="020B0603020202020204" pitchFamily="34" charset="0"/>
                        </a:rPr>
                        <a:t>Menos estricta</a:t>
                      </a:r>
                      <a:endParaRPr lang="es-MX" sz="1600" dirty="0">
                        <a:latin typeface="Trebuchet MS" panose="020B0603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8539476"/>
                  </a:ext>
                </a:extLst>
              </a:tr>
              <a:tr h="624654">
                <a:tc>
                  <a:txBody>
                    <a:bodyPr/>
                    <a:lstStyle/>
                    <a:p>
                      <a:pPr algn="ctr"/>
                      <a:r>
                        <a:rPr lang="es-MX" sz="1600" b="1" dirty="0" smtClean="0">
                          <a:solidFill>
                            <a:srgbClr val="3399FF"/>
                          </a:solidFill>
                          <a:latin typeface="Trebuchet MS" panose="020B0603020202020204" pitchFamily="34" charset="0"/>
                        </a:rPr>
                        <a:t>Evaluación</a:t>
                      </a:r>
                      <a:r>
                        <a:rPr lang="es-MX" sz="1600" b="1" baseline="0" dirty="0" smtClean="0">
                          <a:solidFill>
                            <a:srgbClr val="3399FF"/>
                          </a:solidFill>
                          <a:latin typeface="Trebuchet MS" panose="020B0603020202020204" pitchFamily="34" charset="0"/>
                        </a:rPr>
                        <a:t> de la calidad</a:t>
                      </a:r>
                      <a:endParaRPr lang="es-MX" sz="1600" b="1" dirty="0">
                        <a:solidFill>
                          <a:srgbClr val="3399FF"/>
                        </a:solidFill>
                        <a:latin typeface="Trebuchet MS" panose="020B0603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s-ES" sz="1600" dirty="0" smtClean="0">
                          <a:latin typeface="Trebuchet MS" panose="020B0603020202020204" pitchFamily="34" charset="0"/>
                        </a:rPr>
                        <a:t>Importante para garantizar que los resultados se basen en evidencia de mejor calidad</a:t>
                      </a:r>
                      <a:endParaRPr lang="es-MX" sz="1600" dirty="0">
                        <a:latin typeface="Trebuchet MS" panose="020B0603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s-MX" sz="1600" dirty="0" smtClean="0">
                          <a:latin typeface="Trebuchet MS" panose="020B0603020202020204" pitchFamily="34" charset="0"/>
                        </a:rPr>
                        <a:t>La calidad no es una</a:t>
                      </a:r>
                      <a:r>
                        <a:rPr lang="es-MX" sz="1600" baseline="0" dirty="0" smtClean="0">
                          <a:latin typeface="Trebuchet MS" panose="020B0603020202020204" pitchFamily="34" charset="0"/>
                        </a:rPr>
                        <a:t> prioridad inicial</a:t>
                      </a:r>
                      <a:endParaRPr lang="es-MX" sz="1600" dirty="0">
                        <a:latin typeface="Trebuchet MS" panose="020B0603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s-ES" sz="1600" dirty="0" smtClean="0">
                          <a:latin typeface="Trebuchet MS" panose="020B0603020202020204" pitchFamily="34" charset="0"/>
                        </a:rPr>
                        <a:t>No es importante </a:t>
                      </a:r>
                      <a:endParaRPr lang="es-MX" sz="1600" dirty="0">
                        <a:latin typeface="Trebuchet MS" panose="020B0603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4127662"/>
                  </a:ext>
                </a:extLst>
              </a:tr>
            </a:tbl>
          </a:graphicData>
        </a:graphic>
      </p:graphicFrame>
    </p:spTree>
    <p:extLst>
      <p:ext uri="{BB962C8B-B14F-4D97-AF65-F5344CB8AC3E}">
        <p14:creationId xmlns:p14="http://schemas.microsoft.com/office/powerpoint/2010/main" val="206072436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pic>
        <p:nvPicPr>
          <p:cNvPr id="6" name="Imagen 5"/>
          <p:cNvPicPr/>
          <p:nvPr/>
        </p:nvPicPr>
        <p:blipFill rotWithShape="1">
          <a:blip r:embed="rId2">
            <a:extLst>
              <a:ext uri="{28A0092B-C50C-407E-A947-70E740481C1C}">
                <a14:useLocalDpi xmlns:a14="http://schemas.microsoft.com/office/drawing/2010/main" val="0"/>
              </a:ext>
            </a:extLst>
          </a:blip>
          <a:srcRect t="1" r="32064" b="-10136"/>
          <a:stretch/>
        </p:blipFill>
        <p:spPr bwMode="auto">
          <a:xfrm>
            <a:off x="110789" y="112160"/>
            <a:ext cx="3410075" cy="757457"/>
          </a:xfrm>
          <a:prstGeom prst="rect">
            <a:avLst/>
          </a:prstGeom>
          <a:noFill/>
          <a:ln>
            <a:noFill/>
          </a:ln>
          <a:extLst>
            <a:ext uri="{53640926-AAD7-44D8-BBD7-CCE9431645EC}">
              <a14:shadowObscured xmlns:a14="http://schemas.microsoft.com/office/drawing/2010/main"/>
            </a:ext>
          </a:extLst>
        </p:spPr>
      </p:pic>
      <p:pic>
        <p:nvPicPr>
          <p:cNvPr id="7" name="Imagen 6" descr="Resultado de imagen para instituto tecnologico de orizaba logo"/>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51537" y="77977"/>
            <a:ext cx="779082" cy="805180"/>
          </a:xfrm>
          <a:prstGeom prst="rect">
            <a:avLst/>
          </a:prstGeom>
          <a:noFill/>
          <a:ln>
            <a:noFill/>
          </a:ln>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74675" y="125347"/>
            <a:ext cx="1619264" cy="740391"/>
          </a:xfrm>
          <a:prstGeom prst="rect">
            <a:avLst/>
          </a:prstGeom>
        </p:spPr>
      </p:pic>
      <p:sp>
        <p:nvSpPr>
          <p:cNvPr id="9" name="Rectángulo 8"/>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graphicFrame>
        <p:nvGraphicFramePr>
          <p:cNvPr id="12" name="Tabla 11"/>
          <p:cNvGraphicFramePr>
            <a:graphicFrameLocks noGrp="1"/>
          </p:cNvGraphicFramePr>
          <p:nvPr>
            <p:extLst>
              <p:ext uri="{D42A27DB-BD31-4B8C-83A1-F6EECF244321}">
                <p14:modId xmlns:p14="http://schemas.microsoft.com/office/powerpoint/2010/main" val="1605434646"/>
              </p:ext>
            </p:extLst>
          </p:nvPr>
        </p:nvGraphicFramePr>
        <p:xfrm>
          <a:off x="263352" y="1755802"/>
          <a:ext cx="11665296" cy="3977454"/>
        </p:xfrm>
        <a:graphic>
          <a:graphicData uri="http://schemas.openxmlformats.org/drawingml/2006/table">
            <a:tbl>
              <a:tblPr firstRow="1" bandRow="1">
                <a:tableStyleId>{7DF18680-E054-41AD-8BC1-D1AEF772440D}</a:tableStyleId>
              </a:tblPr>
              <a:tblGrid>
                <a:gridCol w="1512168">
                  <a:extLst>
                    <a:ext uri="{9D8B030D-6E8A-4147-A177-3AD203B41FA5}">
                      <a16:colId xmlns:a16="http://schemas.microsoft.com/office/drawing/2014/main" val="3046338826"/>
                    </a:ext>
                  </a:extLst>
                </a:gridCol>
                <a:gridCol w="3528392">
                  <a:extLst>
                    <a:ext uri="{9D8B030D-6E8A-4147-A177-3AD203B41FA5}">
                      <a16:colId xmlns:a16="http://schemas.microsoft.com/office/drawing/2014/main" val="2716248510"/>
                    </a:ext>
                  </a:extLst>
                </a:gridCol>
                <a:gridCol w="3240360">
                  <a:extLst>
                    <a:ext uri="{9D8B030D-6E8A-4147-A177-3AD203B41FA5}">
                      <a16:colId xmlns:a16="http://schemas.microsoft.com/office/drawing/2014/main" val="271025178"/>
                    </a:ext>
                  </a:extLst>
                </a:gridCol>
                <a:gridCol w="3384376">
                  <a:extLst>
                    <a:ext uri="{9D8B030D-6E8A-4147-A177-3AD203B41FA5}">
                      <a16:colId xmlns:a16="http://schemas.microsoft.com/office/drawing/2014/main" val="1439505379"/>
                    </a:ext>
                  </a:extLst>
                </a:gridCol>
              </a:tblGrid>
              <a:tr h="288030">
                <a:tc>
                  <a:txBody>
                    <a:bodyPr/>
                    <a:lstStyle/>
                    <a:p>
                      <a:pPr algn="ctr"/>
                      <a:r>
                        <a:rPr lang="es-MX" sz="1600" dirty="0" smtClean="0">
                          <a:latin typeface="Trebuchet MS" panose="020B0603020202020204" pitchFamily="34" charset="0"/>
                        </a:rPr>
                        <a:t>Criterio</a:t>
                      </a:r>
                      <a:endParaRPr lang="es-MX" sz="1600" dirty="0">
                        <a:latin typeface="Trebuchet MS" panose="020B0603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MX" sz="1600" dirty="0" smtClean="0">
                          <a:latin typeface="Trebuchet MS" panose="020B0603020202020204" pitchFamily="34" charset="0"/>
                        </a:rPr>
                        <a:t>Revisión Sistemática de Literatura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MX" sz="1600" dirty="0" smtClean="0">
                          <a:latin typeface="Trebuchet MS" panose="020B0603020202020204" pitchFamily="34" charset="0"/>
                        </a:rPr>
                        <a:t>Revisión</a:t>
                      </a:r>
                      <a:r>
                        <a:rPr lang="es-MX" sz="1600" baseline="0" dirty="0" smtClean="0">
                          <a:latin typeface="Trebuchet MS" panose="020B0603020202020204" pitchFamily="34" charset="0"/>
                        </a:rPr>
                        <a:t> de alcance</a:t>
                      </a:r>
                      <a:endParaRPr lang="es-MX" sz="1600" dirty="0">
                        <a:latin typeface="Trebuchet MS" panose="020B0603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MX" sz="1600" dirty="0" smtClean="0">
                          <a:latin typeface="Trebuchet MS" panose="020B0603020202020204" pitchFamily="34" charset="0"/>
                        </a:rPr>
                        <a:t>Estudio de Mapeo Sistemático</a:t>
                      </a:r>
                      <a:endParaRPr lang="es-MX" sz="1600" dirty="0">
                        <a:latin typeface="Trebuchet MS" panose="020B0603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1915776"/>
                  </a:ext>
                </a:extLst>
              </a:tr>
              <a:tr h="624654">
                <a:tc>
                  <a:txBody>
                    <a:bodyPr/>
                    <a:lstStyle/>
                    <a:p>
                      <a:pPr algn="ctr"/>
                      <a:r>
                        <a:rPr lang="es-MX" sz="1600" b="1" dirty="0" smtClean="0">
                          <a:solidFill>
                            <a:srgbClr val="3399FF"/>
                          </a:solidFill>
                          <a:latin typeface="Trebuchet MS" panose="020B0603020202020204" pitchFamily="34" charset="0"/>
                        </a:rPr>
                        <a:t>Resultados</a:t>
                      </a:r>
                      <a:endParaRPr lang="es-MX" sz="1600" b="1" dirty="0">
                        <a:solidFill>
                          <a:srgbClr val="3399FF"/>
                        </a:solidFill>
                        <a:latin typeface="Trebuchet MS" panose="020B0603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r>
                        <a:rPr lang="es-ES" sz="1600" kern="1200" dirty="0" smtClean="0">
                          <a:solidFill>
                            <a:schemeClr val="dk1"/>
                          </a:solidFill>
                          <a:latin typeface="Trebuchet MS" panose="020B0603020202020204" pitchFamily="34" charset="0"/>
                          <a:ea typeface="+mn-ea"/>
                          <a:cs typeface="+mn-cs"/>
                        </a:rPr>
                        <a:t>Evalúa la calidad de los estudios y genera una conclusión</a:t>
                      </a:r>
                      <a:endParaRPr lang="es-MX" sz="1600" kern="1200" dirty="0">
                        <a:solidFill>
                          <a:schemeClr val="dk1"/>
                        </a:solidFill>
                        <a:latin typeface="Trebuchet MS" panose="020B0603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r>
                        <a:rPr lang="es-ES" sz="1600" kern="1200" dirty="0" smtClean="0">
                          <a:solidFill>
                            <a:schemeClr val="dk1"/>
                          </a:solidFill>
                          <a:latin typeface="Trebuchet MS" panose="020B0603020202020204" pitchFamily="34" charset="0"/>
                          <a:ea typeface="+mn-ea"/>
                          <a:cs typeface="+mn-cs"/>
                        </a:rPr>
                        <a:t>Identifica parámetros y brechas en</a:t>
                      </a:r>
                      <a:r>
                        <a:rPr lang="es-ES" sz="1600" kern="1200" baseline="0" dirty="0" smtClean="0">
                          <a:solidFill>
                            <a:schemeClr val="dk1"/>
                          </a:solidFill>
                          <a:latin typeface="Trebuchet MS" panose="020B0603020202020204" pitchFamily="34" charset="0"/>
                          <a:ea typeface="+mn-ea"/>
                          <a:cs typeface="+mn-cs"/>
                        </a:rPr>
                        <a:t> una temática de la</a:t>
                      </a:r>
                      <a:r>
                        <a:rPr lang="es-ES" sz="1600" kern="1200" dirty="0" smtClean="0">
                          <a:solidFill>
                            <a:schemeClr val="dk1"/>
                          </a:solidFill>
                          <a:latin typeface="Trebuchet MS" panose="020B0603020202020204" pitchFamily="34" charset="0"/>
                          <a:ea typeface="+mn-ea"/>
                          <a:cs typeface="+mn-cs"/>
                        </a:rPr>
                        <a:t> literatura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r>
                        <a:rPr lang="es-ES" sz="1600" kern="1200" dirty="0" smtClean="0">
                          <a:solidFill>
                            <a:schemeClr val="dk1"/>
                          </a:solidFill>
                          <a:latin typeface="Trebuchet MS" panose="020B0603020202020204" pitchFamily="34" charset="0"/>
                          <a:ea typeface="+mn-ea"/>
                          <a:cs typeface="+mn-cs"/>
                        </a:rPr>
                        <a:t>Síntesis visual de los datos</a:t>
                      </a:r>
                      <a:endParaRPr lang="es-MX" sz="1600" kern="1200" dirty="0">
                        <a:solidFill>
                          <a:schemeClr val="dk1"/>
                        </a:solidFill>
                        <a:latin typeface="Trebuchet MS" panose="020B0603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71545038"/>
                  </a:ext>
                </a:extLst>
              </a:tr>
              <a:tr h="1560344">
                <a:tc>
                  <a:txBody>
                    <a:bodyPr/>
                    <a:lstStyle/>
                    <a:p>
                      <a:pPr algn="ctr"/>
                      <a:r>
                        <a:rPr lang="es-MX" sz="1600" b="1" dirty="0" smtClean="0">
                          <a:solidFill>
                            <a:srgbClr val="3399FF"/>
                          </a:solidFill>
                          <a:latin typeface="Trebuchet MS" panose="020B0603020202020204" pitchFamily="34" charset="0"/>
                        </a:rPr>
                        <a:t>Aplicabilidad/Uso</a:t>
                      </a:r>
                      <a:endParaRPr lang="es-MX" sz="1600" b="1" dirty="0">
                        <a:solidFill>
                          <a:srgbClr val="3399FF"/>
                        </a:solidFill>
                        <a:latin typeface="Trebuchet MS" panose="020B0603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defTabSz="914400" rtl="0" eaLnBrk="1" latinLnBrk="0" hangingPunct="1">
                        <a:buClr>
                          <a:srgbClr val="3399FF"/>
                        </a:buClr>
                        <a:buFont typeface="Arial" panose="020B0604020202020204" pitchFamily="34" charset="0"/>
                        <a:buChar char="•"/>
                      </a:pPr>
                      <a:r>
                        <a:rPr lang="es-ES" sz="1600" kern="1200" dirty="0" smtClean="0">
                          <a:solidFill>
                            <a:schemeClr val="dk1"/>
                          </a:solidFill>
                          <a:latin typeface="Trebuchet MS" panose="020B0603020202020204" pitchFamily="34" charset="0"/>
                          <a:ea typeface="+mn-ea"/>
                          <a:cs typeface="+mn-cs"/>
                        </a:rPr>
                        <a:t>Resumen, debates, críticas de trabajos anteriores y las brechas actuales en el conocimiento</a:t>
                      </a:r>
                    </a:p>
                    <a:p>
                      <a:pPr marL="171450" indent="-171450" algn="l" defTabSz="914400" rtl="0" eaLnBrk="1" latinLnBrk="0" hangingPunct="1">
                        <a:buClr>
                          <a:srgbClr val="3399FF"/>
                        </a:buClr>
                        <a:buFont typeface="Arial" panose="020B0604020202020204" pitchFamily="34" charset="0"/>
                        <a:buChar char="•"/>
                      </a:pPr>
                      <a:r>
                        <a:rPr lang="es-ES" sz="1600" kern="1200" dirty="0" smtClean="0">
                          <a:solidFill>
                            <a:schemeClr val="dk1"/>
                          </a:solidFill>
                          <a:latin typeface="Trebuchet MS" panose="020B0603020202020204" pitchFamily="34" charset="0"/>
                          <a:ea typeface="+mn-ea"/>
                          <a:cs typeface="+mn-cs"/>
                        </a:rPr>
                        <a:t>Se utiliza como justificación para nuevas investigaciones</a:t>
                      </a:r>
                    </a:p>
                    <a:p>
                      <a:pPr marL="171450" indent="-171450" algn="l" defTabSz="914400" rtl="0" eaLnBrk="1" latinLnBrk="0" hangingPunct="1">
                        <a:buClr>
                          <a:srgbClr val="3399FF"/>
                        </a:buClr>
                        <a:buFont typeface="Arial" panose="020B0604020202020204" pitchFamily="34" charset="0"/>
                        <a:buChar char="•"/>
                      </a:pPr>
                      <a:r>
                        <a:rPr lang="es-ES" sz="1600" kern="1200" dirty="0" smtClean="0">
                          <a:solidFill>
                            <a:schemeClr val="dk1"/>
                          </a:solidFill>
                          <a:latin typeface="Trebuchet MS" panose="020B0603020202020204" pitchFamily="34" charset="0"/>
                          <a:ea typeface="+mn-ea"/>
                          <a:cs typeface="+mn-cs"/>
                        </a:rPr>
                        <a:t>Para determinar los tipos de intervenciones disponibles para incluir en una revisión</a:t>
                      </a:r>
                    </a:p>
                    <a:p>
                      <a:pPr marL="0" indent="0" algn="l" defTabSz="914400" rtl="0" eaLnBrk="1" latinLnBrk="0" hangingPunct="1">
                        <a:buFont typeface="Arial" panose="020B0604020202020204" pitchFamily="34" charset="0"/>
                        <a:buNone/>
                      </a:pPr>
                      <a:r>
                        <a:rPr lang="es-ES" sz="1600" kern="1200" dirty="0" smtClean="0">
                          <a:solidFill>
                            <a:schemeClr val="dk1"/>
                          </a:solidFill>
                          <a:latin typeface="Trebuchet MS" panose="020B0603020202020204" pitchFamily="34" charset="0"/>
                          <a:ea typeface="+mn-ea"/>
                          <a:cs typeface="+mn-cs"/>
                        </a:rPr>
                        <a:t/>
                      </a:r>
                      <a:br>
                        <a:rPr lang="es-ES" sz="1600" kern="1200" dirty="0" smtClean="0">
                          <a:solidFill>
                            <a:schemeClr val="dk1"/>
                          </a:solidFill>
                          <a:latin typeface="Trebuchet MS" panose="020B0603020202020204" pitchFamily="34" charset="0"/>
                          <a:ea typeface="+mn-ea"/>
                          <a:cs typeface="+mn-cs"/>
                        </a:rPr>
                      </a:br>
                      <a:endParaRPr lang="es-MX" sz="1600" kern="1200" dirty="0">
                        <a:solidFill>
                          <a:schemeClr val="dk1"/>
                        </a:solidFill>
                        <a:latin typeface="Trebuchet MS" panose="020B0603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defTabSz="914400" rtl="0" eaLnBrk="1" latinLnBrk="0" hangingPunct="1">
                        <a:buClr>
                          <a:srgbClr val="3399FF"/>
                        </a:buClr>
                        <a:buFont typeface="Arial" panose="020B0604020202020204" pitchFamily="34" charset="0"/>
                        <a:buChar char="•"/>
                      </a:pPr>
                      <a:r>
                        <a:rPr lang="es-ES" sz="1600" kern="1200" dirty="0" smtClean="0">
                          <a:solidFill>
                            <a:schemeClr val="dk1"/>
                          </a:solidFill>
                          <a:latin typeface="Trebuchet MS" panose="020B0603020202020204" pitchFamily="34" charset="0"/>
                          <a:ea typeface="+mn-ea"/>
                          <a:cs typeface="+mn-cs"/>
                        </a:rPr>
                        <a:t>Cuando un cuerpo de literatura aún no ha sido revisado exhaustivamente, o exhibe una naturaleza grande, compleja o heterogénea que no es susceptible de una revisión sistemática más precisa</a:t>
                      </a:r>
                    </a:p>
                    <a:p>
                      <a:pPr marL="171450" indent="-171450" algn="l" defTabSz="914400" rtl="0" eaLnBrk="1" latinLnBrk="0" hangingPunct="1">
                        <a:buClr>
                          <a:srgbClr val="3399FF"/>
                        </a:buClr>
                        <a:buFont typeface="Arial" panose="020B0604020202020204" pitchFamily="34" charset="0"/>
                        <a:buChar char="•"/>
                      </a:pPr>
                      <a:r>
                        <a:rPr lang="es-ES" sz="1600" kern="1200" dirty="0" smtClean="0">
                          <a:solidFill>
                            <a:schemeClr val="dk1"/>
                          </a:solidFill>
                          <a:latin typeface="Trebuchet MS" panose="020B0603020202020204" pitchFamily="34" charset="0"/>
                          <a:ea typeface="+mn-ea"/>
                          <a:cs typeface="+mn-cs"/>
                        </a:rPr>
                        <a:t>Aclarar definiciones de un tema</a:t>
                      </a:r>
                    </a:p>
                    <a:p>
                      <a:pPr marL="171450" indent="-171450" algn="l" defTabSz="914400" rtl="0" eaLnBrk="1" latinLnBrk="0" hangingPunct="1">
                        <a:buClr>
                          <a:srgbClr val="3399FF"/>
                        </a:buClr>
                        <a:buFont typeface="Arial" panose="020B0604020202020204" pitchFamily="34" charset="0"/>
                        <a:buChar char="•"/>
                      </a:pPr>
                      <a:r>
                        <a:rPr lang="es-ES" sz="1600" kern="1200" dirty="0" smtClean="0">
                          <a:solidFill>
                            <a:schemeClr val="dk1"/>
                          </a:solidFill>
                          <a:latin typeface="Trebuchet MS" panose="020B0603020202020204" pitchFamily="34" charset="0"/>
                          <a:ea typeface="+mn-ea"/>
                          <a:cs typeface="+mn-cs"/>
                        </a:rPr>
                        <a:t>Identificar</a:t>
                      </a:r>
                      <a:r>
                        <a:rPr lang="es-ES" sz="1600" kern="1200" baseline="0" dirty="0" smtClean="0">
                          <a:solidFill>
                            <a:schemeClr val="dk1"/>
                          </a:solidFill>
                          <a:latin typeface="Trebuchet MS" panose="020B0603020202020204" pitchFamily="34" charset="0"/>
                          <a:ea typeface="+mn-ea"/>
                          <a:cs typeface="+mn-cs"/>
                        </a:rPr>
                        <a:t> brechas</a:t>
                      </a:r>
                      <a:r>
                        <a:rPr lang="es-ES" sz="1600" kern="1200" dirty="0" smtClean="0">
                          <a:solidFill>
                            <a:schemeClr val="dk1"/>
                          </a:solidFill>
                          <a:latin typeface="Trebuchet MS" panose="020B0603020202020204" pitchFamily="34" charset="0"/>
                          <a:ea typeface="+mn-ea"/>
                          <a:cs typeface="+mn-cs"/>
                        </a:rPr>
                        <a:t> en la literatura/investigación existente</a:t>
                      </a:r>
                      <a:endParaRPr lang="es-MX" sz="1600" kern="1200" dirty="0">
                        <a:solidFill>
                          <a:schemeClr val="dk1"/>
                        </a:solidFill>
                        <a:latin typeface="Trebuchet MS" panose="020B0603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defTabSz="914400" rtl="0" eaLnBrk="1" latinLnBrk="0" hangingPunct="1">
                        <a:buClr>
                          <a:srgbClr val="3399FF"/>
                        </a:buClr>
                        <a:buFont typeface="Arial" panose="020B0604020202020204" pitchFamily="34" charset="0"/>
                        <a:buChar char="•"/>
                      </a:pPr>
                      <a:r>
                        <a:rPr lang="es-ES" sz="1600" kern="1200" dirty="0" smtClean="0">
                          <a:solidFill>
                            <a:schemeClr val="dk1"/>
                          </a:solidFill>
                          <a:latin typeface="Trebuchet MS" panose="020B0603020202020204" pitchFamily="34" charset="0"/>
                          <a:ea typeface="+mn-ea"/>
                          <a:cs typeface="+mn-cs"/>
                        </a:rPr>
                        <a:t>Cuando hay abundancia y diversidad de investigación</a:t>
                      </a:r>
                    </a:p>
                    <a:p>
                      <a:pPr marL="171450" indent="-171450" algn="l" defTabSz="914400" rtl="0" eaLnBrk="1" latinLnBrk="0" hangingPunct="1">
                        <a:buClr>
                          <a:srgbClr val="3399FF"/>
                        </a:buClr>
                        <a:buFont typeface="Arial" panose="020B0604020202020204" pitchFamily="34" charset="0"/>
                        <a:buChar char="•"/>
                      </a:pPr>
                      <a:r>
                        <a:rPr lang="es-ES" sz="1600" kern="1200" dirty="0" smtClean="0">
                          <a:solidFill>
                            <a:schemeClr val="dk1"/>
                          </a:solidFill>
                          <a:latin typeface="Trebuchet MS" panose="020B0603020202020204" pitchFamily="34" charset="0"/>
                          <a:ea typeface="+mn-ea"/>
                          <a:cs typeface="+mn-cs"/>
                        </a:rPr>
                        <a:t>Como primer paso para una Revisión Sistemática.</a:t>
                      </a:r>
                    </a:p>
                    <a:p>
                      <a:pPr marL="171450" indent="-171450" algn="l" defTabSz="914400" rtl="0" eaLnBrk="1" latinLnBrk="0" hangingPunct="1">
                        <a:buClr>
                          <a:srgbClr val="3399FF"/>
                        </a:buClr>
                        <a:buFont typeface="Arial" panose="020B0604020202020204" pitchFamily="34" charset="0"/>
                        <a:buChar char="•"/>
                      </a:pPr>
                      <a:r>
                        <a:rPr lang="es-ES" sz="1600" kern="1200" dirty="0" smtClean="0">
                          <a:solidFill>
                            <a:schemeClr val="dk1"/>
                          </a:solidFill>
                          <a:latin typeface="Trebuchet MS" panose="020B0603020202020204" pitchFamily="34" charset="0"/>
                          <a:ea typeface="+mn-ea"/>
                          <a:cs typeface="+mn-cs"/>
                        </a:rPr>
                        <a:t>Identificar brechas en un área</a:t>
                      </a:r>
                      <a:r>
                        <a:rPr lang="es-ES" sz="1600" kern="1200" baseline="0" dirty="0" smtClean="0">
                          <a:solidFill>
                            <a:schemeClr val="dk1"/>
                          </a:solidFill>
                          <a:latin typeface="Trebuchet MS" panose="020B0603020202020204" pitchFamily="34" charset="0"/>
                          <a:ea typeface="+mn-ea"/>
                          <a:cs typeface="+mn-cs"/>
                        </a:rPr>
                        <a:t> </a:t>
                      </a:r>
                      <a:r>
                        <a:rPr lang="es-ES" sz="1600" kern="1200" dirty="0" smtClean="0">
                          <a:solidFill>
                            <a:schemeClr val="dk1"/>
                          </a:solidFill>
                          <a:latin typeface="Trebuchet MS" panose="020B0603020202020204" pitchFamily="34" charset="0"/>
                          <a:ea typeface="+mn-ea"/>
                          <a:cs typeface="+mn-cs"/>
                        </a:rPr>
                        <a:t>temática</a:t>
                      </a:r>
                      <a:br>
                        <a:rPr lang="es-ES" sz="1600" kern="1200" dirty="0" smtClean="0">
                          <a:solidFill>
                            <a:schemeClr val="dk1"/>
                          </a:solidFill>
                          <a:latin typeface="Trebuchet MS" panose="020B0603020202020204" pitchFamily="34" charset="0"/>
                          <a:ea typeface="+mn-ea"/>
                          <a:cs typeface="+mn-cs"/>
                        </a:rPr>
                      </a:br>
                      <a:endParaRPr lang="es-MX" sz="1600" kern="1200" dirty="0">
                        <a:solidFill>
                          <a:schemeClr val="dk1"/>
                        </a:solidFill>
                        <a:latin typeface="Trebuchet MS" panose="020B0603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9678872"/>
                  </a:ext>
                </a:extLst>
              </a:tr>
            </a:tbl>
          </a:graphicData>
        </a:graphic>
      </p:graphicFrame>
      <p:sp>
        <p:nvSpPr>
          <p:cNvPr id="11" name="Title 1"/>
          <p:cNvSpPr txBox="1">
            <a:spLocks/>
          </p:cNvSpPr>
          <p:nvPr/>
        </p:nvSpPr>
        <p:spPr>
          <a:xfrm>
            <a:off x="911424" y="1003473"/>
            <a:ext cx="9289032" cy="40930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solidFill>
                  <a:srgbClr val="08489E"/>
                </a:solidFill>
                <a:latin typeface="Trebuchet MS" panose="020B0603020202020204" pitchFamily="34" charset="0"/>
              </a:rPr>
              <a:t>Comparación de los tipos de Revisiones 2/3</a:t>
            </a:r>
            <a:endParaRPr lang="en-US" sz="2400" b="1" dirty="0">
              <a:solidFill>
                <a:srgbClr val="08489E"/>
              </a:solidFill>
              <a:latin typeface="Trebuchet MS" panose="020B0603020202020204" pitchFamily="34" charset="0"/>
            </a:endParaRPr>
          </a:p>
        </p:txBody>
      </p:sp>
    </p:spTree>
    <p:extLst>
      <p:ext uri="{BB962C8B-B14F-4D97-AF65-F5344CB8AC3E}">
        <p14:creationId xmlns:p14="http://schemas.microsoft.com/office/powerpoint/2010/main" val="314349460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pic>
        <p:nvPicPr>
          <p:cNvPr id="6" name="Imagen 5"/>
          <p:cNvPicPr/>
          <p:nvPr/>
        </p:nvPicPr>
        <p:blipFill rotWithShape="1">
          <a:blip r:embed="rId2">
            <a:extLst>
              <a:ext uri="{28A0092B-C50C-407E-A947-70E740481C1C}">
                <a14:useLocalDpi xmlns:a14="http://schemas.microsoft.com/office/drawing/2010/main" val="0"/>
              </a:ext>
            </a:extLst>
          </a:blip>
          <a:srcRect t="1" r="32064" b="-10136"/>
          <a:stretch/>
        </p:blipFill>
        <p:spPr bwMode="auto">
          <a:xfrm>
            <a:off x="110789" y="112160"/>
            <a:ext cx="3410075" cy="757457"/>
          </a:xfrm>
          <a:prstGeom prst="rect">
            <a:avLst/>
          </a:prstGeom>
          <a:noFill/>
          <a:ln>
            <a:noFill/>
          </a:ln>
          <a:extLst>
            <a:ext uri="{53640926-AAD7-44D8-BBD7-CCE9431645EC}">
              <a14:shadowObscured xmlns:a14="http://schemas.microsoft.com/office/drawing/2010/main"/>
            </a:ext>
          </a:extLst>
        </p:spPr>
      </p:pic>
      <p:pic>
        <p:nvPicPr>
          <p:cNvPr id="7" name="Imagen 6" descr="Resultado de imagen para instituto tecnologico de orizaba logo"/>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51537" y="77977"/>
            <a:ext cx="779082" cy="805180"/>
          </a:xfrm>
          <a:prstGeom prst="rect">
            <a:avLst/>
          </a:prstGeom>
          <a:noFill/>
          <a:ln>
            <a:noFill/>
          </a:ln>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74675" y="125347"/>
            <a:ext cx="1619264" cy="740391"/>
          </a:xfrm>
          <a:prstGeom prst="rect">
            <a:avLst/>
          </a:prstGeom>
        </p:spPr>
      </p:pic>
      <p:sp>
        <p:nvSpPr>
          <p:cNvPr id="9" name="Rectángulo 8"/>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graphicFrame>
        <p:nvGraphicFramePr>
          <p:cNvPr id="12" name="Tabla 11"/>
          <p:cNvGraphicFramePr>
            <a:graphicFrameLocks noGrp="1"/>
          </p:cNvGraphicFramePr>
          <p:nvPr>
            <p:extLst>
              <p:ext uri="{D42A27DB-BD31-4B8C-83A1-F6EECF244321}">
                <p14:modId xmlns:p14="http://schemas.microsoft.com/office/powerpoint/2010/main" val="1216119205"/>
              </p:ext>
            </p:extLst>
          </p:nvPr>
        </p:nvGraphicFramePr>
        <p:xfrm>
          <a:off x="263352" y="1760200"/>
          <a:ext cx="11665296" cy="3108960"/>
        </p:xfrm>
        <a:graphic>
          <a:graphicData uri="http://schemas.openxmlformats.org/drawingml/2006/table">
            <a:tbl>
              <a:tblPr firstRow="1" bandRow="1">
                <a:tableStyleId>{7DF18680-E054-41AD-8BC1-D1AEF772440D}</a:tableStyleId>
              </a:tblPr>
              <a:tblGrid>
                <a:gridCol w="1512168">
                  <a:extLst>
                    <a:ext uri="{9D8B030D-6E8A-4147-A177-3AD203B41FA5}">
                      <a16:colId xmlns:a16="http://schemas.microsoft.com/office/drawing/2014/main" val="3046338826"/>
                    </a:ext>
                  </a:extLst>
                </a:gridCol>
                <a:gridCol w="3528392">
                  <a:extLst>
                    <a:ext uri="{9D8B030D-6E8A-4147-A177-3AD203B41FA5}">
                      <a16:colId xmlns:a16="http://schemas.microsoft.com/office/drawing/2014/main" val="2716248510"/>
                    </a:ext>
                  </a:extLst>
                </a:gridCol>
                <a:gridCol w="3240360">
                  <a:extLst>
                    <a:ext uri="{9D8B030D-6E8A-4147-A177-3AD203B41FA5}">
                      <a16:colId xmlns:a16="http://schemas.microsoft.com/office/drawing/2014/main" val="271025178"/>
                    </a:ext>
                  </a:extLst>
                </a:gridCol>
                <a:gridCol w="3384376">
                  <a:extLst>
                    <a:ext uri="{9D8B030D-6E8A-4147-A177-3AD203B41FA5}">
                      <a16:colId xmlns:a16="http://schemas.microsoft.com/office/drawing/2014/main" val="1439505379"/>
                    </a:ext>
                  </a:extLst>
                </a:gridCol>
              </a:tblGrid>
              <a:tr h="288030">
                <a:tc>
                  <a:txBody>
                    <a:bodyPr/>
                    <a:lstStyle/>
                    <a:p>
                      <a:pPr algn="ctr"/>
                      <a:r>
                        <a:rPr lang="es-MX" sz="1600" dirty="0" smtClean="0">
                          <a:latin typeface="Trebuchet MS" panose="020B0603020202020204" pitchFamily="34" charset="0"/>
                        </a:rPr>
                        <a:t>Criterio</a:t>
                      </a:r>
                      <a:endParaRPr lang="es-MX" sz="1600" dirty="0">
                        <a:latin typeface="Trebuchet MS" panose="020B0603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MX" sz="1600" dirty="0" smtClean="0">
                          <a:latin typeface="Trebuchet MS" panose="020B0603020202020204" pitchFamily="34" charset="0"/>
                        </a:rPr>
                        <a:t>Revisión Sistemática de Literatura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MX" sz="1600" dirty="0" smtClean="0">
                          <a:latin typeface="Trebuchet MS" panose="020B0603020202020204" pitchFamily="34" charset="0"/>
                        </a:rPr>
                        <a:t>Revisión</a:t>
                      </a:r>
                      <a:r>
                        <a:rPr lang="es-MX" sz="1600" baseline="0" dirty="0" smtClean="0">
                          <a:latin typeface="Trebuchet MS" panose="020B0603020202020204" pitchFamily="34" charset="0"/>
                        </a:rPr>
                        <a:t> de alcance</a:t>
                      </a:r>
                      <a:endParaRPr lang="es-MX" sz="1600" dirty="0">
                        <a:latin typeface="Trebuchet MS" panose="020B0603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MX" sz="1600" dirty="0" smtClean="0">
                          <a:latin typeface="Trebuchet MS" panose="020B0603020202020204" pitchFamily="34" charset="0"/>
                        </a:rPr>
                        <a:t>Estudio de Mapeo Sistemático</a:t>
                      </a:r>
                      <a:endParaRPr lang="es-MX" sz="1600" dirty="0">
                        <a:latin typeface="Trebuchet MS" panose="020B0603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1915776"/>
                  </a:ext>
                </a:extLst>
              </a:tr>
              <a:tr h="624654">
                <a:tc>
                  <a:txBody>
                    <a:bodyPr/>
                    <a:lstStyle/>
                    <a:p>
                      <a:pPr algn="ctr"/>
                      <a:r>
                        <a:rPr lang="es-MX" sz="1600" b="1" dirty="0" smtClean="0">
                          <a:solidFill>
                            <a:srgbClr val="3399FF"/>
                          </a:solidFill>
                          <a:latin typeface="Trebuchet MS" panose="020B0603020202020204" pitchFamily="34" charset="0"/>
                        </a:rPr>
                        <a:t>Limitaciones</a:t>
                      </a:r>
                      <a:endParaRPr lang="es-MX" sz="1600" b="1" dirty="0">
                        <a:solidFill>
                          <a:srgbClr val="3399FF"/>
                        </a:solidFill>
                        <a:latin typeface="Trebuchet MS" panose="020B0603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defTabSz="914400" rtl="0" eaLnBrk="1" latinLnBrk="0" hangingPunct="1">
                        <a:buClr>
                          <a:srgbClr val="3399FF"/>
                        </a:buClr>
                        <a:buFont typeface="Arial" panose="020B0604020202020204" pitchFamily="34" charset="0"/>
                        <a:buChar char="•"/>
                      </a:pPr>
                      <a:r>
                        <a:rPr lang="es-ES" sz="1600" kern="1200" dirty="0" smtClean="0">
                          <a:solidFill>
                            <a:schemeClr val="dk1"/>
                          </a:solidFill>
                          <a:latin typeface="Trebuchet MS" panose="020B0603020202020204" pitchFamily="34" charset="0"/>
                          <a:ea typeface="+mn-ea"/>
                          <a:cs typeface="+mn-cs"/>
                        </a:rPr>
                        <a:t>Se desconocen los sesgos que se producen al seleccionar y evaluar la literatura</a:t>
                      </a:r>
                    </a:p>
                    <a:p>
                      <a:pPr marL="171450" indent="-171450" algn="l" defTabSz="914400" rtl="0" eaLnBrk="1" latinLnBrk="0" hangingPunct="1">
                        <a:buClr>
                          <a:srgbClr val="3399FF"/>
                        </a:buClr>
                        <a:buFont typeface="Arial" panose="020B0604020202020204" pitchFamily="34" charset="0"/>
                        <a:buChar char="•"/>
                      </a:pPr>
                      <a:r>
                        <a:rPr lang="es-ES" sz="1600" kern="1200" dirty="0" smtClean="0">
                          <a:solidFill>
                            <a:schemeClr val="dk1"/>
                          </a:solidFill>
                          <a:latin typeface="Trebuchet MS" panose="020B0603020202020204" pitchFamily="34" charset="0"/>
                          <a:ea typeface="+mn-ea"/>
                          <a:cs typeface="+mn-cs"/>
                        </a:rPr>
                        <a:t>No puede ser replicado</a:t>
                      </a:r>
                      <a:endParaRPr lang="es-MX" sz="1600" kern="1200" dirty="0">
                        <a:solidFill>
                          <a:schemeClr val="dk1"/>
                        </a:solidFill>
                        <a:latin typeface="Trebuchet MS" panose="020B0603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marR="0" indent="-171450" algn="l" defTabSz="914400" rtl="0" eaLnBrk="1" fontAlgn="auto" latinLnBrk="0" hangingPunct="1">
                        <a:lnSpc>
                          <a:spcPct val="100000"/>
                        </a:lnSpc>
                        <a:spcBef>
                          <a:spcPts val="0"/>
                        </a:spcBef>
                        <a:spcAft>
                          <a:spcPts val="0"/>
                        </a:spcAft>
                        <a:buClr>
                          <a:srgbClr val="3399FF"/>
                        </a:buClr>
                        <a:buSzTx/>
                        <a:buFont typeface="Arial" panose="020B0604020202020204" pitchFamily="34" charset="0"/>
                        <a:buChar char="•"/>
                        <a:tabLst/>
                        <a:defRPr/>
                      </a:pPr>
                      <a:r>
                        <a:rPr lang="es-ES" sz="1600" kern="1200" dirty="0" smtClean="0">
                          <a:solidFill>
                            <a:schemeClr val="dk1"/>
                          </a:solidFill>
                          <a:latin typeface="Trebuchet MS" panose="020B0603020202020204" pitchFamily="34" charset="0"/>
                          <a:ea typeface="+mn-ea"/>
                          <a:cs typeface="+mn-cs"/>
                        </a:rPr>
                        <a:t>Conduce a una búsqueda más amplia y menos definida</a:t>
                      </a:r>
                    </a:p>
                    <a:p>
                      <a:pPr marL="171450" indent="-171450" algn="l" defTabSz="914400" rtl="0" eaLnBrk="1" latinLnBrk="0" hangingPunct="1">
                        <a:buClr>
                          <a:srgbClr val="3399FF"/>
                        </a:buClr>
                        <a:buFont typeface="Arial" panose="020B0604020202020204" pitchFamily="34" charset="0"/>
                        <a:buChar char="•"/>
                      </a:pPr>
                      <a:r>
                        <a:rPr lang="es-ES" sz="1600" kern="1200" dirty="0" smtClean="0">
                          <a:solidFill>
                            <a:schemeClr val="dk1"/>
                          </a:solidFill>
                          <a:latin typeface="Trebuchet MS" panose="020B0603020202020204" pitchFamily="34" charset="0"/>
                          <a:ea typeface="+mn-ea"/>
                          <a:cs typeface="+mn-cs"/>
                        </a:rPr>
                        <a:t>No es más fácil ni rápida que una Revisión Sistemática</a:t>
                      </a:r>
                    </a:p>
                    <a:p>
                      <a:pPr marL="171450" indent="-171450" algn="l" defTabSz="914400" rtl="0" eaLnBrk="1" latinLnBrk="0" hangingPunct="1">
                        <a:buClr>
                          <a:srgbClr val="3399FF"/>
                        </a:buClr>
                        <a:buFont typeface="Arial" panose="020B0604020202020204" pitchFamily="34" charset="0"/>
                        <a:buChar char="•"/>
                      </a:pPr>
                      <a:r>
                        <a:rPr lang="es-ES" sz="1600" kern="1200" dirty="0" smtClean="0">
                          <a:solidFill>
                            <a:schemeClr val="dk1"/>
                          </a:solidFill>
                          <a:latin typeface="Trebuchet MS" panose="020B0603020202020204" pitchFamily="34" charset="0"/>
                          <a:ea typeface="+mn-ea"/>
                          <a:cs typeface="+mn-cs"/>
                        </a:rPr>
                        <a:t>Incluye más citas</a:t>
                      </a:r>
                      <a:r>
                        <a:rPr lang="es-ES" sz="1600" kern="1200" baseline="0" dirty="0" smtClean="0">
                          <a:solidFill>
                            <a:schemeClr val="dk1"/>
                          </a:solidFill>
                          <a:latin typeface="Trebuchet MS" panose="020B0603020202020204" pitchFamily="34" charset="0"/>
                          <a:ea typeface="+mn-ea"/>
                          <a:cs typeface="+mn-cs"/>
                        </a:rPr>
                        <a:t> </a:t>
                      </a:r>
                      <a:r>
                        <a:rPr lang="es-ES" sz="1600" kern="1200" dirty="0" smtClean="0">
                          <a:solidFill>
                            <a:schemeClr val="dk1"/>
                          </a:solidFill>
                          <a:latin typeface="Trebuchet MS" panose="020B0603020202020204" pitchFamily="34" charset="0"/>
                          <a:ea typeface="+mn-ea"/>
                          <a:cs typeface="+mn-cs"/>
                        </a:rPr>
                        <a:t>que una Revisión Sistemática</a:t>
                      </a:r>
                    </a:p>
                    <a:p>
                      <a:pPr marL="171450" indent="-171450" algn="l" defTabSz="914400" rtl="0" eaLnBrk="1" latinLnBrk="0" hangingPunct="1">
                        <a:buClr>
                          <a:srgbClr val="3399FF"/>
                        </a:buClr>
                        <a:buFont typeface="Arial" panose="020B0604020202020204" pitchFamily="34" charset="0"/>
                        <a:buChar char="•"/>
                      </a:pPr>
                      <a:r>
                        <a:rPr lang="es-ES" sz="1600" kern="1200" dirty="0" smtClean="0">
                          <a:solidFill>
                            <a:schemeClr val="dk1"/>
                          </a:solidFill>
                          <a:latin typeface="Trebuchet MS" panose="020B0603020202020204" pitchFamily="34" charset="0"/>
                          <a:ea typeface="+mn-ea"/>
                          <a:cs typeface="+mn-cs"/>
                        </a:rPr>
                        <a:t>Requiere múltiples búsquedas estructuradas en lugar de una</a:t>
                      </a:r>
                    </a:p>
                    <a:p>
                      <a:pPr marL="171450" indent="-171450" algn="l" defTabSz="914400" rtl="0" eaLnBrk="1" latinLnBrk="0" hangingPunct="1">
                        <a:buClr>
                          <a:srgbClr val="3399FF"/>
                        </a:buClr>
                        <a:buFont typeface="Arial" panose="020B0604020202020204" pitchFamily="34" charset="0"/>
                        <a:buChar char="•"/>
                      </a:pPr>
                      <a:r>
                        <a:rPr lang="es-ES" sz="1600" kern="1200" dirty="0" smtClean="0">
                          <a:solidFill>
                            <a:schemeClr val="dk1"/>
                          </a:solidFill>
                          <a:latin typeface="Trebuchet MS" panose="020B0603020202020204" pitchFamily="34" charset="0"/>
                          <a:ea typeface="+mn-ea"/>
                          <a:cs typeface="+mn-cs"/>
                        </a:rPr>
                        <a:t>Mayor énfasis en la búsqueda manual en la literatura</a:t>
                      </a:r>
                    </a:p>
                    <a:p>
                      <a:pPr marL="171450" indent="-171450" algn="l" defTabSz="914400" rtl="0" eaLnBrk="1" latinLnBrk="0" hangingPunct="1">
                        <a:buClr>
                          <a:srgbClr val="3399FF"/>
                        </a:buClr>
                        <a:buFont typeface="Arial" panose="020B0604020202020204" pitchFamily="34" charset="0"/>
                        <a:buChar char="•"/>
                      </a:pPr>
                      <a:r>
                        <a:rPr lang="es-ES" sz="1600" kern="1200" dirty="0" smtClean="0">
                          <a:solidFill>
                            <a:schemeClr val="dk1"/>
                          </a:solidFill>
                          <a:latin typeface="Trebuchet MS" panose="020B0603020202020204" pitchFamily="34" charset="0"/>
                          <a:ea typeface="+mn-ea"/>
                          <a:cs typeface="+mn-cs"/>
                        </a:rPr>
                        <a:t>Inconsistencia</a:t>
                      </a:r>
                      <a:r>
                        <a:rPr lang="es-ES" sz="1600" kern="1200" baseline="0" dirty="0" smtClean="0">
                          <a:solidFill>
                            <a:schemeClr val="dk1"/>
                          </a:solidFill>
                          <a:latin typeface="Trebuchet MS" panose="020B0603020202020204" pitchFamily="34" charset="0"/>
                          <a:ea typeface="+mn-ea"/>
                          <a:cs typeface="+mn-cs"/>
                        </a:rPr>
                        <a:t> al realizarla</a:t>
                      </a:r>
                      <a:endParaRPr lang="es-ES" sz="1600" kern="1200" dirty="0" smtClean="0">
                        <a:solidFill>
                          <a:schemeClr val="dk1"/>
                        </a:solidFill>
                        <a:latin typeface="Trebuchet MS" panose="020B0603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lgn="l" defTabSz="914400" rtl="0" eaLnBrk="1" latinLnBrk="0" hangingPunct="1">
                        <a:buClr>
                          <a:srgbClr val="3399FF"/>
                        </a:buClr>
                        <a:buFont typeface="Arial" panose="020B0604020202020204" pitchFamily="34" charset="0"/>
                        <a:buChar char="•"/>
                      </a:pPr>
                      <a:r>
                        <a:rPr lang="es-ES" sz="1600" kern="1200" dirty="0" smtClean="0">
                          <a:solidFill>
                            <a:schemeClr val="dk1"/>
                          </a:solidFill>
                          <a:latin typeface="Trebuchet MS" panose="020B0603020202020204" pitchFamily="34" charset="0"/>
                          <a:ea typeface="+mn-ea"/>
                          <a:cs typeface="+mn-cs"/>
                        </a:rPr>
                        <a:t>La naturaleza amplia y la búsqueda rápida pueden significar que se perderán algunos artículos</a:t>
                      </a:r>
                    </a:p>
                    <a:p>
                      <a:pPr marL="285750" indent="-285750" algn="l" defTabSz="914400" rtl="0" eaLnBrk="1" latinLnBrk="0" hangingPunct="1">
                        <a:buClr>
                          <a:srgbClr val="3399FF"/>
                        </a:buClr>
                        <a:buFont typeface="Arial" panose="020B0604020202020204" pitchFamily="34" charset="0"/>
                        <a:buChar char="•"/>
                      </a:pPr>
                      <a:r>
                        <a:rPr lang="es-ES" sz="1600" kern="1200" dirty="0" smtClean="0">
                          <a:solidFill>
                            <a:schemeClr val="dk1"/>
                          </a:solidFill>
                          <a:latin typeface="Trebuchet MS" panose="020B0603020202020204" pitchFamily="34" charset="0"/>
                          <a:ea typeface="+mn-ea"/>
                          <a:cs typeface="+mn-cs"/>
                        </a:rPr>
                        <a:t>Puede tomar tiempo y requerir experiencia adicional o capacitación para crear la salida visual</a:t>
                      </a:r>
                    </a:p>
                    <a:p>
                      <a:pPr marL="285750" marR="0" indent="-285750" algn="l" defTabSz="914400" rtl="0" eaLnBrk="1" fontAlgn="auto" latinLnBrk="0" hangingPunct="1">
                        <a:lnSpc>
                          <a:spcPct val="100000"/>
                        </a:lnSpc>
                        <a:spcBef>
                          <a:spcPts val="0"/>
                        </a:spcBef>
                        <a:spcAft>
                          <a:spcPts val="0"/>
                        </a:spcAft>
                        <a:buClr>
                          <a:srgbClr val="3399FF"/>
                        </a:buClr>
                        <a:buSzTx/>
                        <a:buFont typeface="Arial" panose="020B0604020202020204" pitchFamily="34" charset="0"/>
                        <a:buChar char="•"/>
                        <a:tabLst/>
                        <a:defRPr/>
                      </a:pPr>
                      <a:r>
                        <a:rPr lang="es-ES" sz="1600" kern="1200" dirty="0" smtClean="0">
                          <a:solidFill>
                            <a:schemeClr val="dk1"/>
                          </a:solidFill>
                          <a:latin typeface="Trebuchet MS" panose="020B0603020202020204" pitchFamily="34" charset="0"/>
                          <a:ea typeface="+mn-ea"/>
                          <a:cs typeface="+mn-cs"/>
                        </a:rPr>
                        <a:t>Inconsistencia</a:t>
                      </a:r>
                      <a:r>
                        <a:rPr lang="es-ES" sz="1600" kern="1200" baseline="0" dirty="0" smtClean="0">
                          <a:solidFill>
                            <a:schemeClr val="dk1"/>
                          </a:solidFill>
                          <a:latin typeface="Trebuchet MS" panose="020B0603020202020204" pitchFamily="34" charset="0"/>
                          <a:ea typeface="+mn-ea"/>
                          <a:cs typeface="+mn-cs"/>
                        </a:rPr>
                        <a:t> al realizarla</a:t>
                      </a:r>
                      <a:endParaRPr lang="es-ES" sz="1600" kern="1200" dirty="0" smtClean="0">
                        <a:solidFill>
                          <a:schemeClr val="dk1"/>
                        </a:solidFill>
                        <a:latin typeface="Trebuchet MS" panose="020B0603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4438020"/>
                  </a:ext>
                </a:extLst>
              </a:tr>
            </a:tbl>
          </a:graphicData>
        </a:graphic>
      </p:graphicFrame>
      <p:sp>
        <p:nvSpPr>
          <p:cNvPr id="11" name="Title 1"/>
          <p:cNvSpPr txBox="1">
            <a:spLocks/>
          </p:cNvSpPr>
          <p:nvPr/>
        </p:nvSpPr>
        <p:spPr>
          <a:xfrm>
            <a:off x="911424" y="1003473"/>
            <a:ext cx="9289032" cy="40930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solidFill>
                  <a:srgbClr val="08489E"/>
                </a:solidFill>
                <a:latin typeface="Trebuchet MS" panose="020B0603020202020204" pitchFamily="34" charset="0"/>
              </a:rPr>
              <a:t>Comparación de los tipos de Revisiones 3/3</a:t>
            </a:r>
            <a:endParaRPr lang="en-US" sz="2400" b="1" dirty="0">
              <a:solidFill>
                <a:srgbClr val="08489E"/>
              </a:solidFill>
              <a:latin typeface="Trebuchet MS" panose="020B0603020202020204" pitchFamily="34" charset="0"/>
            </a:endParaRPr>
          </a:p>
        </p:txBody>
      </p:sp>
    </p:spTree>
    <p:extLst>
      <p:ext uri="{BB962C8B-B14F-4D97-AF65-F5344CB8AC3E}">
        <p14:creationId xmlns:p14="http://schemas.microsoft.com/office/powerpoint/2010/main" val="200017982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pic>
        <p:nvPicPr>
          <p:cNvPr id="6" name="Imagen 5"/>
          <p:cNvPicPr/>
          <p:nvPr/>
        </p:nvPicPr>
        <p:blipFill rotWithShape="1">
          <a:blip r:embed="rId3">
            <a:extLst>
              <a:ext uri="{28A0092B-C50C-407E-A947-70E740481C1C}">
                <a14:useLocalDpi xmlns:a14="http://schemas.microsoft.com/office/drawing/2010/main" val="0"/>
              </a:ext>
            </a:extLst>
          </a:blip>
          <a:srcRect t="1" r="32064" b="-10136"/>
          <a:stretch/>
        </p:blipFill>
        <p:spPr bwMode="auto">
          <a:xfrm>
            <a:off x="110789" y="112160"/>
            <a:ext cx="3410075" cy="757457"/>
          </a:xfrm>
          <a:prstGeom prst="rect">
            <a:avLst/>
          </a:prstGeom>
          <a:noFill/>
          <a:ln>
            <a:noFill/>
          </a:ln>
          <a:extLst>
            <a:ext uri="{53640926-AAD7-44D8-BBD7-CCE9431645EC}">
              <a14:shadowObscured xmlns:a14="http://schemas.microsoft.com/office/drawing/2010/main"/>
            </a:ext>
          </a:extLst>
        </p:spPr>
      </p:pic>
      <p:pic>
        <p:nvPicPr>
          <p:cNvPr id="7" name="Imagen 6" descr="Resultado de imagen para instituto tecnologico de orizaba logo"/>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251537" y="77977"/>
            <a:ext cx="779082" cy="805180"/>
          </a:xfrm>
          <a:prstGeom prst="rect">
            <a:avLst/>
          </a:prstGeom>
          <a:noFill/>
          <a:ln>
            <a:noFill/>
          </a:ln>
        </p:spPr>
      </p:pic>
      <p:pic>
        <p:nvPicPr>
          <p:cNvPr id="8" name="Imagen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74675" y="125347"/>
            <a:ext cx="1619264" cy="740391"/>
          </a:xfrm>
          <a:prstGeom prst="rect">
            <a:avLst/>
          </a:prstGeom>
        </p:spPr>
      </p:pic>
      <p:sp>
        <p:nvSpPr>
          <p:cNvPr id="9" name="Rectángulo 8"/>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10" name="Title 1"/>
          <p:cNvSpPr txBox="1">
            <a:spLocks/>
          </p:cNvSpPr>
          <p:nvPr/>
        </p:nvSpPr>
        <p:spPr>
          <a:xfrm>
            <a:off x="911424" y="1003473"/>
            <a:ext cx="9289032" cy="40930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solidFill>
                  <a:srgbClr val="08489E"/>
                </a:solidFill>
                <a:latin typeface="Trebuchet MS" panose="020B0603020202020204" pitchFamily="34" charset="0"/>
              </a:rPr>
              <a:t>Conclusiones</a:t>
            </a:r>
            <a:endParaRPr lang="en-US" sz="2400" b="1" dirty="0">
              <a:solidFill>
                <a:srgbClr val="08489E"/>
              </a:solidFill>
              <a:latin typeface="Trebuchet MS" panose="020B0603020202020204" pitchFamily="34" charset="0"/>
            </a:endParaRPr>
          </a:p>
        </p:txBody>
      </p:sp>
      <p:sp>
        <p:nvSpPr>
          <p:cNvPr id="11" name="3 Rectángulo"/>
          <p:cNvSpPr/>
          <p:nvPr/>
        </p:nvSpPr>
        <p:spPr>
          <a:xfrm>
            <a:off x="911423" y="1585235"/>
            <a:ext cx="10340113" cy="4674036"/>
          </a:xfrm>
          <a:prstGeom prst="rect">
            <a:avLst/>
          </a:prstGeom>
        </p:spPr>
        <p:txBody>
          <a:bodyPr wrap="square">
            <a:spAutoFit/>
          </a:bodyPr>
          <a:lstStyle/>
          <a:p>
            <a:pPr marL="285750" indent="-285750" algn="just">
              <a:lnSpc>
                <a:spcPct val="115000"/>
              </a:lnSpc>
              <a:spcAft>
                <a:spcPts val="1000"/>
              </a:spcAft>
              <a:buClr>
                <a:srgbClr val="3399FF"/>
              </a:buClr>
              <a:buFont typeface="Wingdings" panose="05000000000000000000" pitchFamily="2" charset="2"/>
              <a:buChar char="ü"/>
            </a:pPr>
            <a:r>
              <a:rPr lang="es-MX" sz="1600" dirty="0" smtClean="0">
                <a:latin typeface="Trebuchet MS" panose="020B0603020202020204" pitchFamily="34" charset="0"/>
              </a:rPr>
              <a:t>La</a:t>
            </a:r>
            <a:r>
              <a:rPr lang="es-MX" sz="1600" b="1" i="1" dirty="0" smtClean="0">
                <a:solidFill>
                  <a:srgbClr val="3399FF"/>
                </a:solidFill>
                <a:latin typeface="Trebuchet MS" panose="020B0603020202020204" pitchFamily="34" charset="0"/>
                <a:cs typeface="Times New Roman"/>
              </a:rPr>
              <a:t> Revisión de alcance </a:t>
            </a:r>
            <a:r>
              <a:rPr lang="es-MX" sz="1600" dirty="0">
                <a:latin typeface="Trebuchet MS" panose="020B0603020202020204" pitchFamily="34" charset="0"/>
              </a:rPr>
              <a:t>y </a:t>
            </a:r>
            <a:r>
              <a:rPr lang="es-MX" sz="1600" dirty="0" smtClean="0">
                <a:latin typeface="Trebuchet MS" panose="020B0603020202020204" pitchFamily="34" charset="0"/>
              </a:rPr>
              <a:t>el </a:t>
            </a:r>
            <a:r>
              <a:rPr lang="es-ES" altLang="es-MX" sz="1600" b="1" i="1" dirty="0">
                <a:solidFill>
                  <a:srgbClr val="3399FF"/>
                </a:solidFill>
                <a:latin typeface="Trebuchet MS" panose="020B0603020202020204" pitchFamily="34" charset="0"/>
                <a:ea typeface="Times New Roman"/>
                <a:cs typeface="Times New Roman"/>
              </a:rPr>
              <a:t>Estudio de Mapeo Sistemático </a:t>
            </a:r>
            <a:r>
              <a:rPr lang="es-ES" sz="1600" dirty="0" smtClean="0">
                <a:latin typeface="Trebuchet MS" panose="020B0603020202020204" pitchFamily="34" charset="0"/>
              </a:rPr>
              <a:t>se utilizan para </a:t>
            </a:r>
            <a:r>
              <a:rPr lang="es-ES" sz="1600" dirty="0">
                <a:latin typeface="Trebuchet MS" panose="020B0603020202020204" pitchFamily="34" charset="0"/>
              </a:rPr>
              <a:t>identificar un área temática para una futura </a:t>
            </a:r>
            <a:r>
              <a:rPr lang="es-ES" sz="1600" b="1" i="1" dirty="0" smtClean="0">
                <a:solidFill>
                  <a:srgbClr val="3399FF"/>
                </a:solidFill>
                <a:latin typeface="Trebuchet MS" panose="020B0603020202020204" pitchFamily="34" charset="0"/>
                <a:ea typeface="Times New Roman"/>
                <a:cs typeface="Times New Roman"/>
              </a:rPr>
              <a:t>Revisión Sistemática</a:t>
            </a:r>
            <a:r>
              <a:rPr lang="es-ES" sz="1600" dirty="0" smtClean="0">
                <a:latin typeface="Trebuchet MS" panose="020B0603020202020204" pitchFamily="34" charset="0"/>
              </a:rPr>
              <a:t>.  La</a:t>
            </a:r>
            <a:r>
              <a:rPr lang="es-ES" sz="1600" b="1" i="1" dirty="0" smtClean="0">
                <a:solidFill>
                  <a:srgbClr val="3399FF"/>
                </a:solidFill>
                <a:latin typeface="Trebuchet MS" panose="020B0603020202020204" pitchFamily="34" charset="0"/>
                <a:ea typeface="Times New Roman"/>
                <a:cs typeface="Times New Roman"/>
              </a:rPr>
              <a:t> Revisión </a:t>
            </a:r>
            <a:r>
              <a:rPr lang="es-ES" sz="1600" b="1" i="1" dirty="0">
                <a:solidFill>
                  <a:srgbClr val="3399FF"/>
                </a:solidFill>
                <a:latin typeface="Trebuchet MS" panose="020B0603020202020204" pitchFamily="34" charset="0"/>
                <a:ea typeface="Times New Roman"/>
                <a:cs typeface="Times New Roman"/>
              </a:rPr>
              <a:t>Sistemática</a:t>
            </a:r>
            <a:r>
              <a:rPr lang="es-ES" sz="1600" b="1" i="1" dirty="0" smtClean="0">
                <a:solidFill>
                  <a:srgbClr val="3399FF"/>
                </a:solidFill>
                <a:latin typeface="Trebuchet MS" panose="020B0603020202020204" pitchFamily="34" charset="0"/>
                <a:ea typeface="Times New Roman"/>
                <a:cs typeface="Times New Roman"/>
              </a:rPr>
              <a:t> </a:t>
            </a:r>
            <a:r>
              <a:rPr lang="es-ES" sz="1600" dirty="0">
                <a:latin typeface="Trebuchet MS" panose="020B0603020202020204" pitchFamily="34" charset="0"/>
              </a:rPr>
              <a:t>se utiliza para abordar preguntas </a:t>
            </a:r>
            <a:r>
              <a:rPr lang="es-ES" sz="1600" dirty="0" smtClean="0">
                <a:latin typeface="Trebuchet MS" panose="020B0603020202020204" pitchFamily="34" charset="0"/>
              </a:rPr>
              <a:t>de investigación más específicas con calificadores (por ejemplo, los resultados se aplican a un tipo específico de tecnología).</a:t>
            </a:r>
          </a:p>
          <a:p>
            <a:pPr marL="285750" indent="-285750" algn="just">
              <a:lnSpc>
                <a:spcPct val="115000"/>
              </a:lnSpc>
              <a:spcAft>
                <a:spcPts val="1000"/>
              </a:spcAft>
              <a:buClr>
                <a:srgbClr val="3399FF"/>
              </a:buClr>
              <a:buFont typeface="Wingdings" panose="05000000000000000000" pitchFamily="2" charset="2"/>
              <a:buChar char="ü"/>
            </a:pPr>
            <a:r>
              <a:rPr lang="es-MX" sz="1600" dirty="0" smtClean="0">
                <a:latin typeface="Trebuchet MS" panose="020B0603020202020204" pitchFamily="34" charset="0"/>
              </a:rPr>
              <a:t>La</a:t>
            </a:r>
            <a:r>
              <a:rPr lang="es-MX" sz="1600" b="1" i="1" dirty="0" smtClean="0">
                <a:solidFill>
                  <a:srgbClr val="3399FF"/>
                </a:solidFill>
                <a:latin typeface="Trebuchet MS" panose="020B0603020202020204" pitchFamily="34" charset="0"/>
                <a:cs typeface="Times New Roman"/>
              </a:rPr>
              <a:t> </a:t>
            </a:r>
            <a:r>
              <a:rPr lang="es-MX" sz="1600" b="1" i="1" dirty="0">
                <a:solidFill>
                  <a:srgbClr val="3399FF"/>
                </a:solidFill>
                <a:latin typeface="Trebuchet MS" panose="020B0603020202020204" pitchFamily="34" charset="0"/>
                <a:cs typeface="Times New Roman"/>
              </a:rPr>
              <a:t>Revisión de alcance </a:t>
            </a:r>
            <a:r>
              <a:rPr lang="es-MX" sz="1600" dirty="0">
                <a:latin typeface="Trebuchet MS" panose="020B0603020202020204" pitchFamily="34" charset="0"/>
              </a:rPr>
              <a:t>y el </a:t>
            </a:r>
            <a:r>
              <a:rPr lang="es-ES" altLang="es-MX" sz="1600" b="1" i="1" dirty="0">
                <a:solidFill>
                  <a:srgbClr val="3399FF"/>
                </a:solidFill>
                <a:latin typeface="Trebuchet MS" panose="020B0603020202020204" pitchFamily="34" charset="0"/>
                <a:ea typeface="Times New Roman"/>
                <a:cs typeface="Times New Roman"/>
              </a:rPr>
              <a:t>Estudio de Mapeo Sistemático</a:t>
            </a:r>
            <a:r>
              <a:rPr lang="es-ES" altLang="es-MX" sz="1600" b="1" i="1" dirty="0" smtClean="0">
                <a:solidFill>
                  <a:srgbClr val="3399FF"/>
                </a:solidFill>
                <a:latin typeface="Trebuchet MS" panose="020B0603020202020204" pitchFamily="34" charset="0"/>
                <a:ea typeface="Times New Roman"/>
                <a:cs typeface="Times New Roman"/>
              </a:rPr>
              <a:t> </a:t>
            </a:r>
            <a:r>
              <a:rPr lang="es-ES" altLang="es-MX" sz="1600" dirty="0" smtClean="0">
                <a:latin typeface="Trebuchet MS" panose="020B0603020202020204" pitchFamily="34" charset="0"/>
              </a:rPr>
              <a:t>permiten estructurar </a:t>
            </a:r>
            <a:r>
              <a:rPr lang="es-ES" altLang="es-MX" sz="1600" dirty="0">
                <a:latin typeface="Trebuchet MS" panose="020B0603020202020204" pitchFamily="34" charset="0"/>
              </a:rPr>
              <a:t>un área de investigación, mientras que </a:t>
            </a:r>
            <a:r>
              <a:rPr lang="es-ES" altLang="es-MX" sz="1600" dirty="0" smtClean="0">
                <a:latin typeface="Trebuchet MS" panose="020B0603020202020204" pitchFamily="34" charset="0"/>
              </a:rPr>
              <a:t>l</a:t>
            </a:r>
            <a:r>
              <a:rPr lang="es-ES" sz="1600" dirty="0" smtClean="0">
                <a:latin typeface="Trebuchet MS" panose="020B0603020202020204" pitchFamily="34" charset="0"/>
              </a:rPr>
              <a:t>a</a:t>
            </a:r>
            <a:r>
              <a:rPr lang="es-ES" sz="1600" b="1" i="1" dirty="0" smtClean="0">
                <a:solidFill>
                  <a:srgbClr val="3399FF"/>
                </a:solidFill>
                <a:latin typeface="Trebuchet MS" panose="020B0603020202020204" pitchFamily="34" charset="0"/>
                <a:ea typeface="Times New Roman"/>
                <a:cs typeface="Times New Roman"/>
              </a:rPr>
              <a:t> </a:t>
            </a:r>
            <a:r>
              <a:rPr lang="es-ES" sz="1600" b="1" i="1" dirty="0">
                <a:solidFill>
                  <a:srgbClr val="3399FF"/>
                </a:solidFill>
                <a:latin typeface="Trebuchet MS" panose="020B0603020202020204" pitchFamily="34" charset="0"/>
                <a:ea typeface="Times New Roman"/>
                <a:cs typeface="Times New Roman"/>
              </a:rPr>
              <a:t>Revisión Sistemática </a:t>
            </a:r>
            <a:r>
              <a:rPr lang="es-ES" altLang="es-MX" sz="1600" dirty="0" smtClean="0">
                <a:latin typeface="Trebuchet MS" panose="020B0603020202020204" pitchFamily="34" charset="0"/>
              </a:rPr>
              <a:t>se </a:t>
            </a:r>
            <a:r>
              <a:rPr lang="es-ES" altLang="es-MX" sz="1600" dirty="0">
                <a:latin typeface="Trebuchet MS" panose="020B0603020202020204" pitchFamily="34" charset="0"/>
              </a:rPr>
              <a:t>centra en reunir y sintetizar la evidencia. </a:t>
            </a:r>
            <a:endParaRPr lang="es-ES" altLang="es-MX" sz="1600" dirty="0" smtClean="0">
              <a:latin typeface="Trebuchet MS" panose="020B0603020202020204" pitchFamily="34" charset="0"/>
            </a:endParaRPr>
          </a:p>
          <a:p>
            <a:pPr marL="285750" indent="-285750" algn="just">
              <a:lnSpc>
                <a:spcPct val="115000"/>
              </a:lnSpc>
              <a:spcAft>
                <a:spcPts val="1000"/>
              </a:spcAft>
              <a:buClr>
                <a:srgbClr val="3399FF"/>
              </a:buClr>
              <a:buFont typeface="Wingdings" panose="05000000000000000000" pitchFamily="2" charset="2"/>
              <a:buChar char="ü"/>
            </a:pPr>
            <a:r>
              <a:rPr lang="es-ES" altLang="es-MX" sz="1600" dirty="0" smtClean="0">
                <a:latin typeface="Trebuchet MS" panose="020B0603020202020204" pitchFamily="34" charset="0"/>
              </a:rPr>
              <a:t>La estrategia de búsqueda y la evaluación de la calidad de los trabajos relacionados de una</a:t>
            </a:r>
            <a:r>
              <a:rPr lang="es-ES" sz="1600" b="1" i="1" dirty="0">
                <a:solidFill>
                  <a:srgbClr val="3399FF"/>
                </a:solidFill>
                <a:latin typeface="Trebuchet MS" panose="020B0603020202020204" pitchFamily="34" charset="0"/>
                <a:ea typeface="Times New Roman"/>
                <a:cs typeface="Times New Roman"/>
              </a:rPr>
              <a:t> Revisión Sistemática </a:t>
            </a:r>
            <a:r>
              <a:rPr lang="es-ES" sz="1600" dirty="0">
                <a:latin typeface="Trebuchet MS" panose="020B0603020202020204" pitchFamily="34" charset="0"/>
              </a:rPr>
              <a:t>son más estrictas que </a:t>
            </a:r>
            <a:r>
              <a:rPr lang="es-ES" sz="1600" dirty="0" smtClean="0">
                <a:latin typeface="Trebuchet MS" panose="020B0603020202020204" pitchFamily="34" charset="0"/>
              </a:rPr>
              <a:t>las de</a:t>
            </a:r>
            <a:r>
              <a:rPr lang="es-MX" sz="1600" b="1" i="1" dirty="0" smtClean="0">
                <a:solidFill>
                  <a:srgbClr val="3399FF"/>
                </a:solidFill>
                <a:latin typeface="Trebuchet MS" panose="020B0603020202020204" pitchFamily="34" charset="0"/>
                <a:cs typeface="Times New Roman"/>
              </a:rPr>
              <a:t> </a:t>
            </a:r>
            <a:r>
              <a:rPr lang="es-MX" sz="1600" b="1" i="1" dirty="0">
                <a:solidFill>
                  <a:srgbClr val="3399FF"/>
                </a:solidFill>
                <a:latin typeface="Trebuchet MS" panose="020B0603020202020204" pitchFamily="34" charset="0"/>
                <a:cs typeface="Times New Roman"/>
              </a:rPr>
              <a:t>Revisión de alcance </a:t>
            </a:r>
            <a:r>
              <a:rPr lang="es-MX" sz="1600" dirty="0" smtClean="0">
                <a:latin typeface="Trebuchet MS" panose="020B0603020202020204" pitchFamily="34" charset="0"/>
              </a:rPr>
              <a:t>o </a:t>
            </a:r>
            <a:r>
              <a:rPr lang="es-ES" altLang="es-MX" sz="1600" b="1" i="1" dirty="0" smtClean="0">
                <a:solidFill>
                  <a:srgbClr val="3399FF"/>
                </a:solidFill>
                <a:latin typeface="Trebuchet MS" panose="020B0603020202020204" pitchFamily="34" charset="0"/>
                <a:ea typeface="Times New Roman"/>
                <a:cs typeface="Times New Roman"/>
              </a:rPr>
              <a:t>Estudio </a:t>
            </a:r>
            <a:r>
              <a:rPr lang="es-ES" altLang="es-MX" sz="1600" b="1" i="1" dirty="0">
                <a:solidFill>
                  <a:srgbClr val="3399FF"/>
                </a:solidFill>
                <a:latin typeface="Trebuchet MS" panose="020B0603020202020204" pitchFamily="34" charset="0"/>
                <a:ea typeface="Times New Roman"/>
                <a:cs typeface="Times New Roman"/>
              </a:rPr>
              <a:t>de Mapeo </a:t>
            </a:r>
            <a:r>
              <a:rPr lang="es-ES" altLang="es-MX" sz="1600" b="1" i="1" dirty="0" smtClean="0">
                <a:solidFill>
                  <a:srgbClr val="3399FF"/>
                </a:solidFill>
                <a:latin typeface="Trebuchet MS" panose="020B0603020202020204" pitchFamily="34" charset="0"/>
                <a:ea typeface="Times New Roman"/>
                <a:cs typeface="Times New Roman"/>
              </a:rPr>
              <a:t>Sistemático.</a:t>
            </a:r>
          </a:p>
          <a:p>
            <a:pPr marL="285750" indent="-285750" algn="just">
              <a:lnSpc>
                <a:spcPct val="115000"/>
              </a:lnSpc>
              <a:spcAft>
                <a:spcPts val="1000"/>
              </a:spcAft>
              <a:buClr>
                <a:srgbClr val="3399FF"/>
              </a:buClr>
              <a:buFont typeface="Wingdings" panose="05000000000000000000" pitchFamily="2" charset="2"/>
              <a:buChar char="ü"/>
            </a:pPr>
            <a:r>
              <a:rPr lang="es-MX" sz="1600" dirty="0">
                <a:latin typeface="Trebuchet MS" panose="020B0603020202020204" pitchFamily="34" charset="0"/>
              </a:rPr>
              <a:t>La</a:t>
            </a:r>
            <a:r>
              <a:rPr lang="es-MX" sz="1600" b="1" i="1" dirty="0">
                <a:solidFill>
                  <a:srgbClr val="3399FF"/>
                </a:solidFill>
                <a:latin typeface="Trebuchet MS" panose="020B0603020202020204" pitchFamily="34" charset="0"/>
                <a:cs typeface="Times New Roman"/>
              </a:rPr>
              <a:t> Revisión de alcance </a:t>
            </a:r>
            <a:r>
              <a:rPr lang="es-MX" sz="1600" dirty="0">
                <a:latin typeface="Trebuchet MS" panose="020B0603020202020204" pitchFamily="34" charset="0"/>
              </a:rPr>
              <a:t>y el </a:t>
            </a:r>
            <a:r>
              <a:rPr lang="es-ES" altLang="es-MX" sz="1600" b="1" i="1" dirty="0">
                <a:solidFill>
                  <a:srgbClr val="3399FF"/>
                </a:solidFill>
                <a:latin typeface="Trebuchet MS" panose="020B0603020202020204" pitchFamily="34" charset="0"/>
                <a:ea typeface="Times New Roman"/>
                <a:cs typeface="Times New Roman"/>
              </a:rPr>
              <a:t>Estudio de Mapeo Sistemático </a:t>
            </a:r>
            <a:r>
              <a:rPr lang="es-ES" altLang="es-MX" sz="1600" dirty="0">
                <a:latin typeface="Trebuchet MS" panose="020B0603020202020204" pitchFamily="34" charset="0"/>
              </a:rPr>
              <a:t>tienen como propósito: identificar</a:t>
            </a:r>
            <a:r>
              <a:rPr lang="es-ES" sz="1600" dirty="0">
                <a:latin typeface="Trebuchet MS" panose="020B0603020202020204" pitchFamily="34" charset="0"/>
              </a:rPr>
              <a:t> brechas de conocimiento, abarcar un conjunto de literatura, aclarar conceptos o detectar </a:t>
            </a:r>
            <a:r>
              <a:rPr lang="es-ES" altLang="es-MX" sz="1600" dirty="0">
                <a:latin typeface="Trebuchet MS" panose="020B0603020202020204" pitchFamily="34" charset="0"/>
              </a:rPr>
              <a:t>las tendencias de un tema de investigación.</a:t>
            </a:r>
          </a:p>
          <a:p>
            <a:pPr marL="285750" indent="-285750" algn="just">
              <a:lnSpc>
                <a:spcPct val="115000"/>
              </a:lnSpc>
              <a:spcAft>
                <a:spcPts val="1000"/>
              </a:spcAft>
              <a:buClr>
                <a:srgbClr val="3399FF"/>
              </a:buClr>
              <a:buFont typeface="Wingdings" panose="05000000000000000000" pitchFamily="2" charset="2"/>
              <a:buChar char="ü"/>
            </a:pPr>
            <a:r>
              <a:rPr lang="es-MX" sz="1600" dirty="0">
                <a:latin typeface="Trebuchet MS" panose="020B0603020202020204" pitchFamily="34" charset="0"/>
              </a:rPr>
              <a:t>El </a:t>
            </a:r>
            <a:r>
              <a:rPr lang="es-ES" altLang="es-MX" sz="1600" b="1" i="1" dirty="0">
                <a:solidFill>
                  <a:srgbClr val="3399FF"/>
                </a:solidFill>
                <a:latin typeface="Trebuchet MS" panose="020B0603020202020204" pitchFamily="34" charset="0"/>
                <a:ea typeface="Times New Roman"/>
                <a:cs typeface="Times New Roman"/>
              </a:rPr>
              <a:t>Estudio de Mapeo Sistemático</a:t>
            </a:r>
            <a:r>
              <a:rPr lang="es-MX" sz="1600" dirty="0">
                <a:latin typeface="Trebuchet MS" panose="020B0603020202020204" pitchFamily="34" charset="0"/>
              </a:rPr>
              <a:t> emplea métodos similares a una </a:t>
            </a:r>
            <a:r>
              <a:rPr lang="es-ES" sz="1600" b="1" i="1" dirty="0">
                <a:solidFill>
                  <a:srgbClr val="3399FF"/>
                </a:solidFill>
                <a:latin typeface="Trebuchet MS" panose="020B0603020202020204" pitchFamily="34" charset="0"/>
                <a:ea typeface="Times New Roman"/>
                <a:cs typeface="Times New Roman"/>
              </a:rPr>
              <a:t>Revisión Sistemática</a:t>
            </a:r>
            <a:r>
              <a:rPr lang="es-MX" sz="1600" dirty="0">
                <a:latin typeface="Trebuchet MS" panose="020B0603020202020204" pitchFamily="34" charset="0"/>
              </a:rPr>
              <a:t>, pero suele ser un estudio que no analizan los resultados presentados en los artículos que conforman el mapeo.</a:t>
            </a:r>
          </a:p>
          <a:p>
            <a:pPr marL="285750" indent="-285750" algn="just">
              <a:lnSpc>
                <a:spcPct val="115000"/>
              </a:lnSpc>
              <a:spcAft>
                <a:spcPts val="1000"/>
              </a:spcAft>
              <a:buClr>
                <a:srgbClr val="3399FF"/>
              </a:buClr>
              <a:buFont typeface="Arial" panose="020B0604020202020204" pitchFamily="34" charset="0"/>
              <a:buChar char="•"/>
            </a:pPr>
            <a:endParaRPr lang="es-ES" altLang="es-MX" sz="1600" b="1" i="1" dirty="0" smtClean="0">
              <a:solidFill>
                <a:srgbClr val="3399FF"/>
              </a:solidFill>
              <a:latin typeface="Trebuchet MS" panose="020B0603020202020204" pitchFamily="34" charset="0"/>
              <a:ea typeface="Times New Roman"/>
              <a:cs typeface="Times New Roman"/>
            </a:endParaRPr>
          </a:p>
        </p:txBody>
      </p:sp>
    </p:spTree>
    <p:extLst>
      <p:ext uri="{BB962C8B-B14F-4D97-AF65-F5344CB8AC3E}">
        <p14:creationId xmlns:p14="http://schemas.microsoft.com/office/powerpoint/2010/main" val="52964560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pic>
        <p:nvPicPr>
          <p:cNvPr id="6" name="Imagen 5"/>
          <p:cNvPicPr/>
          <p:nvPr/>
        </p:nvPicPr>
        <p:blipFill rotWithShape="1">
          <a:blip r:embed="rId3">
            <a:extLst>
              <a:ext uri="{28A0092B-C50C-407E-A947-70E740481C1C}">
                <a14:useLocalDpi xmlns:a14="http://schemas.microsoft.com/office/drawing/2010/main" val="0"/>
              </a:ext>
            </a:extLst>
          </a:blip>
          <a:srcRect t="1" r="32064" b="-10136"/>
          <a:stretch/>
        </p:blipFill>
        <p:spPr bwMode="auto">
          <a:xfrm>
            <a:off x="110789" y="112160"/>
            <a:ext cx="3410075" cy="757457"/>
          </a:xfrm>
          <a:prstGeom prst="rect">
            <a:avLst/>
          </a:prstGeom>
          <a:noFill/>
          <a:ln>
            <a:noFill/>
          </a:ln>
          <a:extLst>
            <a:ext uri="{53640926-AAD7-44D8-BBD7-CCE9431645EC}">
              <a14:shadowObscured xmlns:a14="http://schemas.microsoft.com/office/drawing/2010/main"/>
            </a:ext>
          </a:extLst>
        </p:spPr>
      </p:pic>
      <p:pic>
        <p:nvPicPr>
          <p:cNvPr id="7" name="Imagen 6" descr="Resultado de imagen para instituto tecnologico de orizaba logo"/>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251537" y="77977"/>
            <a:ext cx="779082" cy="805180"/>
          </a:xfrm>
          <a:prstGeom prst="rect">
            <a:avLst/>
          </a:prstGeom>
          <a:noFill/>
          <a:ln>
            <a:noFill/>
          </a:ln>
        </p:spPr>
      </p:pic>
      <p:pic>
        <p:nvPicPr>
          <p:cNvPr id="8" name="Imagen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74675" y="125347"/>
            <a:ext cx="1619264" cy="740391"/>
          </a:xfrm>
          <a:prstGeom prst="rect">
            <a:avLst/>
          </a:prstGeom>
        </p:spPr>
      </p:pic>
      <p:sp>
        <p:nvSpPr>
          <p:cNvPr id="9" name="Rectángulo 8"/>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10" name="Title 1"/>
          <p:cNvSpPr txBox="1">
            <a:spLocks/>
          </p:cNvSpPr>
          <p:nvPr/>
        </p:nvSpPr>
        <p:spPr>
          <a:xfrm>
            <a:off x="911424" y="1003473"/>
            <a:ext cx="9289032" cy="40930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solidFill>
                  <a:srgbClr val="08489E"/>
                </a:solidFill>
                <a:latin typeface="Trebuchet MS" panose="020B0603020202020204" pitchFamily="34" charset="0"/>
              </a:rPr>
              <a:t>Recomendaciones 1/3</a:t>
            </a:r>
            <a:endParaRPr lang="en-US" sz="2400" b="1" dirty="0">
              <a:solidFill>
                <a:srgbClr val="08489E"/>
              </a:solidFill>
              <a:latin typeface="Trebuchet MS" panose="020B0603020202020204" pitchFamily="34" charset="0"/>
            </a:endParaRPr>
          </a:p>
        </p:txBody>
      </p:sp>
      <p:sp>
        <p:nvSpPr>
          <p:cNvPr id="12" name="Elipse 11"/>
          <p:cNvSpPr/>
          <p:nvPr/>
        </p:nvSpPr>
        <p:spPr>
          <a:xfrm>
            <a:off x="3431704" y="1340768"/>
            <a:ext cx="5180025" cy="4943516"/>
          </a:xfrm>
          <a:prstGeom prst="ellipse">
            <a:avLst/>
          </a:prstGeom>
          <a:solidFill>
            <a:schemeClr val="bg1">
              <a:lumMod val="65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15" name="CuadroTexto 14"/>
          <p:cNvSpPr txBox="1"/>
          <p:nvPr/>
        </p:nvSpPr>
        <p:spPr>
          <a:xfrm>
            <a:off x="5018388" y="5340454"/>
            <a:ext cx="2006655" cy="584775"/>
          </a:xfrm>
          <a:prstGeom prst="rect">
            <a:avLst/>
          </a:prstGeom>
          <a:noFill/>
        </p:spPr>
        <p:txBody>
          <a:bodyPr wrap="square" rtlCol="0">
            <a:spAutoFit/>
          </a:bodyPr>
          <a:lstStyle/>
          <a:p>
            <a:pPr algn="ctr"/>
            <a:r>
              <a:rPr lang="es-MX" sz="1600" b="1" dirty="0" smtClean="0">
                <a:solidFill>
                  <a:schemeClr val="bg1"/>
                </a:solidFill>
                <a:latin typeface="Trebuchet MS" panose="020B0603020202020204" pitchFamily="34" charset="0"/>
              </a:rPr>
              <a:t>Estudio de Mapeo Sistemático</a:t>
            </a:r>
            <a:endParaRPr lang="es-MX" sz="1600" b="1" dirty="0">
              <a:solidFill>
                <a:schemeClr val="bg1"/>
              </a:solidFill>
              <a:latin typeface="Trebuchet MS" panose="020B0603020202020204" pitchFamily="34" charset="0"/>
            </a:endParaRPr>
          </a:p>
        </p:txBody>
      </p:sp>
      <p:sp>
        <p:nvSpPr>
          <p:cNvPr id="2" name="Elipse 1"/>
          <p:cNvSpPr/>
          <p:nvPr/>
        </p:nvSpPr>
        <p:spPr>
          <a:xfrm>
            <a:off x="4223792" y="1484784"/>
            <a:ext cx="3672408" cy="3672408"/>
          </a:xfrm>
          <a:prstGeom prst="ellipse">
            <a:avLst/>
          </a:prstGeom>
          <a:solidFill>
            <a:schemeClr val="accent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s-MX" dirty="0"/>
          </a:p>
        </p:txBody>
      </p:sp>
      <p:sp>
        <p:nvSpPr>
          <p:cNvPr id="13" name="Elipse 12"/>
          <p:cNvSpPr/>
          <p:nvPr/>
        </p:nvSpPr>
        <p:spPr>
          <a:xfrm>
            <a:off x="5194432" y="1628800"/>
            <a:ext cx="1837672" cy="1728192"/>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600" b="1" dirty="0">
                <a:latin typeface="Trebuchet MS" panose="020B0603020202020204" pitchFamily="34" charset="0"/>
              </a:rPr>
              <a:t>Revisión Sistemática</a:t>
            </a:r>
          </a:p>
          <a:p>
            <a:pPr algn="ctr"/>
            <a:endParaRPr lang="es-MX" sz="1600" b="1" dirty="0">
              <a:latin typeface="Trebuchet MS" panose="020B0603020202020204" pitchFamily="34" charset="0"/>
            </a:endParaRPr>
          </a:p>
        </p:txBody>
      </p:sp>
      <p:sp>
        <p:nvSpPr>
          <p:cNvPr id="14" name="CuadroTexto 13"/>
          <p:cNvSpPr txBox="1"/>
          <p:nvPr/>
        </p:nvSpPr>
        <p:spPr>
          <a:xfrm>
            <a:off x="5117684" y="3730958"/>
            <a:ext cx="2088232" cy="338554"/>
          </a:xfrm>
          <a:prstGeom prst="rect">
            <a:avLst/>
          </a:prstGeom>
          <a:noFill/>
        </p:spPr>
        <p:txBody>
          <a:bodyPr wrap="square" rtlCol="0">
            <a:spAutoFit/>
          </a:bodyPr>
          <a:lstStyle/>
          <a:p>
            <a:r>
              <a:rPr lang="es-MX" sz="1600" b="1" dirty="0" smtClean="0">
                <a:solidFill>
                  <a:schemeClr val="bg1"/>
                </a:solidFill>
                <a:latin typeface="Trebuchet MS" panose="020B0603020202020204" pitchFamily="34" charset="0"/>
              </a:rPr>
              <a:t>Revisión de alcance</a:t>
            </a:r>
            <a:endParaRPr lang="es-MX" sz="1600" b="1" dirty="0">
              <a:solidFill>
                <a:schemeClr val="bg1"/>
              </a:solidFill>
              <a:latin typeface="Trebuchet MS" panose="020B0603020202020204" pitchFamily="34" charset="0"/>
            </a:endParaRPr>
          </a:p>
        </p:txBody>
      </p:sp>
      <p:sp>
        <p:nvSpPr>
          <p:cNvPr id="4" name="Rectángulo 3"/>
          <p:cNvSpPr/>
          <p:nvPr/>
        </p:nvSpPr>
        <p:spPr>
          <a:xfrm>
            <a:off x="4874478" y="883157"/>
            <a:ext cx="2294474" cy="369332"/>
          </a:xfrm>
          <a:prstGeom prst="rect">
            <a:avLst/>
          </a:prstGeom>
        </p:spPr>
        <p:txBody>
          <a:bodyPr wrap="none">
            <a:spAutoFit/>
          </a:bodyPr>
          <a:lstStyle/>
          <a:p>
            <a:pPr>
              <a:buClr>
                <a:srgbClr val="992732"/>
              </a:buClr>
              <a:buSzPct val="140000"/>
            </a:pPr>
            <a:r>
              <a:rPr lang="en-US" b="1" dirty="0">
                <a:solidFill>
                  <a:srgbClr val="3399FF"/>
                </a:solidFill>
                <a:latin typeface="Trebuchet MS" panose="020B0603020202020204" pitchFamily="34" charset="0"/>
              </a:rPr>
              <a:t>Tipos de Revisiones</a:t>
            </a:r>
          </a:p>
        </p:txBody>
      </p:sp>
      <p:pic>
        <p:nvPicPr>
          <p:cNvPr id="11" name="Imagen 1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03817" y="2988575"/>
            <a:ext cx="1342907" cy="1342907"/>
          </a:xfrm>
          <a:prstGeom prst="rect">
            <a:avLst/>
          </a:prstGeom>
        </p:spPr>
      </p:pic>
      <p:pic>
        <p:nvPicPr>
          <p:cNvPr id="16" name="Imagen 15"/>
          <p:cNvPicPr>
            <a:picLocks noChangeAspect="1"/>
          </p:cNvPicPr>
          <p:nvPr/>
        </p:nvPicPr>
        <p:blipFill>
          <a:blip r:embed="rId7"/>
          <a:stretch>
            <a:fillRect/>
          </a:stretch>
        </p:blipFill>
        <p:spPr>
          <a:xfrm>
            <a:off x="983432" y="2636912"/>
            <a:ext cx="1921398" cy="2046235"/>
          </a:xfrm>
          <a:prstGeom prst="rect">
            <a:avLst/>
          </a:prstGeom>
        </p:spPr>
      </p:pic>
    </p:spTree>
    <p:extLst>
      <p:ext uri="{BB962C8B-B14F-4D97-AF65-F5344CB8AC3E}">
        <p14:creationId xmlns:p14="http://schemas.microsoft.com/office/powerpoint/2010/main" val="200521642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pic>
        <p:nvPicPr>
          <p:cNvPr id="6" name="Imagen 5"/>
          <p:cNvPicPr/>
          <p:nvPr/>
        </p:nvPicPr>
        <p:blipFill rotWithShape="1">
          <a:blip r:embed="rId3">
            <a:extLst>
              <a:ext uri="{28A0092B-C50C-407E-A947-70E740481C1C}">
                <a14:useLocalDpi xmlns:a14="http://schemas.microsoft.com/office/drawing/2010/main" val="0"/>
              </a:ext>
            </a:extLst>
          </a:blip>
          <a:srcRect t="1" r="32064" b="-10136"/>
          <a:stretch/>
        </p:blipFill>
        <p:spPr bwMode="auto">
          <a:xfrm>
            <a:off x="110789" y="112160"/>
            <a:ext cx="3410075" cy="757457"/>
          </a:xfrm>
          <a:prstGeom prst="rect">
            <a:avLst/>
          </a:prstGeom>
          <a:noFill/>
          <a:ln>
            <a:noFill/>
          </a:ln>
          <a:extLst>
            <a:ext uri="{53640926-AAD7-44D8-BBD7-CCE9431645EC}">
              <a14:shadowObscured xmlns:a14="http://schemas.microsoft.com/office/drawing/2010/main"/>
            </a:ext>
          </a:extLst>
        </p:spPr>
      </p:pic>
      <p:pic>
        <p:nvPicPr>
          <p:cNvPr id="7" name="Imagen 6" descr="Resultado de imagen para instituto tecnologico de orizaba logo"/>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251537" y="77977"/>
            <a:ext cx="779082" cy="805180"/>
          </a:xfrm>
          <a:prstGeom prst="rect">
            <a:avLst/>
          </a:prstGeom>
          <a:noFill/>
          <a:ln>
            <a:noFill/>
          </a:ln>
        </p:spPr>
      </p:pic>
      <p:pic>
        <p:nvPicPr>
          <p:cNvPr id="8" name="Imagen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74675" y="125347"/>
            <a:ext cx="1619264" cy="740391"/>
          </a:xfrm>
          <a:prstGeom prst="rect">
            <a:avLst/>
          </a:prstGeom>
        </p:spPr>
      </p:pic>
      <p:sp>
        <p:nvSpPr>
          <p:cNvPr id="9" name="Rectángulo 8"/>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10" name="Title 1"/>
          <p:cNvSpPr txBox="1">
            <a:spLocks/>
          </p:cNvSpPr>
          <p:nvPr/>
        </p:nvSpPr>
        <p:spPr>
          <a:xfrm>
            <a:off x="911424" y="1003473"/>
            <a:ext cx="9289032" cy="40930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solidFill>
                  <a:srgbClr val="08489E"/>
                </a:solidFill>
                <a:latin typeface="Trebuchet MS" panose="020B0603020202020204" pitchFamily="34" charset="0"/>
              </a:rPr>
              <a:t>Recomendaciones 2/3</a:t>
            </a:r>
            <a:endParaRPr lang="en-US" sz="2400" b="1" dirty="0">
              <a:solidFill>
                <a:srgbClr val="08489E"/>
              </a:solidFill>
              <a:latin typeface="Trebuchet MS" panose="020B0603020202020204" pitchFamily="34" charset="0"/>
            </a:endParaRPr>
          </a:p>
        </p:txBody>
      </p:sp>
      <p:sp>
        <p:nvSpPr>
          <p:cNvPr id="11" name="3 Rectángulo"/>
          <p:cNvSpPr/>
          <p:nvPr/>
        </p:nvSpPr>
        <p:spPr>
          <a:xfrm>
            <a:off x="911423" y="1585235"/>
            <a:ext cx="10585177" cy="4516108"/>
          </a:xfrm>
          <a:prstGeom prst="rect">
            <a:avLst/>
          </a:prstGeom>
        </p:spPr>
        <p:txBody>
          <a:bodyPr wrap="square">
            <a:spAutoFit/>
          </a:bodyPr>
          <a:lstStyle/>
          <a:p>
            <a:pPr algn="just">
              <a:lnSpc>
                <a:spcPct val="115000"/>
              </a:lnSpc>
              <a:spcAft>
                <a:spcPts val="1000"/>
              </a:spcAft>
              <a:buClr>
                <a:srgbClr val="3399FF"/>
              </a:buClr>
            </a:pPr>
            <a:r>
              <a:rPr lang="es-MX" sz="2000" b="1" dirty="0" smtClean="0">
                <a:solidFill>
                  <a:srgbClr val="A50021"/>
                </a:solidFill>
                <a:latin typeface="Trebuchet MS" panose="020B0603020202020204" pitchFamily="34" charset="0"/>
              </a:rPr>
              <a:t>Ejemplo 1: </a:t>
            </a:r>
            <a:r>
              <a:rPr lang="es-MX" sz="2000" dirty="0" smtClean="0">
                <a:latin typeface="Trebuchet MS" panose="020B0603020202020204" pitchFamily="34" charset="0"/>
              </a:rPr>
              <a:t>Investigación acerca de los trastornos mentales</a:t>
            </a:r>
          </a:p>
          <a:p>
            <a:pPr marL="285750" indent="-285750" algn="just">
              <a:lnSpc>
                <a:spcPct val="115000"/>
              </a:lnSpc>
              <a:spcAft>
                <a:spcPts val="1000"/>
              </a:spcAft>
              <a:buClr>
                <a:srgbClr val="3399FF"/>
              </a:buClr>
              <a:buFont typeface="Arial" panose="020B0604020202020204" pitchFamily="34" charset="0"/>
              <a:buChar char="•"/>
            </a:pPr>
            <a:r>
              <a:rPr lang="es-ES" altLang="es-MX" sz="2000" b="1" i="1" dirty="0">
                <a:solidFill>
                  <a:srgbClr val="3399FF"/>
                </a:solidFill>
                <a:latin typeface="Trebuchet MS" panose="020B0603020202020204" pitchFamily="34" charset="0"/>
                <a:ea typeface="Times New Roman"/>
                <a:cs typeface="Times New Roman"/>
              </a:rPr>
              <a:t>Estudio de Mapeo Sistemático</a:t>
            </a:r>
          </a:p>
          <a:p>
            <a:pPr marL="742950" lvl="1" indent="-285750" algn="just">
              <a:lnSpc>
                <a:spcPct val="115000"/>
              </a:lnSpc>
              <a:spcAft>
                <a:spcPts val="1000"/>
              </a:spcAft>
              <a:buClr>
                <a:srgbClr val="A50021"/>
              </a:buClr>
              <a:buFont typeface="Wingdings" panose="05000000000000000000" pitchFamily="2" charset="2"/>
              <a:buChar char="ü"/>
            </a:pPr>
            <a:r>
              <a:rPr lang="es-ES" sz="2000" b="1" dirty="0" smtClean="0">
                <a:latin typeface="Trebuchet MS" panose="020B0603020202020204" pitchFamily="34" charset="0"/>
              </a:rPr>
              <a:t>Conocer</a:t>
            </a:r>
            <a:r>
              <a:rPr lang="es-ES" sz="2000" dirty="0" smtClean="0">
                <a:latin typeface="Trebuchet MS" panose="020B0603020202020204" pitchFamily="34" charset="0"/>
              </a:rPr>
              <a:t> el estado </a:t>
            </a:r>
            <a:r>
              <a:rPr lang="es-ES" sz="2000" dirty="0">
                <a:latin typeface="Trebuchet MS" panose="020B0603020202020204" pitchFamily="34" charset="0"/>
              </a:rPr>
              <a:t>actual de los tratamientos para trastornos mentales</a:t>
            </a:r>
          </a:p>
          <a:p>
            <a:pPr marL="285750" indent="-285750" algn="just">
              <a:lnSpc>
                <a:spcPct val="115000"/>
              </a:lnSpc>
              <a:spcAft>
                <a:spcPts val="1000"/>
              </a:spcAft>
              <a:buClr>
                <a:srgbClr val="3399FF"/>
              </a:buClr>
              <a:buFont typeface="Arial" panose="020B0604020202020204" pitchFamily="34" charset="0"/>
              <a:buChar char="•"/>
            </a:pPr>
            <a:r>
              <a:rPr lang="es-MX" sz="2000" b="1" i="1" dirty="0" smtClean="0">
                <a:solidFill>
                  <a:srgbClr val="3399FF"/>
                </a:solidFill>
                <a:latin typeface="Trebuchet MS" panose="020B0603020202020204" pitchFamily="34" charset="0"/>
                <a:cs typeface="Times New Roman"/>
              </a:rPr>
              <a:t>Revisión de alcance </a:t>
            </a:r>
          </a:p>
          <a:p>
            <a:pPr marL="742950" lvl="1" indent="-285750" algn="just">
              <a:lnSpc>
                <a:spcPct val="115000"/>
              </a:lnSpc>
              <a:spcAft>
                <a:spcPts val="1000"/>
              </a:spcAft>
              <a:buClr>
                <a:srgbClr val="A50021"/>
              </a:buClr>
              <a:buFont typeface="Wingdings" panose="05000000000000000000" pitchFamily="2" charset="2"/>
              <a:buChar char="ü"/>
            </a:pPr>
            <a:r>
              <a:rPr lang="es-ES" sz="2000" b="1" dirty="0" smtClean="0">
                <a:latin typeface="Trebuchet MS" panose="020B0603020202020204" pitchFamily="34" charset="0"/>
              </a:rPr>
              <a:t>Conocer</a:t>
            </a:r>
            <a:r>
              <a:rPr lang="es-ES" sz="2000" dirty="0" smtClean="0">
                <a:latin typeface="Trebuchet MS" panose="020B0603020202020204" pitchFamily="34" charset="0"/>
              </a:rPr>
              <a:t> las técnicas/métodos/procedimientos </a:t>
            </a:r>
            <a:r>
              <a:rPr lang="es-ES" sz="2000" dirty="0">
                <a:latin typeface="Trebuchet MS" panose="020B0603020202020204" pitchFamily="34" charset="0"/>
              </a:rPr>
              <a:t>para </a:t>
            </a:r>
            <a:r>
              <a:rPr lang="es-ES" sz="2000" dirty="0" smtClean="0">
                <a:latin typeface="Trebuchet MS" panose="020B0603020202020204" pitchFamily="34" charset="0"/>
              </a:rPr>
              <a:t>la identificación de </a:t>
            </a:r>
            <a:r>
              <a:rPr lang="es-ES" sz="2000" dirty="0">
                <a:latin typeface="Trebuchet MS" panose="020B0603020202020204" pitchFamily="34" charset="0"/>
              </a:rPr>
              <a:t>trastornos mentales (</a:t>
            </a:r>
            <a:r>
              <a:rPr lang="es-ES" sz="2000" dirty="0" smtClean="0">
                <a:latin typeface="Trebuchet MS" panose="020B0603020202020204" pitchFamily="34" charset="0"/>
              </a:rPr>
              <a:t>tendencias y retos)</a:t>
            </a:r>
            <a:endParaRPr lang="es-MX" sz="2000" dirty="0">
              <a:latin typeface="Trebuchet MS" panose="020B0603020202020204" pitchFamily="34" charset="0"/>
            </a:endParaRPr>
          </a:p>
          <a:p>
            <a:pPr marL="285750" indent="-285750" algn="just">
              <a:lnSpc>
                <a:spcPct val="115000"/>
              </a:lnSpc>
              <a:spcAft>
                <a:spcPts val="1000"/>
              </a:spcAft>
              <a:buClr>
                <a:srgbClr val="3399FF"/>
              </a:buClr>
              <a:buFont typeface="Arial" panose="020B0604020202020204" pitchFamily="34" charset="0"/>
              <a:buChar char="•"/>
            </a:pPr>
            <a:r>
              <a:rPr lang="es-ES" sz="2000" b="1" i="1" dirty="0" smtClean="0">
                <a:solidFill>
                  <a:srgbClr val="3399FF"/>
                </a:solidFill>
                <a:latin typeface="Trebuchet MS" panose="020B0603020202020204" pitchFamily="34" charset="0"/>
                <a:ea typeface="Times New Roman"/>
                <a:cs typeface="Times New Roman"/>
              </a:rPr>
              <a:t>Revisión </a:t>
            </a:r>
            <a:r>
              <a:rPr lang="es-ES" sz="2000" b="1" i="1" dirty="0">
                <a:solidFill>
                  <a:srgbClr val="3399FF"/>
                </a:solidFill>
                <a:latin typeface="Trebuchet MS" panose="020B0603020202020204" pitchFamily="34" charset="0"/>
                <a:ea typeface="Times New Roman"/>
                <a:cs typeface="Times New Roman"/>
              </a:rPr>
              <a:t>Sistemática </a:t>
            </a:r>
          </a:p>
          <a:p>
            <a:pPr marL="742950" lvl="1" indent="-285750" algn="just">
              <a:lnSpc>
                <a:spcPct val="115000"/>
              </a:lnSpc>
              <a:spcAft>
                <a:spcPts val="1000"/>
              </a:spcAft>
              <a:buClr>
                <a:srgbClr val="A50021"/>
              </a:buClr>
              <a:buFont typeface="Wingdings" panose="05000000000000000000" pitchFamily="2" charset="2"/>
              <a:buChar char="ü"/>
            </a:pPr>
            <a:r>
              <a:rPr lang="es-ES" sz="2000" b="1" dirty="0" smtClean="0">
                <a:latin typeface="Trebuchet MS" panose="020B0603020202020204" pitchFamily="34" charset="0"/>
              </a:rPr>
              <a:t>Conocer</a:t>
            </a:r>
            <a:r>
              <a:rPr lang="es-ES" sz="2000" dirty="0" smtClean="0">
                <a:latin typeface="Trebuchet MS" panose="020B0603020202020204" pitchFamily="34" charset="0"/>
              </a:rPr>
              <a:t> </a:t>
            </a:r>
            <a:r>
              <a:rPr lang="es-ES" sz="2000" dirty="0">
                <a:latin typeface="Trebuchet MS" panose="020B0603020202020204" pitchFamily="34" charset="0"/>
              </a:rPr>
              <a:t>las técnicas/métodos/procedimientos para la detección de la depresión</a:t>
            </a:r>
          </a:p>
          <a:p>
            <a:pPr marL="742950" lvl="1" indent="-285750" algn="just">
              <a:lnSpc>
                <a:spcPct val="115000"/>
              </a:lnSpc>
              <a:spcAft>
                <a:spcPts val="1000"/>
              </a:spcAft>
              <a:buClr>
                <a:srgbClr val="3399FF"/>
              </a:buClr>
              <a:buFont typeface="Arial" panose="020B0604020202020204" pitchFamily="34" charset="0"/>
              <a:buChar char="•"/>
            </a:pPr>
            <a:endParaRPr lang="es-MX" sz="1600" dirty="0">
              <a:latin typeface="Trebuchet MS" panose="020B0603020202020204" pitchFamily="34" charset="0"/>
            </a:endParaRPr>
          </a:p>
          <a:p>
            <a:pPr marL="742950" lvl="1" indent="-285750" algn="just">
              <a:lnSpc>
                <a:spcPct val="115000"/>
              </a:lnSpc>
              <a:spcAft>
                <a:spcPts val="1000"/>
              </a:spcAft>
              <a:buClr>
                <a:srgbClr val="3399FF"/>
              </a:buClr>
              <a:buFont typeface="Arial" panose="020B0604020202020204" pitchFamily="34" charset="0"/>
              <a:buChar char="•"/>
            </a:pPr>
            <a:endParaRPr lang="es-ES" altLang="es-MX" sz="1600" dirty="0">
              <a:latin typeface="Trebuchet MS" panose="020B0603020202020204" pitchFamily="34" charset="0"/>
            </a:endParaRPr>
          </a:p>
        </p:txBody>
      </p:sp>
    </p:spTree>
    <p:extLst>
      <p:ext uri="{BB962C8B-B14F-4D97-AF65-F5344CB8AC3E}">
        <p14:creationId xmlns:p14="http://schemas.microsoft.com/office/powerpoint/2010/main" val="305298756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pic>
        <p:nvPicPr>
          <p:cNvPr id="6" name="Imagen 5"/>
          <p:cNvPicPr/>
          <p:nvPr/>
        </p:nvPicPr>
        <p:blipFill rotWithShape="1">
          <a:blip r:embed="rId3">
            <a:extLst>
              <a:ext uri="{28A0092B-C50C-407E-A947-70E740481C1C}">
                <a14:useLocalDpi xmlns:a14="http://schemas.microsoft.com/office/drawing/2010/main" val="0"/>
              </a:ext>
            </a:extLst>
          </a:blip>
          <a:srcRect t="1" r="32064" b="-10136"/>
          <a:stretch/>
        </p:blipFill>
        <p:spPr bwMode="auto">
          <a:xfrm>
            <a:off x="110789" y="112160"/>
            <a:ext cx="3410075" cy="757457"/>
          </a:xfrm>
          <a:prstGeom prst="rect">
            <a:avLst/>
          </a:prstGeom>
          <a:noFill/>
          <a:ln>
            <a:noFill/>
          </a:ln>
          <a:extLst>
            <a:ext uri="{53640926-AAD7-44D8-BBD7-CCE9431645EC}">
              <a14:shadowObscured xmlns:a14="http://schemas.microsoft.com/office/drawing/2010/main"/>
            </a:ext>
          </a:extLst>
        </p:spPr>
      </p:pic>
      <p:pic>
        <p:nvPicPr>
          <p:cNvPr id="7" name="Imagen 6" descr="Resultado de imagen para instituto tecnologico de orizaba logo"/>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251537" y="77977"/>
            <a:ext cx="779082" cy="805180"/>
          </a:xfrm>
          <a:prstGeom prst="rect">
            <a:avLst/>
          </a:prstGeom>
          <a:noFill/>
          <a:ln>
            <a:noFill/>
          </a:ln>
        </p:spPr>
      </p:pic>
      <p:pic>
        <p:nvPicPr>
          <p:cNvPr id="8" name="Imagen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74675" y="125347"/>
            <a:ext cx="1619264" cy="740391"/>
          </a:xfrm>
          <a:prstGeom prst="rect">
            <a:avLst/>
          </a:prstGeom>
        </p:spPr>
      </p:pic>
      <p:sp>
        <p:nvSpPr>
          <p:cNvPr id="9" name="Rectángulo 8"/>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10" name="Title 1"/>
          <p:cNvSpPr txBox="1">
            <a:spLocks/>
          </p:cNvSpPr>
          <p:nvPr/>
        </p:nvSpPr>
        <p:spPr>
          <a:xfrm>
            <a:off x="911424" y="1003473"/>
            <a:ext cx="9289032" cy="40930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solidFill>
                  <a:srgbClr val="08489E"/>
                </a:solidFill>
                <a:latin typeface="Trebuchet MS" panose="020B0603020202020204" pitchFamily="34" charset="0"/>
              </a:rPr>
              <a:t>Recomendaciones 3/3</a:t>
            </a:r>
            <a:endParaRPr lang="en-US" sz="2400" b="1" dirty="0">
              <a:solidFill>
                <a:srgbClr val="08489E"/>
              </a:solidFill>
              <a:latin typeface="Trebuchet MS" panose="020B0603020202020204" pitchFamily="34" charset="0"/>
            </a:endParaRPr>
          </a:p>
        </p:txBody>
      </p:sp>
      <p:sp>
        <p:nvSpPr>
          <p:cNvPr id="11" name="3 Rectángulo"/>
          <p:cNvSpPr/>
          <p:nvPr/>
        </p:nvSpPr>
        <p:spPr>
          <a:xfrm>
            <a:off x="911423" y="1585235"/>
            <a:ext cx="10585177" cy="4458656"/>
          </a:xfrm>
          <a:prstGeom prst="rect">
            <a:avLst/>
          </a:prstGeom>
        </p:spPr>
        <p:txBody>
          <a:bodyPr wrap="square">
            <a:spAutoFit/>
          </a:bodyPr>
          <a:lstStyle/>
          <a:p>
            <a:pPr algn="just">
              <a:lnSpc>
                <a:spcPct val="115000"/>
              </a:lnSpc>
              <a:spcAft>
                <a:spcPts val="1000"/>
              </a:spcAft>
              <a:buClr>
                <a:srgbClr val="3399FF"/>
              </a:buClr>
            </a:pPr>
            <a:r>
              <a:rPr lang="es-MX" sz="2000" b="1" dirty="0" smtClean="0">
                <a:solidFill>
                  <a:srgbClr val="A50021"/>
                </a:solidFill>
                <a:latin typeface="Trebuchet MS" panose="020B0603020202020204" pitchFamily="34" charset="0"/>
              </a:rPr>
              <a:t>Ejemplo 2: </a:t>
            </a:r>
            <a:r>
              <a:rPr lang="es-MX" sz="2000" dirty="0" smtClean="0">
                <a:latin typeface="Trebuchet MS" panose="020B0603020202020204" pitchFamily="34" charset="0"/>
              </a:rPr>
              <a:t>Investigación acerca de la autogestión de enfermedades </a:t>
            </a:r>
            <a:r>
              <a:rPr lang="es-MX" sz="2000" dirty="0">
                <a:latin typeface="Trebuchet MS" panose="020B0603020202020204" pitchFamily="34" charset="0"/>
              </a:rPr>
              <a:t>cardiovasculares</a:t>
            </a:r>
            <a:endParaRPr lang="es-MX" sz="2000" dirty="0" smtClean="0">
              <a:latin typeface="Trebuchet MS" panose="020B0603020202020204" pitchFamily="34" charset="0"/>
            </a:endParaRPr>
          </a:p>
          <a:p>
            <a:pPr marL="285750" indent="-285750" algn="just">
              <a:lnSpc>
                <a:spcPct val="115000"/>
              </a:lnSpc>
              <a:spcAft>
                <a:spcPts val="1000"/>
              </a:spcAft>
              <a:buClr>
                <a:srgbClr val="3399FF"/>
              </a:buClr>
              <a:buFont typeface="Arial" panose="020B0604020202020204" pitchFamily="34" charset="0"/>
              <a:buChar char="•"/>
            </a:pPr>
            <a:r>
              <a:rPr lang="es-ES" altLang="es-MX" sz="2000" b="1" i="1" dirty="0">
                <a:solidFill>
                  <a:srgbClr val="3399FF"/>
                </a:solidFill>
                <a:latin typeface="Trebuchet MS" panose="020B0603020202020204" pitchFamily="34" charset="0"/>
                <a:ea typeface="Times New Roman"/>
                <a:cs typeface="Times New Roman"/>
              </a:rPr>
              <a:t>Estudio de Mapeo Sistemático</a:t>
            </a:r>
          </a:p>
          <a:p>
            <a:pPr marL="742950" lvl="1" indent="-285750" algn="just">
              <a:lnSpc>
                <a:spcPct val="115000"/>
              </a:lnSpc>
              <a:spcAft>
                <a:spcPts val="1000"/>
              </a:spcAft>
              <a:buClr>
                <a:srgbClr val="A50021"/>
              </a:buClr>
              <a:buFont typeface="Wingdings" panose="05000000000000000000" pitchFamily="2" charset="2"/>
              <a:buChar char="ü"/>
            </a:pPr>
            <a:r>
              <a:rPr lang="es-ES" sz="2000" b="1" dirty="0" smtClean="0">
                <a:latin typeface="Trebuchet MS" panose="020B0603020202020204" pitchFamily="34" charset="0"/>
              </a:rPr>
              <a:t>Conocer </a:t>
            </a:r>
            <a:r>
              <a:rPr lang="es-ES" sz="2000" dirty="0" smtClean="0">
                <a:latin typeface="Trebuchet MS" panose="020B0603020202020204" pitchFamily="34" charset="0"/>
              </a:rPr>
              <a:t>el </a:t>
            </a:r>
            <a:r>
              <a:rPr lang="es-ES" sz="2000" dirty="0">
                <a:latin typeface="Trebuchet MS" panose="020B0603020202020204" pitchFamily="34" charset="0"/>
              </a:rPr>
              <a:t>estado actual </a:t>
            </a:r>
            <a:r>
              <a:rPr lang="es-ES" sz="2000" dirty="0" smtClean="0">
                <a:latin typeface="Trebuchet MS" panose="020B0603020202020204" pitchFamily="34" charset="0"/>
              </a:rPr>
              <a:t>de </a:t>
            </a:r>
            <a:r>
              <a:rPr lang="es-ES" sz="2000" dirty="0">
                <a:latin typeface="Trebuchet MS" panose="020B0603020202020204" pitchFamily="34" charset="0"/>
              </a:rPr>
              <a:t>la autogestión de </a:t>
            </a:r>
            <a:r>
              <a:rPr lang="es-MX" sz="2000" dirty="0">
                <a:latin typeface="Trebuchet MS" panose="020B0603020202020204" pitchFamily="34" charset="0"/>
              </a:rPr>
              <a:t>enfermedades </a:t>
            </a:r>
            <a:r>
              <a:rPr lang="es-MX" sz="2000" dirty="0" smtClean="0">
                <a:latin typeface="Trebuchet MS" panose="020B0603020202020204" pitchFamily="34" charset="0"/>
              </a:rPr>
              <a:t>cardiovasculares</a:t>
            </a:r>
            <a:endParaRPr lang="es-ES" sz="2000" dirty="0" smtClean="0">
              <a:latin typeface="Trebuchet MS" panose="020B0603020202020204" pitchFamily="34" charset="0"/>
            </a:endParaRPr>
          </a:p>
          <a:p>
            <a:pPr marL="285750" indent="-285750" algn="just">
              <a:lnSpc>
                <a:spcPct val="115000"/>
              </a:lnSpc>
              <a:spcAft>
                <a:spcPts val="1000"/>
              </a:spcAft>
              <a:buClr>
                <a:srgbClr val="3399FF"/>
              </a:buClr>
              <a:buFont typeface="Arial" panose="020B0604020202020204" pitchFamily="34" charset="0"/>
              <a:buChar char="•"/>
            </a:pPr>
            <a:r>
              <a:rPr lang="es-MX" sz="2000" b="1" i="1" dirty="0" smtClean="0">
                <a:solidFill>
                  <a:srgbClr val="3399FF"/>
                </a:solidFill>
                <a:latin typeface="Trebuchet MS" panose="020B0603020202020204" pitchFamily="34" charset="0"/>
                <a:cs typeface="Times New Roman"/>
              </a:rPr>
              <a:t>Revisión de alcance </a:t>
            </a:r>
          </a:p>
          <a:p>
            <a:pPr marL="742950" lvl="1" indent="-285750" algn="just">
              <a:lnSpc>
                <a:spcPct val="115000"/>
              </a:lnSpc>
              <a:spcAft>
                <a:spcPts val="1000"/>
              </a:spcAft>
              <a:buClr>
                <a:srgbClr val="A50021"/>
              </a:buClr>
              <a:buFont typeface="Wingdings" panose="05000000000000000000" pitchFamily="2" charset="2"/>
              <a:buChar char="ü"/>
            </a:pPr>
            <a:r>
              <a:rPr lang="es-ES" sz="2000" b="1" dirty="0" smtClean="0">
                <a:latin typeface="Trebuchet MS" panose="020B0603020202020204" pitchFamily="34" charset="0"/>
              </a:rPr>
              <a:t>Conocer</a:t>
            </a:r>
            <a:r>
              <a:rPr lang="es-ES" sz="2000" dirty="0" smtClean="0">
                <a:latin typeface="Trebuchet MS" panose="020B0603020202020204" pitchFamily="34" charset="0"/>
              </a:rPr>
              <a:t> </a:t>
            </a:r>
            <a:r>
              <a:rPr lang="es-ES" sz="2000" dirty="0">
                <a:latin typeface="Trebuchet MS" panose="020B0603020202020204" pitchFamily="34" charset="0"/>
              </a:rPr>
              <a:t>las técnicas/métodos/procedimientos para </a:t>
            </a:r>
            <a:r>
              <a:rPr lang="es-ES" sz="2000" dirty="0" smtClean="0">
                <a:latin typeface="Trebuchet MS" panose="020B0603020202020204" pitchFamily="34" charset="0"/>
              </a:rPr>
              <a:t>la autogestión </a:t>
            </a:r>
            <a:r>
              <a:rPr lang="es-ES" sz="2000" dirty="0">
                <a:latin typeface="Trebuchet MS" panose="020B0603020202020204" pitchFamily="34" charset="0"/>
              </a:rPr>
              <a:t>de </a:t>
            </a:r>
            <a:r>
              <a:rPr lang="es-MX" sz="2000" dirty="0">
                <a:latin typeface="Trebuchet MS" panose="020B0603020202020204" pitchFamily="34" charset="0"/>
              </a:rPr>
              <a:t>enfermedades </a:t>
            </a:r>
            <a:r>
              <a:rPr lang="es-MX" sz="2000" dirty="0" smtClean="0">
                <a:latin typeface="Trebuchet MS" panose="020B0603020202020204" pitchFamily="34" charset="0"/>
              </a:rPr>
              <a:t>cardiovasculares</a:t>
            </a:r>
            <a:r>
              <a:rPr lang="es-ES" sz="2000" dirty="0" smtClean="0">
                <a:latin typeface="Trebuchet MS" panose="020B0603020202020204" pitchFamily="34" charset="0"/>
              </a:rPr>
              <a:t> (tendencias y retos)</a:t>
            </a:r>
            <a:endParaRPr lang="es-MX" sz="2000" dirty="0" smtClean="0">
              <a:latin typeface="Trebuchet MS" panose="020B0603020202020204" pitchFamily="34" charset="0"/>
            </a:endParaRPr>
          </a:p>
          <a:p>
            <a:pPr marL="285750" indent="-285750" algn="just">
              <a:lnSpc>
                <a:spcPct val="115000"/>
              </a:lnSpc>
              <a:spcAft>
                <a:spcPts val="1000"/>
              </a:spcAft>
              <a:buClr>
                <a:srgbClr val="3399FF"/>
              </a:buClr>
              <a:buFont typeface="Arial" panose="020B0604020202020204" pitchFamily="34" charset="0"/>
              <a:buChar char="•"/>
            </a:pPr>
            <a:r>
              <a:rPr lang="es-ES" sz="2000" b="1" i="1" dirty="0" smtClean="0">
                <a:solidFill>
                  <a:srgbClr val="3399FF"/>
                </a:solidFill>
                <a:latin typeface="Trebuchet MS" panose="020B0603020202020204" pitchFamily="34" charset="0"/>
                <a:ea typeface="Times New Roman"/>
                <a:cs typeface="Times New Roman"/>
              </a:rPr>
              <a:t>Revisión </a:t>
            </a:r>
            <a:r>
              <a:rPr lang="es-ES" sz="2000" b="1" i="1" dirty="0">
                <a:solidFill>
                  <a:srgbClr val="3399FF"/>
                </a:solidFill>
                <a:latin typeface="Trebuchet MS" panose="020B0603020202020204" pitchFamily="34" charset="0"/>
                <a:ea typeface="Times New Roman"/>
                <a:cs typeface="Times New Roman"/>
              </a:rPr>
              <a:t>Sistemática </a:t>
            </a:r>
          </a:p>
          <a:p>
            <a:pPr marL="742950" lvl="1" indent="-285750" algn="just">
              <a:lnSpc>
                <a:spcPct val="115000"/>
              </a:lnSpc>
              <a:spcAft>
                <a:spcPts val="1000"/>
              </a:spcAft>
              <a:buClr>
                <a:srgbClr val="A50021"/>
              </a:buClr>
              <a:buFont typeface="Wingdings" panose="05000000000000000000" pitchFamily="2" charset="2"/>
              <a:buChar char="ü"/>
            </a:pPr>
            <a:r>
              <a:rPr lang="es-ES" sz="2000" b="1" dirty="0">
                <a:latin typeface="Trebuchet MS" panose="020B0603020202020204" pitchFamily="34" charset="0"/>
              </a:rPr>
              <a:t>Conocer</a:t>
            </a:r>
            <a:r>
              <a:rPr lang="es-ES" sz="2000" dirty="0">
                <a:latin typeface="Trebuchet MS" panose="020B0603020202020204" pitchFamily="34" charset="0"/>
              </a:rPr>
              <a:t> las técnicas/métodos/procedimientos para la detección </a:t>
            </a:r>
            <a:r>
              <a:rPr lang="es-ES" sz="2000" dirty="0" smtClean="0">
                <a:latin typeface="Trebuchet MS" panose="020B0603020202020204" pitchFamily="34" charset="0"/>
              </a:rPr>
              <a:t>de la Insuficiencia cardiaca</a:t>
            </a:r>
            <a:endParaRPr lang="es-MX" sz="1600" dirty="0">
              <a:latin typeface="Trebuchet MS" panose="020B0603020202020204" pitchFamily="34" charset="0"/>
            </a:endParaRPr>
          </a:p>
          <a:p>
            <a:pPr marL="742950" lvl="1" indent="-285750" algn="just">
              <a:lnSpc>
                <a:spcPct val="115000"/>
              </a:lnSpc>
              <a:spcAft>
                <a:spcPts val="1000"/>
              </a:spcAft>
              <a:buClr>
                <a:srgbClr val="3399FF"/>
              </a:buClr>
              <a:buFont typeface="Arial" panose="020B0604020202020204" pitchFamily="34" charset="0"/>
              <a:buChar char="•"/>
            </a:pPr>
            <a:endParaRPr lang="es-ES" altLang="es-MX" sz="1600" dirty="0">
              <a:latin typeface="Trebuchet MS" panose="020B0603020202020204" pitchFamily="34" charset="0"/>
            </a:endParaRPr>
          </a:p>
        </p:txBody>
      </p:sp>
    </p:spTree>
    <p:extLst>
      <p:ext uri="{BB962C8B-B14F-4D97-AF65-F5344CB8AC3E}">
        <p14:creationId xmlns:p14="http://schemas.microsoft.com/office/powerpoint/2010/main" val="208052792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p:cNvPicPr/>
          <p:nvPr/>
        </p:nvPicPr>
        <p:blipFill rotWithShape="1">
          <a:blip r:embed="rId2">
            <a:extLst>
              <a:ext uri="{28A0092B-C50C-407E-A947-70E740481C1C}">
                <a14:useLocalDpi xmlns:a14="http://schemas.microsoft.com/office/drawing/2010/main" val="0"/>
              </a:ext>
            </a:extLst>
          </a:blip>
          <a:srcRect t="1" r="32064" b="-10136"/>
          <a:stretch/>
        </p:blipFill>
        <p:spPr bwMode="auto">
          <a:xfrm>
            <a:off x="110789" y="112160"/>
            <a:ext cx="3410075" cy="757457"/>
          </a:xfrm>
          <a:prstGeom prst="rect">
            <a:avLst/>
          </a:prstGeom>
          <a:noFill/>
          <a:ln>
            <a:noFill/>
          </a:ln>
          <a:extLst>
            <a:ext uri="{53640926-AAD7-44D8-BBD7-CCE9431645EC}">
              <a14:shadowObscured xmlns:a14="http://schemas.microsoft.com/office/drawing/2010/main"/>
            </a:ext>
          </a:extLst>
        </p:spPr>
      </p:pic>
      <p:pic>
        <p:nvPicPr>
          <p:cNvPr id="12" name="Imagen 11" descr="Resultado de imagen para instituto tecnologico de orizaba logo"/>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51537" y="77977"/>
            <a:ext cx="779082" cy="805180"/>
          </a:xfrm>
          <a:prstGeom prst="rect">
            <a:avLst/>
          </a:prstGeom>
          <a:noFill/>
          <a:ln>
            <a:noFill/>
          </a:ln>
        </p:spPr>
      </p:pic>
      <p:sp>
        <p:nvSpPr>
          <p:cNvPr id="13" name="Rectangle 32"/>
          <p:cNvSpPr>
            <a:spLocks noChangeArrowheads="1"/>
          </p:cNvSpPr>
          <p:nvPr/>
        </p:nvSpPr>
        <p:spPr bwMode="auto">
          <a:xfrm>
            <a:off x="0" y="1124744"/>
            <a:ext cx="12183686" cy="49244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14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 </a:t>
            </a:r>
            <a:r>
              <a:rPr kumimoji="0" lang="es-ES" sz="2600" b="1" i="0" u="none" strike="noStrike" cap="none" normalizeH="0" baseline="0" dirty="0" smtClean="0">
                <a:ln>
                  <a:noFill/>
                </a:ln>
                <a:solidFill>
                  <a:schemeClr val="tx1"/>
                </a:solidFill>
                <a:effectLst/>
                <a:latin typeface="Trebuchet MS" panose="020B0603020202020204" pitchFamily="34" charset="0"/>
                <a:ea typeface="Calibri" pitchFamily="34" charset="0"/>
                <a:cs typeface="Times New Roman" pitchFamily="18" charset="0"/>
              </a:rPr>
              <a:t>TECNOLÓGICO NACIONAL DE MÉXICO</a:t>
            </a:r>
            <a:endParaRPr kumimoji="0" lang="es-ES" sz="2600" b="0" i="0" u="none" strike="noStrike" cap="none" normalizeH="0" baseline="0" dirty="0" smtClean="0">
              <a:ln>
                <a:noFill/>
              </a:ln>
              <a:solidFill>
                <a:schemeClr val="tx1"/>
              </a:solidFill>
              <a:effectLst/>
              <a:latin typeface="Trebuchet MS" panose="020B0603020202020204" pitchFamily="34" charset="0"/>
              <a:cs typeface="Arial" pitchFamily="34" charset="0"/>
            </a:endParaRPr>
          </a:p>
        </p:txBody>
      </p:sp>
      <p:sp>
        <p:nvSpPr>
          <p:cNvPr id="14" name="Rectangle 4"/>
          <p:cNvSpPr/>
          <p:nvPr/>
        </p:nvSpPr>
        <p:spPr>
          <a:xfrm>
            <a:off x="-1" y="1700808"/>
            <a:ext cx="12183687" cy="707886"/>
          </a:xfrm>
          <a:prstGeom prst="rect">
            <a:avLst/>
          </a:prstGeom>
        </p:spPr>
        <p:txBody>
          <a:bodyPr wrap="square">
            <a:spAutoFit/>
          </a:bodyPr>
          <a:lstStyle/>
          <a:p>
            <a:pPr algn="ctr"/>
            <a:r>
              <a:rPr lang="es-ES" sz="2000" b="1" dirty="0" smtClean="0">
                <a:latin typeface="Trebuchet MS" panose="020B0603020202020204" pitchFamily="34" charset="0"/>
              </a:rPr>
              <a:t>INSTITUTO TECNOLÓGICO DE ORIZABA</a:t>
            </a:r>
          </a:p>
          <a:p>
            <a:pPr algn="ctr"/>
            <a:r>
              <a:rPr lang="es-ES" sz="2000" b="1" dirty="0" smtClean="0">
                <a:latin typeface="Trebuchet MS" panose="020B0603020202020204" pitchFamily="34" charset="0"/>
              </a:rPr>
              <a:t>División </a:t>
            </a:r>
            <a:r>
              <a:rPr lang="es-ES" sz="2000" b="1" dirty="0">
                <a:latin typeface="Trebuchet MS" panose="020B0603020202020204" pitchFamily="34" charset="0"/>
              </a:rPr>
              <a:t>de Estudios de </a:t>
            </a:r>
            <a:r>
              <a:rPr lang="es-ES" sz="2000" b="1" dirty="0" smtClean="0">
                <a:latin typeface="Trebuchet MS" panose="020B0603020202020204" pitchFamily="34" charset="0"/>
              </a:rPr>
              <a:t>Posgrado </a:t>
            </a:r>
            <a:r>
              <a:rPr lang="es-ES" sz="2000" b="1" dirty="0">
                <a:latin typeface="Trebuchet MS" panose="020B0603020202020204" pitchFamily="34" charset="0"/>
              </a:rPr>
              <a:t>e </a:t>
            </a:r>
            <a:r>
              <a:rPr lang="es-ES" sz="2000" b="1" dirty="0" smtClean="0">
                <a:latin typeface="Trebuchet MS" panose="020B0603020202020204" pitchFamily="34" charset="0"/>
              </a:rPr>
              <a:t>Investigación</a:t>
            </a:r>
          </a:p>
        </p:txBody>
      </p:sp>
      <p:sp>
        <p:nvSpPr>
          <p:cNvPr id="15" name="Title 1"/>
          <p:cNvSpPr>
            <a:spLocks noGrp="1"/>
          </p:cNvSpPr>
          <p:nvPr>
            <p:ph type="ctrTitle"/>
          </p:nvPr>
        </p:nvSpPr>
        <p:spPr>
          <a:xfrm>
            <a:off x="-8315" y="2721782"/>
            <a:ext cx="12192001" cy="563202"/>
          </a:xfrm>
        </p:spPr>
        <p:txBody>
          <a:bodyPr>
            <a:noAutofit/>
          </a:bodyPr>
          <a:lstStyle/>
          <a:p>
            <a:pPr algn="ctr"/>
            <a:r>
              <a:rPr lang="es-ES_tradnl" sz="2800" b="1" dirty="0" smtClean="0">
                <a:solidFill>
                  <a:srgbClr val="08489E"/>
                </a:solidFill>
                <a:latin typeface="Trebuchet MS" panose="020B0603020202020204" pitchFamily="34" charset="0"/>
              </a:rPr>
              <a:t>Tipos de Revisiones para la investigación científica</a:t>
            </a:r>
            <a:endParaRPr lang="en-US" sz="2800" b="1" dirty="0">
              <a:solidFill>
                <a:schemeClr val="tx1">
                  <a:lumMod val="65000"/>
                  <a:lumOff val="35000"/>
                </a:schemeClr>
              </a:solidFill>
              <a:latin typeface="Trebuchet MS" panose="020B0603020202020204" pitchFamily="34" charset="0"/>
            </a:endParaRPr>
          </a:p>
        </p:txBody>
      </p:sp>
      <p:pic>
        <p:nvPicPr>
          <p:cNvPr id="19" name="Imagen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74675" y="125347"/>
            <a:ext cx="1619264" cy="740391"/>
          </a:xfrm>
          <a:prstGeom prst="rect">
            <a:avLst/>
          </a:prstGeom>
        </p:spPr>
      </p:pic>
      <p:sp>
        <p:nvSpPr>
          <p:cNvPr id="16" name="Rectángulo 15"/>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22" name="Rectángulo 21"/>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pic>
        <p:nvPicPr>
          <p:cNvPr id="3" name="Imagen 2"/>
          <p:cNvPicPr>
            <a:picLocks noChangeAspect="1"/>
          </p:cNvPicPr>
          <p:nvPr/>
        </p:nvPicPr>
        <p:blipFill>
          <a:blip r:embed="rId5"/>
          <a:stretch>
            <a:fillRect/>
          </a:stretch>
        </p:blipFill>
        <p:spPr>
          <a:xfrm>
            <a:off x="3723146" y="3531073"/>
            <a:ext cx="4745707" cy="2508931"/>
          </a:xfrm>
          <a:prstGeom prst="rect">
            <a:avLst/>
          </a:prstGeom>
          <a:ln>
            <a:noFill/>
          </a:ln>
          <a:effectLst>
            <a:softEdge rad="112500"/>
          </a:effectLst>
        </p:spPr>
      </p:pic>
      <p:sp>
        <p:nvSpPr>
          <p:cNvPr id="4" name="CuadroTexto 3"/>
          <p:cNvSpPr txBox="1"/>
          <p:nvPr/>
        </p:nvSpPr>
        <p:spPr>
          <a:xfrm rot="9433994" flipH="1" flipV="1">
            <a:off x="967396" y="4335168"/>
            <a:ext cx="2079219" cy="707886"/>
          </a:xfrm>
          <a:prstGeom prst="rect">
            <a:avLst/>
          </a:prstGeom>
          <a:noFill/>
        </p:spPr>
        <p:txBody>
          <a:bodyPr wrap="square" rtlCol="0">
            <a:spAutoFit/>
          </a:bodyPr>
          <a:lstStyle/>
          <a:p>
            <a:r>
              <a:rPr lang="es-MX" sz="4000" b="1" dirty="0" smtClean="0">
                <a:solidFill>
                  <a:srgbClr val="A50021"/>
                </a:solidFill>
                <a:latin typeface="Trebuchet MS" panose="020B0603020202020204" pitchFamily="34" charset="0"/>
              </a:rPr>
              <a:t>¿dudas?</a:t>
            </a:r>
            <a:endParaRPr lang="es-MX" sz="4000" b="1" dirty="0">
              <a:solidFill>
                <a:srgbClr val="A50021"/>
              </a:solidFill>
              <a:latin typeface="Trebuchet MS" panose="020B0603020202020204" pitchFamily="34" charset="0"/>
            </a:endParaRPr>
          </a:p>
        </p:txBody>
      </p:sp>
      <p:sp>
        <p:nvSpPr>
          <p:cNvPr id="17" name="CuadroTexto 16"/>
          <p:cNvSpPr txBox="1"/>
          <p:nvPr/>
        </p:nvSpPr>
        <p:spPr>
          <a:xfrm rot="12050067" flipH="1" flipV="1">
            <a:off x="8840940" y="4438431"/>
            <a:ext cx="3086734" cy="707886"/>
          </a:xfrm>
          <a:prstGeom prst="rect">
            <a:avLst/>
          </a:prstGeom>
          <a:noFill/>
        </p:spPr>
        <p:txBody>
          <a:bodyPr wrap="square" rtlCol="0">
            <a:spAutoFit/>
          </a:bodyPr>
          <a:lstStyle/>
          <a:p>
            <a:r>
              <a:rPr lang="es-MX" sz="4000" b="1" dirty="0" smtClean="0">
                <a:solidFill>
                  <a:srgbClr val="A50021"/>
                </a:solidFill>
                <a:latin typeface="Trebuchet MS" panose="020B0603020202020204" pitchFamily="34" charset="0"/>
              </a:rPr>
              <a:t>¿preguntas?</a:t>
            </a:r>
            <a:endParaRPr lang="es-MX" sz="4000" b="1" dirty="0">
              <a:solidFill>
                <a:srgbClr val="A50021"/>
              </a:solidFill>
              <a:latin typeface="Trebuchet MS" panose="020B0603020202020204" pitchFamily="34" charset="0"/>
            </a:endParaRPr>
          </a:p>
        </p:txBody>
      </p:sp>
    </p:spTree>
    <p:extLst>
      <p:ext uri="{BB962C8B-B14F-4D97-AF65-F5344CB8AC3E}">
        <p14:creationId xmlns:p14="http://schemas.microsoft.com/office/powerpoint/2010/main" val="1374032482"/>
      </p:ext>
    </p:extLst>
  </p:cSld>
  <p:clrMapOvr>
    <a:masterClrMapping/>
  </p:clrMapOvr>
  <p:transition spd="slow">
    <p:push dir="u"/>
  </p:transition>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4324</TotalTime>
  <Words>3186</Words>
  <Application>Microsoft Office PowerPoint</Application>
  <PresentationFormat>Panorámica</PresentationFormat>
  <Paragraphs>331</Paragraphs>
  <Slides>26</Slides>
  <Notes>11</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26</vt:i4>
      </vt:variant>
    </vt:vector>
  </HeadingPairs>
  <TitlesOfParts>
    <vt:vector size="33" baseType="lpstr">
      <vt:lpstr>Arial</vt:lpstr>
      <vt:lpstr>Calibri</vt:lpstr>
      <vt:lpstr>Calibri Light</vt:lpstr>
      <vt:lpstr>Times New Roman</vt:lpstr>
      <vt:lpstr>Trebuchet MS</vt:lpstr>
      <vt:lpstr>Wingdings</vt:lpstr>
      <vt:lpstr>Tema de Office</vt:lpstr>
      <vt:lpstr>Tipos de Revisiones para la investigación científica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Tipos de Revisiones para la investigación científica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rafaelsalas</dc:creator>
  <cp:lastModifiedBy>Nancy C Ramos</cp:lastModifiedBy>
  <cp:revision>111</cp:revision>
  <dcterms:created xsi:type="dcterms:W3CDTF">2020-06-08T18:54:00Z</dcterms:created>
  <dcterms:modified xsi:type="dcterms:W3CDTF">2020-07-13T22:49:42Z</dcterms:modified>
</cp:coreProperties>
</file>